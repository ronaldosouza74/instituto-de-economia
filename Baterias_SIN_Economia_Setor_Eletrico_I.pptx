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85628f9-75e7-075f-a306-1f8cf666f13e}">
          <p14:sldIdLst>
            <p14:sldId id="256"/>
          </p14:sldIdLst>
        </p14:section>
        <p14:section name="Introdução" id="{ab0bd54b-b354-a689-3d6c-2fa5098d71df}">
          <p14:sldIdLst>
            <p14:sldId id="257"/>
            <p14:sldId id="258"/>
            <p14:sldId id="259"/>
            <p14:sldId id="260"/>
          </p14:sldIdLst>
        </p14:section>
        <p14:section name="Objetivos" id="{4556daed-491e-7b07-4bab-df590511e6c9}">
          <p14:sldIdLst>
            <p14:sldId id="261"/>
            <p14:sldId id="262"/>
          </p14:sldIdLst>
        </p14:section>
        <p14:section name="Método" id="{21ddb656-e38e-9c13-4ae2-8b23d795d092}">
          <p14:sldIdLst>
            <p14:sldId id="263"/>
            <p14:sldId id="264"/>
            <p14:sldId id="265"/>
            <p14:sldId id="266"/>
          </p14:sldIdLst>
        </p14:section>
        <p14:section name="Análise" id="{82c8d00c-77f6-9648-fca7-d10aff6001f0}">
          <p14:sldIdLst>
            <p14:sldId id="267"/>
            <p14:sldId id="268"/>
            <p14:sldId id="269"/>
          </p14:sldIdLst>
        </p14:section>
        <p14:section name="Referências" id="{a855a8d2-c74c-d247-62a4-37029c85769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tema, disciplina e identificação. A pergunta central do trabalho é se o ganho sistêmico com baterias cobre os encargos pagos pelas demais fontes.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mostram a escala do problema. Os valores de curtailment e perdas vêm de fontes setoriais e variam por metodologia; a faixa de MMGD é a do caderno do PDE 2034.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Cadeia causal: MMGD solar reduz a carga líquida ao meio-dia, hidrelétricas e térmicas já estão no mínimo, o excedente força o corte de eólicas e UFVs, e ao pôr do sol há rampa. A bateria desloca a energia do excedente para a 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justificativa combina três coisas: perda econômica já observada, uma janela de decisão regulatória (leilão de baterias) e uma lacuna analítica sobre rateio de custos.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hipótese é testável: compara a redução do CTO com a soma dos encargos.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é único e mensurável: comparar o ganho sistêmico (redução do CTO) com os encargos pagos pelas fontes.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objetivos específicos formam uma cadeia: efeitos das baterias (OE1 e OE2), ganho sistêmico (OE3), custo (OE4) e comparação final (OE5), que responde à pergunta de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Nordeste e Sudeste e a duração de 4 horas vêm do desenho original do trabalho. Os demais parâmetros ficam marcados como a definir.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em serpentina: a etapa 1 gera a linha de base sem baterias; a etapa 2 repete as simulações com baterias em cenários crescentes de MMGD; a etapa 3 compara os resultados, calcula os encargos por fonte e testa a hipótese.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3 x 2. A faixa de 47 a 71 GW com referência de 59 GW é a do caderno de MMGD do PDE 2034 e serve de ordem de grandeza; os valores finais dependem do ano-horizonte escolhido.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objetivo específico tem uma variável, uma unidade e um critério de comparação definidos.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de decisão é simples: se a redução do CTO for maior ou igual à soma dos encargos, as baterias se pagam do ponto de vista do sistema. A análise por fonte mostra a distribuição do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Entregas, contribuição e limitações do estudo.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problema, pergunta, método e resposta esperada, em uma linha 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Algumas fontes são imprensa e consultorias setoriais; vale conferir os dados nas fontes primárias (ONS, EPE, ANEEL) antes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ll 1"/>
          <p:cNvSpPr/>
          <p:nvPr/>
        </p:nvSpPr>
        <p:spPr>
          <a:xfrm>
            <a:off x="8503920" y="1737360"/>
            <a:ext cx="640080" cy="329184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Cell level 1"/>
          <p:cNvSpPr/>
          <p:nvPr/>
        </p:nvSpPr>
        <p:spPr>
          <a:xfrm>
            <a:off x="8503920" y="3877056"/>
            <a:ext cx="640080" cy="1152144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ell 2"/>
          <p:cNvSpPr/>
          <p:nvPr/>
        </p:nvSpPr>
        <p:spPr>
          <a:xfrm>
            <a:off x="9326880" y="1737360"/>
            <a:ext cx="640080" cy="329184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ell level 2"/>
          <p:cNvSpPr/>
          <p:nvPr/>
        </p:nvSpPr>
        <p:spPr>
          <a:xfrm>
            <a:off x="9326880" y="3218688"/>
            <a:ext cx="640080" cy="1810512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ell 3"/>
          <p:cNvSpPr/>
          <p:nvPr/>
        </p:nvSpPr>
        <p:spPr>
          <a:xfrm>
            <a:off x="10149840" y="1737360"/>
            <a:ext cx="640080" cy="329184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ell level 3"/>
          <p:cNvSpPr/>
          <p:nvPr/>
        </p:nvSpPr>
        <p:spPr>
          <a:xfrm>
            <a:off x="10149840" y="2560320"/>
            <a:ext cx="640080" cy="24688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ell 4"/>
          <p:cNvSpPr/>
          <p:nvPr/>
        </p:nvSpPr>
        <p:spPr>
          <a:xfrm>
            <a:off x="10972800" y="1737360"/>
            <a:ext cx="640080" cy="329184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ell level 4"/>
          <p:cNvSpPr/>
          <p:nvPr/>
        </p:nvSpPr>
        <p:spPr>
          <a:xfrm>
            <a:off x="10972800" y="1901952"/>
            <a:ext cx="640080" cy="31272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Economia do Setor Elétrico 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73736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Transição Energética e a Contribuição das Baterias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 econômico para o SIN?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Aluno: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Ronaldo Antonio de Souza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Professor: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Nivalde de Castro</a:t>
            </a:r>
            <a:endParaRPr lang="en-US" sz="1600" dirty="0"/>
          </a:p>
        </p:txBody>
      </p:sp>
      <p:sp>
        <p:nvSpPr>
          <p:cNvPr id="15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Contexto: o SIN já corta energia renovável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micro e minigeração distribuída (MMGD) cresce, a carga líquida do meio do dia cai e a geração centralizada precisa ser cortada.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548640" y="214884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Fa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648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geração eólica e solar disponível não foi aproveitada em 2025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3383280" y="214884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5648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 bi+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41148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perdas estimadas dos geradores eólicos e solares com cortes em 2025</a:t>
            </a:r>
            <a:endParaRPr lang="en-US" sz="1400" dirty="0"/>
          </a:p>
        </p:txBody>
      </p:sp>
      <p:sp>
        <p:nvSpPr>
          <p:cNvPr id="14" name="Stat card 3"/>
          <p:cNvSpPr/>
          <p:nvPr/>
        </p:nvSpPr>
        <p:spPr>
          <a:xfrm>
            <a:off x="6217920" y="214884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FaSolarPan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25648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41148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carga atendida pela MMGD em 10/08/2025, com UHEs e UTEs no mínimo técnico</a:t>
            </a:r>
            <a:endParaRPr lang="en-US" sz="1400" dirty="0"/>
          </a:p>
        </p:txBody>
      </p:sp>
      <p:sp>
        <p:nvSpPr>
          <p:cNvPr id="19" name="Stat card 4"/>
          <p:cNvSpPr/>
          <p:nvPr/>
        </p:nvSpPr>
        <p:spPr>
          <a:xfrm>
            <a:off x="9052560" y="214884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20" name="Icon circle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612" y="256489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47–71 GW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41148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MMGD projetados pela EPE para 2034 (referência: 59 GW)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3825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Fontes: ONS (2025); Acende Brasil (2025); Volts Robotics via Agência Infra (2025); EPE/MME, PDE 2034, Caderno MMGD e Baterias (2024). Estimativas de cortes variam conforme a metodologia.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a MMGD leva ao curtailment</a:t>
            </a:r>
            <a:endParaRPr lang="en-US" sz="3200" dirty="0"/>
          </a:p>
        </p:txBody>
      </p:sp>
      <p:sp>
        <p:nvSpPr>
          <p:cNvPr id="3" name="Chain step 1"/>
          <p:cNvSpPr/>
          <p:nvPr/>
        </p:nvSpPr>
        <p:spPr>
          <a:xfrm>
            <a:off x="548640" y="1554480"/>
            <a:ext cx="1965960" cy="233172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FaS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MMGD solar cresce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Geração distribuída fora do controle do ONS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2551176" y="2720340"/>
            <a:ext cx="237744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0" name="Chain step 2"/>
          <p:cNvSpPr/>
          <p:nvPr/>
        </p:nvSpPr>
        <p:spPr>
          <a:xfrm>
            <a:off x="2825496" y="1554480"/>
            <a:ext cx="1965960" cy="233172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054096" y="1783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1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97096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054096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Carga líquida cai ao meio-dia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054096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Demanda a ser atendida pela rede diminui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4828032" y="2720340"/>
            <a:ext cx="237744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7" name="Chain step 3"/>
          <p:cNvSpPr/>
          <p:nvPr/>
        </p:nvSpPr>
        <p:spPr>
          <a:xfrm>
            <a:off x="5102352" y="1554480"/>
            <a:ext cx="1965960" cy="233172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5330952" y="1783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mage 2" descr="FaWa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920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7395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330952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UHEs e UTEs no mínimo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330952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 margem para reduzir a geração despachável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7104888" y="2720340"/>
            <a:ext cx="237744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4" name="Chain step 4"/>
          <p:cNvSpPr/>
          <p:nvPr/>
        </p:nvSpPr>
        <p:spPr>
          <a:xfrm>
            <a:off x="7379208" y="1554480"/>
            <a:ext cx="1965960" cy="233172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7607808" y="1783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3" descr="FaCu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92024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75080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607808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Corte de eólicas e UFVs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607808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Curtailment: energia disponível e desperdiçada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9381744" y="2720340"/>
            <a:ext cx="237744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1" name="Chain step 5"/>
          <p:cNvSpPr/>
          <p:nvPr/>
        </p:nvSpPr>
        <p:spPr>
          <a:xfrm>
            <a:off x="9656064" y="1554480"/>
            <a:ext cx="1965960" cy="233172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Icon circle"/>
          <p:cNvSpPr/>
          <p:nvPr/>
        </p:nvSpPr>
        <p:spPr>
          <a:xfrm>
            <a:off x="9884664" y="17830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3" name="Image 4" descr="FaFi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19202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027664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884664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Rampa no fim da tarde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9884664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 se põe e térmicas são acionadas</a:t>
            </a:r>
            <a:endParaRPr lang="en-US" sz="1400" dirty="0"/>
          </a:p>
        </p:txBody>
      </p:sp>
      <p:sp>
        <p:nvSpPr>
          <p:cNvPr id="37" name="BESS panel"/>
          <p:cNvSpPr/>
          <p:nvPr/>
        </p:nvSpPr>
        <p:spPr>
          <a:xfrm>
            <a:off x="548640" y="4251960"/>
            <a:ext cx="11094415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Icon circle"/>
          <p:cNvSpPr/>
          <p:nvPr/>
        </p:nvSpPr>
        <p:spPr>
          <a:xfrm>
            <a:off x="914400" y="4937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9" name="Image 5" descr="FaBatteryFu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512064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920240" y="4526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bateria (BESS) quebra a cadeia no passo 3</a:t>
            </a:r>
            <a:endParaRPr lang="en-US" sz="2000" dirty="0"/>
          </a:p>
        </p:txBody>
      </p:sp>
      <p:sp>
        <p:nvSpPr>
          <p:cNvPr id="41" name="Text 33"/>
          <p:cNvSpPr txBox="1"/>
          <p:nvPr/>
        </p:nvSpPr>
        <p:spPr>
          <a:xfrm>
            <a:off x="192024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Absorve o excedente do meio-dia e devolve a energia na ponta do início da noite.</a:t>
            </a:r>
            <a:endParaRPr lang="en-US" sz="1600" dirty="0"/>
          </a:p>
        </p:txBody>
      </p:sp>
      <p:sp>
        <p:nvSpPr>
          <p:cNvPr id="42" name="Effect circle"/>
          <p:cNvSpPr/>
          <p:nvPr/>
        </p:nvSpPr>
        <p:spPr>
          <a:xfrm>
            <a:off x="7772400" y="4572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mage 6" descr="Menos curtailme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2420" y="4732020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498080" y="53035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Menos curtailment</a:t>
            </a:r>
            <a:endParaRPr lang="en-US" sz="1300" dirty="0"/>
          </a:p>
        </p:txBody>
      </p:sp>
      <p:sp>
        <p:nvSpPr>
          <p:cNvPr id="45" name="Effect circle"/>
          <p:cNvSpPr/>
          <p:nvPr/>
        </p:nvSpPr>
        <p:spPr>
          <a:xfrm>
            <a:off x="9144000" y="4572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Image 7" descr="Menos térmica na ramp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4020" y="4732020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869680" y="53035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Menos térmica na rampa</a:t>
            </a:r>
            <a:endParaRPr lang="en-US" sz="1300" dirty="0"/>
          </a:p>
        </p:txBody>
      </p:sp>
      <p:sp>
        <p:nvSpPr>
          <p:cNvPr id="48" name="Effect circle"/>
          <p:cNvSpPr/>
          <p:nvPr/>
        </p:nvSpPr>
        <p:spPr>
          <a:xfrm>
            <a:off x="10515600" y="45720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9" name="Image 8" descr="Mais água nos reservatório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5620" y="4732020"/>
            <a:ext cx="274320" cy="27432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10241280" y="53035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Mais água nos reservatórios</a:t>
            </a:r>
            <a:endParaRPr lang="en-US" sz="1300" dirty="0"/>
          </a:p>
        </p:txBody>
      </p:sp>
      <p:sp>
        <p:nvSpPr>
          <p:cNvPr id="51" name="Text 40"/>
          <p:cNvSpPr txBox="1"/>
          <p:nvPr/>
        </p:nvSpPr>
        <p:spPr>
          <a:xfrm>
            <a:off x="548640" y="63825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Fontes: ONS, RT DGL-ONS 0189/2025; Acende Brasil (2025).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Justificativa: por que estudar agora</a:t>
            </a:r>
            <a:endParaRPr lang="en-US" sz="3200" dirty="0"/>
          </a:p>
        </p:txBody>
      </p:sp>
      <p:sp>
        <p:nvSpPr>
          <p:cNvPr id="3" name="Justification card 1"/>
          <p:cNvSpPr/>
          <p:nvPr/>
        </p:nvSpPr>
        <p:spPr>
          <a:xfrm>
            <a:off x="548640" y="146304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aCo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19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 econômica real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4028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Cortes custaram mais de R$ 6 bi a eólicas e solares em 2025, e o debate de ressarcimento segue aberto.</a:t>
            </a:r>
            <a:endParaRPr lang="en-US" sz="1400" dirty="0"/>
          </a:p>
        </p:txBody>
      </p:sp>
      <p:sp>
        <p:nvSpPr>
          <p:cNvPr id="8" name="Justification card 2"/>
          <p:cNvSpPr/>
          <p:nvPr/>
        </p:nvSpPr>
        <p:spPr>
          <a:xfrm>
            <a:off x="6263640" y="146304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53796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FaGa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19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política pública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24028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Primeiro leilão de armazenamento (LRCAP) em dez/2026, com início de suprimento em ago/2028.</a:t>
            </a:r>
            <a:endParaRPr lang="en-US" sz="1400" dirty="0"/>
          </a:p>
        </p:txBody>
      </p:sp>
      <p:sp>
        <p:nvSpPr>
          <p:cNvPr id="13" name="Justification card 3"/>
          <p:cNvSpPr/>
          <p:nvPr/>
        </p:nvSpPr>
        <p:spPr>
          <a:xfrm>
            <a:off x="548640" y="356616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0005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8221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paga as baterias?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3434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Lei 15.269/2025 prevê rateio do custo entre geradores. O PL 3.716/2026 propõe mudar a regra.</a:t>
            </a:r>
            <a:endParaRPr lang="en-US" sz="1400" dirty="0"/>
          </a:p>
        </p:txBody>
      </p:sp>
      <p:sp>
        <p:nvSpPr>
          <p:cNvPr id="18" name="Justification card 4"/>
          <p:cNvSpPr/>
          <p:nvPr/>
        </p:nvSpPr>
        <p:spPr>
          <a:xfrm>
            <a:off x="6263640" y="356616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537960" y="3840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0005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8221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 operativa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3434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BESS desloca energia para a ponta, pode reduzir o despacho térmico e preservar água nos reservatórios.</a:t>
            </a:r>
            <a:endParaRPr lang="en-US" sz="1400" dirty="0"/>
          </a:p>
        </p:txBody>
      </p:sp>
      <p:sp>
        <p:nvSpPr>
          <p:cNvPr id="23" name="Gap banner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557784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Lacuna: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falta comparar o ganho sistêmico das baterias com os encargos que cada fonte pagará.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3825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Fontes: Agência Infra (2025); ePowerBay (2026) sobre o LRCAP; TAGD Law (2026) sobre a Lei 15.269/2025 e o PL 3.716/2026.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Problema de pesquisa e hipótese</a:t>
            </a:r>
            <a:endParaRPr lang="en-US" sz="3200" dirty="0"/>
          </a:p>
        </p:txBody>
      </p:sp>
      <p:sp>
        <p:nvSpPr>
          <p:cNvPr id="3" name="Question card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a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PERGUNTA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ganho econômico com a redução do curtailment pode ser equivalente aos encargos pagos pelas demais fontes para implantar as baterias?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257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Ganho = redução do custo total de operação (CTO) do SIN</a:t>
            </a:r>
            <a:endParaRPr lang="en-US" sz="1400" dirty="0"/>
          </a:p>
        </p:txBody>
      </p:sp>
      <p:sp>
        <p:nvSpPr>
          <p:cNvPr id="9" name="H1 card"/>
          <p:cNvSpPr/>
          <p:nvPr/>
        </p:nvSpPr>
        <p:spPr>
          <a:xfrm>
            <a:off x="6355080" y="1463040"/>
            <a:ext cx="5287975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737360"/>
            <a:ext cx="4099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H1: as baterias se pagam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468880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redução do CTO é maior ou igual à soma dos encargos pagos pelas fontes.</a:t>
            </a:r>
            <a:endParaRPr lang="en-US" sz="1400" dirty="0"/>
          </a:p>
        </p:txBody>
      </p:sp>
      <p:sp>
        <p:nvSpPr>
          <p:cNvPr id="14" name="H0 card"/>
          <p:cNvSpPr/>
          <p:nvPr/>
        </p:nvSpPr>
        <p:spPr>
          <a:xfrm>
            <a:off x="6355080" y="3749040"/>
            <a:ext cx="5287975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629400" y="40233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FaTimes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160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60920" y="3749040"/>
            <a:ext cx="4099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H0: o custo excede o ganho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360920" y="4297680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redução do CTO é menor que a soma dos encargos.</a:t>
            </a:r>
            <a:endParaRPr lang="en-US" sz="1400" dirty="0"/>
          </a:p>
        </p:txBody>
      </p:sp>
      <p:sp>
        <p:nvSpPr>
          <p:cNvPr id="19" name="Variables card"/>
          <p:cNvSpPr/>
          <p:nvPr/>
        </p:nvSpPr>
        <p:spPr>
          <a:xfrm>
            <a:off x="6355080" y="5029200"/>
            <a:ext cx="5287975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629400" y="5029200"/>
            <a:ext cx="4739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Variáveis: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causa = nível de MMGD e presença de baterias. Efeitos = curtailment, despacho, armazenamento, CTO e encargos.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Objetivo geral</a:t>
            </a:r>
            <a:endParaRPr lang="en-US" sz="3200" dirty="0"/>
          </a:p>
        </p:txBody>
      </p:sp>
      <p:sp>
        <p:nvSpPr>
          <p:cNvPr id="3" name="General objective card"/>
          <p:cNvSpPr/>
          <p:nvPr/>
        </p:nvSpPr>
        <p:spPr>
          <a:xfrm>
            <a:off x="548640" y="1417320"/>
            <a:ext cx="11094415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554480"/>
            <a:ext cx="926561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Verificar, por meio de simulações horárias do SIN sem e com baterias, se o ganho econômico com a redução do curtailment (menor custo total de operação) é equivalente aos encargos que as demais fontes pagarão pela implantação das baterias.</a:t>
            </a:r>
            <a:endParaRPr lang="en-US" sz="2200" dirty="0"/>
          </a:p>
        </p:txBody>
      </p:sp>
      <p:sp>
        <p:nvSpPr>
          <p:cNvPr id="7" name="Objective breakdown 1"/>
          <p:cNvSpPr/>
          <p:nvPr/>
        </p:nvSpPr>
        <p:spPr>
          <a:xfrm>
            <a:off x="548640" y="38404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O QUÊ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846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Ganho sistêmico (redução do CTO) em confronto com os encargos pagos por cada fonte.</a:t>
            </a:r>
            <a:endParaRPr lang="en-US" sz="1400" dirty="0"/>
          </a:p>
        </p:txBody>
      </p:sp>
      <p:sp>
        <p:nvSpPr>
          <p:cNvPr id="12" name="Objective breakdown 2"/>
          <p:cNvSpPr/>
          <p:nvPr/>
        </p:nvSpPr>
        <p:spPr>
          <a:xfrm>
            <a:off x="4334256" y="38404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4608576" y="4069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42062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0096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COMO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608576" y="4846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Simulações horárias do SIN sem e com baterias (NE e SE, 4 h), em níveis crescentes de MMGD.</a:t>
            </a:r>
            <a:endParaRPr lang="en-US" sz="1400" dirty="0"/>
          </a:p>
        </p:txBody>
      </p:sp>
      <p:sp>
        <p:nvSpPr>
          <p:cNvPr id="17" name="Objective breakdown 3"/>
          <p:cNvSpPr/>
          <p:nvPr/>
        </p:nvSpPr>
        <p:spPr>
          <a:xfrm>
            <a:off x="8119872" y="38404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8394192" y="4069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3" descr="FaGav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42062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25712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</a:rPr>
              <a:t>PARA QUÊ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394192" y="484632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Dizer se as baterias se pagam e quais fontes ganham ou perdem, subsidiando o rateio dos custos.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Objetivos específicos</a:t>
            </a:r>
            <a:endParaRPr lang="en-US" sz="3200" dirty="0"/>
          </a:p>
        </p:txBody>
      </p:sp>
      <p:sp>
        <p:nvSpPr>
          <p:cNvPr id="3" name="Specific objective 1"/>
          <p:cNvSpPr/>
          <p:nvPr/>
        </p:nvSpPr>
        <p:spPr>
          <a:xfrm>
            <a:off x="548640" y="137160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E tag 1"/>
          <p:cNvSpPr/>
          <p:nvPr/>
        </p:nvSpPr>
        <p:spPr>
          <a:xfrm>
            <a:off x="731520" y="1508760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Quantificar a redução do curtailment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444752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eólicas, UFVs centralizadas e UHEs com baterias, em cada nível de MMGD.</a:t>
            </a:r>
            <a:endParaRPr lang="en-US" sz="1400" dirty="0"/>
          </a:p>
        </p:txBody>
      </p:sp>
      <p:pic>
        <p:nvPicPr>
          <p:cNvPr id="8" name="Image 0" descr="Quantificar a redução do curtail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577340"/>
            <a:ext cx="411480" cy="411480"/>
          </a:xfrm>
          <a:prstGeom prst="rect">
            <a:avLst/>
          </a:prstGeom>
        </p:spPr>
      </p:pic>
      <p:sp>
        <p:nvSpPr>
          <p:cNvPr id="9" name="Specific objective 2"/>
          <p:cNvSpPr/>
          <p:nvPr/>
        </p:nvSpPr>
        <p:spPr>
          <a:xfrm>
            <a:off x="548640" y="2304288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E tag 2"/>
          <p:cNvSpPr/>
          <p:nvPr/>
        </p:nvSpPr>
        <p:spPr>
          <a:xfrm>
            <a:off x="731520" y="2441448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441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23957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 despacho e armazenamento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37744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identificar fontes beneficiadas e deslocadas e se a energia armazenada nas UHEs aumenta.</a:t>
            </a:r>
            <a:endParaRPr lang="en-US" sz="1400" dirty="0"/>
          </a:p>
        </p:txBody>
      </p:sp>
      <p:pic>
        <p:nvPicPr>
          <p:cNvPr id="14" name="Image 1" descr="Analisar despacho e armazen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510028"/>
            <a:ext cx="411480" cy="411480"/>
          </a:xfrm>
          <a:prstGeom prst="rect">
            <a:avLst/>
          </a:prstGeom>
        </p:spPr>
      </p:pic>
      <p:sp>
        <p:nvSpPr>
          <p:cNvPr id="15" name="Specific objective 3"/>
          <p:cNvSpPr/>
          <p:nvPr/>
        </p:nvSpPr>
        <p:spPr>
          <a:xfrm>
            <a:off x="548640" y="3236976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E tag 3"/>
          <p:cNvSpPr/>
          <p:nvPr/>
        </p:nvSpPr>
        <p:spPr>
          <a:xfrm>
            <a:off x="731520" y="3374136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33741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920240" y="332841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o ganho sistêmico (ΔCTO)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0" y="331012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variação do custo total de operação do SIN, sem e com baterias.</a:t>
            </a:r>
            <a:endParaRPr lang="en-US" sz="1400" dirty="0"/>
          </a:p>
        </p:txBody>
      </p:sp>
      <p:pic>
        <p:nvPicPr>
          <p:cNvPr id="20" name="Image 2" descr="Calcular o ganho sistêmico (ΔCTO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442716"/>
            <a:ext cx="411480" cy="411480"/>
          </a:xfrm>
          <a:prstGeom prst="rect">
            <a:avLst/>
          </a:prstGeom>
        </p:spPr>
      </p:pic>
      <p:sp>
        <p:nvSpPr>
          <p:cNvPr id="21" name="Specific objective 4"/>
          <p:cNvSpPr/>
          <p:nvPr/>
        </p:nvSpPr>
        <p:spPr>
          <a:xfrm>
            <a:off x="548640" y="4169664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OE tag 4"/>
          <p:cNvSpPr/>
          <p:nvPr/>
        </p:nvSpPr>
        <p:spPr>
          <a:xfrm>
            <a:off x="731520" y="4306824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43068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OE4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920240" y="426110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Estimar os encargos por fonte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0" y="424281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valor a ser pago por UHEs, UTEs, eólicas e UFVs pela implantação das baterias.</a:t>
            </a:r>
            <a:endParaRPr lang="en-US" sz="1400" dirty="0"/>
          </a:p>
        </p:txBody>
      </p:sp>
      <p:pic>
        <p:nvPicPr>
          <p:cNvPr id="26" name="Image 3" descr="Estimar os encargos por fo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4375404"/>
            <a:ext cx="411480" cy="411480"/>
          </a:xfrm>
          <a:prstGeom prst="rect">
            <a:avLst/>
          </a:prstGeom>
        </p:spPr>
      </p:pic>
      <p:sp>
        <p:nvSpPr>
          <p:cNvPr id="27" name="Specific objective 5"/>
          <p:cNvSpPr/>
          <p:nvPr/>
        </p:nvSpPr>
        <p:spPr>
          <a:xfrm>
            <a:off x="548640" y="5102352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OE tag 5"/>
          <p:cNvSpPr/>
          <p:nvPr/>
        </p:nvSpPr>
        <p:spPr>
          <a:xfrm>
            <a:off x="731520" y="5239512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31520" y="52395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OE5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920240" y="5193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ganho e encargos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5715000" y="517550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sistema e por fonte, testando H1 e a sensibilidade ao nível de MMGD.</a:t>
            </a:r>
            <a:endParaRPr lang="en-US" sz="1400" dirty="0"/>
          </a:p>
        </p:txBody>
      </p:sp>
      <p:pic>
        <p:nvPicPr>
          <p:cNvPr id="32" name="Image 4" descr="Comparar ganho e encarg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255" y="530809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48640" y="6053328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OE1 a OE3 medem o ganho, OE4 mede o custo e OE5 responde à pergunta de pesquisa.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Escopo e premissas do estudo</a:t>
            </a:r>
            <a:endParaRPr lang="en-US" sz="3200" dirty="0"/>
          </a:p>
        </p:txBody>
      </p:sp>
      <p:sp>
        <p:nvSpPr>
          <p:cNvPr id="3" name="Scope column 1"/>
          <p:cNvSpPr/>
          <p:nvPr/>
        </p:nvSpPr>
        <p:spPr>
          <a:xfrm>
            <a:off x="548640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do escopo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Sistema Interligado Nacional (SIN)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Baterias no Nordeste e no Sudeste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Armazenamento de 4 horas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Simulação horária do despacho hidrotérmico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Cenários de MMGD a partir de uma referência</a:t>
            </a:r>
            <a:endParaRPr lang="en-US" sz="1600" dirty="0"/>
          </a:p>
        </p:txBody>
      </p:sp>
      <p:sp>
        <p:nvSpPr>
          <p:cNvPr id="8" name="Scope column 2"/>
          <p:cNvSpPr/>
          <p:nvPr/>
        </p:nvSpPr>
        <p:spPr>
          <a:xfrm>
            <a:off x="4334256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4608576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0096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definir no estudo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25603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Potência instalada das baterias (MW)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Ano-horizonte da simulação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Eficiência de ida e volta (ref.: mínimo de 85% no LRCAP)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Valores dos cenários de MMGD (ref.: faixa do PDE 2034)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Método de rateio dos encargos por fonte</a:t>
            </a:r>
            <a:endParaRPr lang="en-US" sz="1600" dirty="0"/>
          </a:p>
        </p:txBody>
      </p:sp>
      <p:sp>
        <p:nvSpPr>
          <p:cNvPr id="13" name="Scope column 3"/>
          <p:cNvSpPr/>
          <p:nvPr/>
        </p:nvSpPr>
        <p:spPr>
          <a:xfrm>
            <a:off x="8119872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394192" y="17373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FaTimes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745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25712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do escopo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25603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Dimensionamento ótimo e localização por barra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Baterias atrás do medidor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Efeitos sobre a tarifa do consumidor final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Outras tecnologias de armazenamento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3825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Fonte de referência: requisitos técnicos do LRCAP 2026 (ePowerBay, 2026) e EPE, PDE 2034, Caderno MMGD e Baterias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Metodologia: fluxo de simulações</a:t>
            </a:r>
            <a:endParaRPr lang="en-US" sz="3200" dirty="0"/>
          </a:p>
        </p:txBody>
      </p:sp>
      <p:sp>
        <p:nvSpPr>
          <p:cNvPr id="3" name="Lane 1"/>
          <p:cNvSpPr/>
          <p:nvPr/>
        </p:nvSpPr>
        <p:spPr>
          <a:xfrm>
            <a:off x="548640" y="1417320"/>
            <a:ext cx="1143000" cy="128016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60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ETAPA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Sem baterias</a:t>
            </a:r>
            <a:endParaRPr lang="en-US" sz="1400" dirty="0"/>
          </a:p>
        </p:txBody>
      </p:sp>
      <p:sp>
        <p:nvSpPr>
          <p:cNvPr id="5" name="Lane 2"/>
          <p:cNvSpPr/>
          <p:nvPr/>
        </p:nvSpPr>
        <p:spPr>
          <a:xfrm>
            <a:off x="548640" y="3044952"/>
            <a:ext cx="1143000" cy="128016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44952"/>
            <a:ext cx="960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ETAPA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baterias</a:t>
            </a:r>
            <a:endParaRPr lang="en-US" sz="1400" dirty="0"/>
          </a:p>
        </p:txBody>
      </p:sp>
      <p:sp>
        <p:nvSpPr>
          <p:cNvPr id="7" name="Lane 3"/>
          <p:cNvSpPr/>
          <p:nvPr/>
        </p:nvSpPr>
        <p:spPr>
          <a:xfrm>
            <a:off x="548640" y="4672584"/>
            <a:ext cx="1143000" cy="12801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72584"/>
            <a:ext cx="960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ETAPA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Análise</a:t>
            </a:r>
            <a:endParaRPr lang="en-US" sz="1400" dirty="0"/>
          </a:p>
        </p:txBody>
      </p:sp>
      <p:sp>
        <p:nvSpPr>
          <p:cNvPr id="9" name="Step 1"/>
          <p:cNvSpPr/>
          <p:nvPr/>
        </p:nvSpPr>
        <p:spPr>
          <a:xfrm>
            <a:off x="1965960" y="141732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0" name="Step number 1"/>
          <p:cNvSpPr/>
          <p:nvPr/>
        </p:nvSpPr>
        <p:spPr>
          <a:xfrm>
            <a:off x="2075688" y="152704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75688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Dados de entrada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19476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Demanda, geração horária por fonte, MMGD de referência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4105656" y="2057400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5" name="Step 2"/>
          <p:cNvSpPr/>
          <p:nvPr/>
        </p:nvSpPr>
        <p:spPr>
          <a:xfrm>
            <a:off x="4453128" y="141732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6" name="Step number 2"/>
          <p:cNvSpPr/>
          <p:nvPr/>
        </p:nvSpPr>
        <p:spPr>
          <a:xfrm>
            <a:off x="4562856" y="152704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2856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Cenário de referência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19476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SIN sem baterias, com MMGD de referência</a:t>
            </a:r>
            <a:endParaRPr lang="en-US" sz="1200" dirty="0"/>
          </a:p>
        </p:txBody>
      </p:sp>
      <p:sp>
        <p:nvSpPr>
          <p:cNvPr id="20" name="Arrow"/>
          <p:cNvSpPr/>
          <p:nvPr/>
        </p:nvSpPr>
        <p:spPr>
          <a:xfrm>
            <a:off x="6592824" y="2057400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1" name="Step 3"/>
          <p:cNvSpPr/>
          <p:nvPr/>
        </p:nvSpPr>
        <p:spPr>
          <a:xfrm>
            <a:off x="6940296" y="141732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2" name="Step number 3"/>
          <p:cNvSpPr/>
          <p:nvPr/>
        </p:nvSpPr>
        <p:spPr>
          <a:xfrm>
            <a:off x="7050024" y="152704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50024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43216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Simulação horária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19476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Despacho hidrotérmico sem baterias</a:t>
            </a:r>
            <a:endParaRPr lang="en-US" sz="1200" dirty="0"/>
          </a:p>
        </p:txBody>
      </p:sp>
      <p:sp>
        <p:nvSpPr>
          <p:cNvPr id="26" name="Arrow"/>
          <p:cNvSpPr/>
          <p:nvPr/>
        </p:nvSpPr>
        <p:spPr>
          <a:xfrm>
            <a:off x="9079992" y="2057400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7" name="Step 4"/>
          <p:cNvSpPr/>
          <p:nvPr/>
        </p:nvSpPr>
        <p:spPr>
          <a:xfrm>
            <a:off x="9427464" y="141732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8" name="Step number 4"/>
          <p:cNvSpPr/>
          <p:nvPr/>
        </p:nvSpPr>
        <p:spPr>
          <a:xfrm>
            <a:off x="9537192" y="152704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37192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930384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Resultados sem BESS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564624" y="19476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Curtailment, despacho, armazenamento, CTO</a:t>
            </a:r>
            <a:endParaRPr lang="en-US" sz="1200" dirty="0"/>
          </a:p>
        </p:txBody>
      </p:sp>
      <p:sp>
        <p:nvSpPr>
          <p:cNvPr id="32" name="Step 5"/>
          <p:cNvSpPr/>
          <p:nvPr/>
        </p:nvSpPr>
        <p:spPr>
          <a:xfrm>
            <a:off x="9427464" y="3044952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3" name="Step number 5"/>
          <p:cNvSpPr/>
          <p:nvPr/>
        </p:nvSpPr>
        <p:spPr>
          <a:xfrm>
            <a:off x="9537192" y="31546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3719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930384" y="3136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Cenários de MMGD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564624" y="357530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Aumento da MMGD sobre a referência</a:t>
            </a:r>
            <a:endParaRPr lang="en-US" sz="1200" dirty="0"/>
          </a:p>
        </p:txBody>
      </p:sp>
      <p:sp>
        <p:nvSpPr>
          <p:cNvPr id="37" name="Arrow"/>
          <p:cNvSpPr/>
          <p:nvPr/>
        </p:nvSpPr>
        <p:spPr>
          <a:xfrm flipH="1">
            <a:off x="9079992" y="3685032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8" name="Step 6"/>
          <p:cNvSpPr/>
          <p:nvPr/>
        </p:nvSpPr>
        <p:spPr>
          <a:xfrm>
            <a:off x="6940296" y="3044952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9" name="Step number 6"/>
          <p:cNvSpPr/>
          <p:nvPr/>
        </p:nvSpPr>
        <p:spPr>
          <a:xfrm>
            <a:off x="7050024" y="31546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50024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443216" y="3136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Inserção das baterias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77456" y="357530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BESS no Nordeste e no Sudeste, 4 h</a:t>
            </a:r>
            <a:endParaRPr lang="en-US" sz="1200" dirty="0"/>
          </a:p>
        </p:txBody>
      </p:sp>
      <p:sp>
        <p:nvSpPr>
          <p:cNvPr id="43" name="Arrow"/>
          <p:cNvSpPr/>
          <p:nvPr/>
        </p:nvSpPr>
        <p:spPr>
          <a:xfrm flipH="1">
            <a:off x="6592824" y="3685032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4" name="Step 7"/>
          <p:cNvSpPr/>
          <p:nvPr/>
        </p:nvSpPr>
        <p:spPr>
          <a:xfrm>
            <a:off x="4453128" y="3044952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5" name="Step number 7"/>
          <p:cNvSpPr/>
          <p:nvPr/>
        </p:nvSpPr>
        <p:spPr>
          <a:xfrm>
            <a:off x="4562856" y="31546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62856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956048" y="3136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Simulação horária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590288" y="357530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 carga e descarga das baterias</a:t>
            </a:r>
            <a:endParaRPr lang="en-US" sz="1200" dirty="0"/>
          </a:p>
        </p:txBody>
      </p:sp>
      <p:sp>
        <p:nvSpPr>
          <p:cNvPr id="49" name="Arrow"/>
          <p:cNvSpPr/>
          <p:nvPr/>
        </p:nvSpPr>
        <p:spPr>
          <a:xfrm flipH="1">
            <a:off x="4105656" y="3685032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0" name="Step 8"/>
          <p:cNvSpPr/>
          <p:nvPr/>
        </p:nvSpPr>
        <p:spPr>
          <a:xfrm>
            <a:off x="1965960" y="3044952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1" name="Step number 8"/>
          <p:cNvSpPr/>
          <p:nvPr/>
        </p:nvSpPr>
        <p:spPr>
          <a:xfrm>
            <a:off x="2075688" y="31546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75688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8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2468880" y="3136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Resultados com BESS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2103120" y="357530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Mesmas variáveis da etapa 1</a:t>
            </a:r>
            <a:endParaRPr lang="en-US" sz="1200" dirty="0"/>
          </a:p>
        </p:txBody>
      </p:sp>
      <p:sp>
        <p:nvSpPr>
          <p:cNvPr id="55" name="Step 9"/>
          <p:cNvSpPr/>
          <p:nvPr/>
        </p:nvSpPr>
        <p:spPr>
          <a:xfrm>
            <a:off x="1965960" y="4672584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6" name="Step number 9"/>
          <p:cNvSpPr/>
          <p:nvPr/>
        </p:nvSpPr>
        <p:spPr>
          <a:xfrm>
            <a:off x="2075688" y="47823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075688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9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2468880" y="47640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Comparação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2103120" y="520293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Δ curtailment, Δ despacho, Δ armazenamento, Δ CTO</a:t>
            </a:r>
            <a:endParaRPr lang="en-US" sz="1200" dirty="0"/>
          </a:p>
        </p:txBody>
      </p:sp>
      <p:sp>
        <p:nvSpPr>
          <p:cNvPr id="60" name="Arrow"/>
          <p:cNvSpPr/>
          <p:nvPr/>
        </p:nvSpPr>
        <p:spPr>
          <a:xfrm>
            <a:off x="4105656" y="5312664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61" name="Step 10"/>
          <p:cNvSpPr/>
          <p:nvPr/>
        </p:nvSpPr>
        <p:spPr>
          <a:xfrm>
            <a:off x="4453128" y="4672584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2" name="Step number 10"/>
          <p:cNvSpPr/>
          <p:nvPr/>
        </p:nvSpPr>
        <p:spPr>
          <a:xfrm>
            <a:off x="4562856" y="47823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562856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4956048" y="47640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Encargos por fonte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590288" y="520293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Custo das baterias rateado entre as fontes</a:t>
            </a:r>
            <a:endParaRPr lang="en-US" sz="1200" dirty="0"/>
          </a:p>
        </p:txBody>
      </p:sp>
      <p:sp>
        <p:nvSpPr>
          <p:cNvPr id="66" name="Arrow"/>
          <p:cNvSpPr/>
          <p:nvPr/>
        </p:nvSpPr>
        <p:spPr>
          <a:xfrm>
            <a:off x="6592824" y="5312664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67" name="Step 11"/>
          <p:cNvSpPr/>
          <p:nvPr/>
        </p:nvSpPr>
        <p:spPr>
          <a:xfrm>
            <a:off x="6940296" y="4672584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8" name="Step number 11"/>
          <p:cNvSpPr/>
          <p:nvPr/>
        </p:nvSpPr>
        <p:spPr>
          <a:xfrm>
            <a:off x="7050024" y="47823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050024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11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443216" y="47640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Balanço econômico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77456" y="520293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Ganho sistêmico × encargos</a:t>
            </a:r>
            <a:endParaRPr lang="en-US" sz="1200" dirty="0"/>
          </a:p>
        </p:txBody>
      </p:sp>
      <p:sp>
        <p:nvSpPr>
          <p:cNvPr id="72" name="Arrow"/>
          <p:cNvSpPr/>
          <p:nvPr/>
        </p:nvSpPr>
        <p:spPr>
          <a:xfrm>
            <a:off x="9079992" y="5312664"/>
            <a:ext cx="310896" cy="0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73" name="Step 12"/>
          <p:cNvSpPr/>
          <p:nvPr/>
        </p:nvSpPr>
        <p:spPr>
          <a:xfrm>
            <a:off x="9427464" y="4672584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4" name="Step number 12"/>
          <p:cNvSpPr/>
          <p:nvPr/>
        </p:nvSpPr>
        <p:spPr>
          <a:xfrm>
            <a:off x="9537192" y="47823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537192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12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9930384" y="47640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9564624" y="520293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Fontes beneficiadas e deslocadas; teste da hipótese</a:t>
            </a:r>
            <a:endParaRPr lang="en-US" sz="1200" dirty="0"/>
          </a:p>
        </p:txBody>
      </p:sp>
      <p:sp>
        <p:nvSpPr>
          <p:cNvPr id="78" name="Arrow"/>
          <p:cNvSpPr/>
          <p:nvPr/>
        </p:nvSpPr>
        <p:spPr>
          <a:xfrm>
            <a:off x="10479024" y="2724912"/>
            <a:ext cx="0" cy="292608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79" name="Arrow"/>
          <p:cNvSpPr/>
          <p:nvPr/>
        </p:nvSpPr>
        <p:spPr>
          <a:xfrm>
            <a:off x="3017520" y="4352544"/>
            <a:ext cx="0" cy="292608"/>
          </a:xfrm>
          <a:prstGeom prst="line">
            <a:avLst/>
          </a:prstGeom>
          <a:noFill/>
          <a:ln w="254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0" name="Text 78"/>
          <p:cNvSpPr txBox="1"/>
          <p:nvPr/>
        </p:nvSpPr>
        <p:spPr>
          <a:xfrm>
            <a:off x="548640" y="63825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Etapa 3 compara os resultados das etapas 1 e 2. O cenário de MMGD define as variações simuladas em cada etapa.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Cenários de simulação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Três níveis de MMGD, com e sem baterias, geram seis casos. A referência é o C3.</a:t>
            </a:r>
            <a:endParaRPr lang="en-US" sz="1600" dirty="0"/>
          </a:p>
        </p:txBody>
      </p:sp>
      <p:sp>
        <p:nvSpPr>
          <p:cNvPr id="4" name="Column header 1"/>
          <p:cNvSpPr/>
          <p:nvPr/>
        </p:nvSpPr>
        <p:spPr>
          <a:xfrm>
            <a:off x="2743200" y="1783080"/>
            <a:ext cx="42976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Sem baterias</a:t>
            </a:r>
            <a:endParaRPr lang="en-US" sz="1400" dirty="0"/>
          </a:p>
        </p:txBody>
      </p:sp>
      <p:sp>
        <p:nvSpPr>
          <p:cNvPr id="6" name="Column header 2"/>
          <p:cNvSpPr/>
          <p:nvPr/>
        </p:nvSpPr>
        <p:spPr>
          <a:xfrm>
            <a:off x="7223760" y="1783080"/>
            <a:ext cx="429768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 baterias (NE + SE, 4 h)</a:t>
            </a:r>
            <a:endParaRPr lang="en-US" sz="1400" dirty="0"/>
          </a:p>
        </p:txBody>
      </p:sp>
      <p:sp>
        <p:nvSpPr>
          <p:cNvPr id="8" name="Row header 1"/>
          <p:cNvSpPr/>
          <p:nvPr/>
        </p:nvSpPr>
        <p:spPr>
          <a:xfrm>
            <a:off x="548640" y="237744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MMGD baixa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47 GW (2034)</a:t>
            </a:r>
            <a:endParaRPr lang="en-US" sz="1400" dirty="0"/>
          </a:p>
        </p:txBody>
      </p:sp>
      <p:sp>
        <p:nvSpPr>
          <p:cNvPr id="10" name="Case C1"/>
          <p:cNvSpPr/>
          <p:nvPr/>
        </p:nvSpPr>
        <p:spPr>
          <a:xfrm>
            <a:off x="2743200" y="2377440"/>
            <a:ext cx="42976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97180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base do nível de MMGD</a:t>
            </a:r>
            <a:endParaRPr lang="en-US" sz="1400" dirty="0"/>
          </a:p>
        </p:txBody>
      </p:sp>
      <p:sp>
        <p:nvSpPr>
          <p:cNvPr id="13" name="Case C2"/>
          <p:cNvSpPr/>
          <p:nvPr/>
        </p:nvSpPr>
        <p:spPr>
          <a:xfrm>
            <a:off x="7223760" y="2377440"/>
            <a:ext cx="42976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5236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Efeito das baterias nesse nível de MMGD</a:t>
            </a:r>
            <a:endParaRPr lang="en-US" sz="1400" dirty="0"/>
          </a:p>
        </p:txBody>
      </p:sp>
      <p:sp>
        <p:nvSpPr>
          <p:cNvPr id="16" name="Row header 2"/>
          <p:cNvSpPr/>
          <p:nvPr/>
        </p:nvSpPr>
        <p:spPr>
          <a:xfrm>
            <a:off x="548640" y="356616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566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MMGD de referência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59 GW (2034)</a:t>
            </a:r>
            <a:endParaRPr lang="en-US" sz="1400" dirty="0"/>
          </a:p>
        </p:txBody>
      </p:sp>
      <p:sp>
        <p:nvSpPr>
          <p:cNvPr id="18" name="Case C3"/>
          <p:cNvSpPr/>
          <p:nvPr/>
        </p:nvSpPr>
        <p:spPr>
          <a:xfrm>
            <a:off x="2743200" y="3566160"/>
            <a:ext cx="42976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rgbClr val="F5A524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971800" y="36758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base do nível de MMGD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7673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REFERÊNCIA</a:t>
            </a:r>
            <a:endParaRPr lang="en-US" sz="1200" dirty="0"/>
          </a:p>
        </p:txBody>
      </p:sp>
      <p:sp>
        <p:nvSpPr>
          <p:cNvPr id="22" name="Case C4"/>
          <p:cNvSpPr/>
          <p:nvPr/>
        </p:nvSpPr>
        <p:spPr>
          <a:xfrm>
            <a:off x="7223760" y="3566160"/>
            <a:ext cx="42976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52360" y="36758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Efeito das baterias nesse nível de MMGD</a:t>
            </a:r>
            <a:endParaRPr lang="en-US" sz="1400" dirty="0"/>
          </a:p>
        </p:txBody>
      </p:sp>
      <p:sp>
        <p:nvSpPr>
          <p:cNvPr id="25" name="Row header 3"/>
          <p:cNvSpPr/>
          <p:nvPr/>
        </p:nvSpPr>
        <p:spPr>
          <a:xfrm>
            <a:off x="548640" y="4754880"/>
            <a:ext cx="201168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MMGD alta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71 GW (2034)</a:t>
            </a:r>
            <a:endParaRPr lang="en-US" sz="1400" dirty="0"/>
          </a:p>
        </p:txBody>
      </p:sp>
      <p:sp>
        <p:nvSpPr>
          <p:cNvPr id="27" name="Case C5"/>
          <p:cNvSpPr/>
          <p:nvPr/>
        </p:nvSpPr>
        <p:spPr>
          <a:xfrm>
            <a:off x="2743200" y="4754880"/>
            <a:ext cx="42976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971800" y="4864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2971800" y="537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base do nível de MMGD</a:t>
            </a:r>
            <a:endParaRPr lang="en-US" sz="1400" dirty="0"/>
          </a:p>
        </p:txBody>
      </p:sp>
      <p:sp>
        <p:nvSpPr>
          <p:cNvPr id="30" name="Case C6"/>
          <p:cNvSpPr/>
          <p:nvPr/>
        </p:nvSpPr>
        <p:spPr>
          <a:xfrm>
            <a:off x="7223760" y="4754880"/>
            <a:ext cx="42976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452360" y="4864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537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Efeito das baterias nesse nível de MMGD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Comparações-chave: C2 × C1, C4 × C3 e C6 × C5 isolam o efeito das baterias; C1 × C3 × C5 isolam o efeito da MMGD.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825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Faixa de MMGD: EPE/MME, PDE 2034, Caderno MMGD e Baterias (2024); ordem de grandeza para o ano-horizonte a definir.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Indicadores: como cada objetivo será medido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3017520"/>
                <a:gridCol w="3410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de saída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Curtailment de eólicas, UFVs e UHEs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 e % da geração disponível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× com BESS, por nível de MMGD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Despacho por fonte e energia armazenada nas UHEs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MWh/ano, MW médios e % da capacidade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Fontes beneficiadas × deslocadas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total de operação (CTO)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bilhões/ano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ΔCTO em R$ e em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Encargos pagos por fonte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milhões/ano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 a regra de rateio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ΔCTO ÷ Σ encargos e resultado por fonte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e R$ milhões/ano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 confirma H1; varia com a MMGD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Todas as variáveis vêm das simulações horárias, exceto os encargos (OE4), calculados a partir do custo das baterias e da regra de rateio.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Análise econômica: ganho versus encargos</a:t>
            </a:r>
            <a:endParaRPr lang="en-US" sz="3200" dirty="0"/>
          </a:p>
        </p:txBody>
      </p:sp>
      <p:sp>
        <p:nvSpPr>
          <p:cNvPr id="3" name="Gain card"/>
          <p:cNvSpPr/>
          <p:nvPr/>
        </p:nvSpPr>
        <p:spPr>
          <a:xfrm>
            <a:off x="548640" y="1463040"/>
            <a:ext cx="475488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859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tx2"/>
                </a:solidFill>
              </a:rPr>
              <a:t>GANHO SISTÊMICO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ΔCTO = CTO(sem BESS) − CTO(com BESS)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Inclui a economia de menos curtailment, menos térmica e mais água armazenada.</a:t>
            </a:r>
            <a:endParaRPr lang="en-US" sz="1400" dirty="0"/>
          </a:p>
        </p:txBody>
      </p:sp>
      <p:sp>
        <p:nvSpPr>
          <p:cNvPr id="9" name="Charges card"/>
          <p:cNvSpPr/>
          <p:nvPr/>
        </p:nvSpPr>
        <p:spPr>
          <a:xfrm>
            <a:off x="6888175" y="1463040"/>
            <a:ext cx="475488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7162495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085" y="18859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85455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tx2"/>
                </a:solidFill>
              </a:rPr>
              <a:t>ENCARGOS DAS FONTES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62495" y="2560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Ei,  i = UHE, UTE, eólica, UFV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62495" y="3200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 das baterias pago por cada fonte, conforme a regra de rateio adotada.</a:t>
            </a:r>
            <a:endParaRPr lang="en-US" sz="1400" dirty="0"/>
          </a:p>
        </p:txBody>
      </p:sp>
      <p:sp>
        <p:nvSpPr>
          <p:cNvPr id="15" name="Comparison circle"/>
          <p:cNvSpPr/>
          <p:nvPr/>
        </p:nvSpPr>
        <p:spPr>
          <a:xfrm>
            <a:off x="5592928" y="219456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92928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?</a:t>
            </a:r>
            <a:endParaRPr lang="en-US" sz="2800" dirty="0"/>
          </a:p>
        </p:txBody>
      </p:sp>
      <p:sp>
        <p:nvSpPr>
          <p:cNvPr id="17" name="Outcome 1"/>
          <p:cNvSpPr/>
          <p:nvPr/>
        </p:nvSpPr>
        <p:spPr>
          <a:xfrm>
            <a:off x="548640" y="42062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6177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ΔCTO ≥ Σ Ei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212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H1 confirmada: o ganho sistêmico cobre os encargos.</a:t>
            </a:r>
            <a:endParaRPr lang="en-US" sz="1400" dirty="0"/>
          </a:p>
        </p:txBody>
      </p:sp>
      <p:sp>
        <p:nvSpPr>
          <p:cNvPr id="22" name="Outcome 2"/>
          <p:cNvSpPr/>
          <p:nvPr/>
        </p:nvSpPr>
        <p:spPr>
          <a:xfrm>
            <a:off x="4334256" y="42062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4608576" y="44805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3" descr="FaTimes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46177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40096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ΔCTO &lt; Σ Ei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4608576" y="5212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H0 mantida: o custo das baterias excede o ganho.</a:t>
            </a:r>
            <a:endParaRPr lang="en-US" sz="1400" dirty="0"/>
          </a:p>
        </p:txBody>
      </p:sp>
      <p:sp>
        <p:nvSpPr>
          <p:cNvPr id="27" name="Outcome 3"/>
          <p:cNvSpPr/>
          <p:nvPr/>
        </p:nvSpPr>
        <p:spPr>
          <a:xfrm>
            <a:off x="8119872" y="420624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A2E">
                <a:alpha val="12000"/>
              </a:srgbClr>
            </a:outerShdw>
          </a:effectLst>
        </p:spPr>
      </p:sp>
      <p:sp>
        <p:nvSpPr>
          <p:cNvPr id="28" name="Icon circle"/>
          <p:cNvSpPr/>
          <p:nvPr/>
        </p:nvSpPr>
        <p:spPr>
          <a:xfrm>
            <a:off x="8394192" y="44805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4" descr="FaBalance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461772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125712" y="4480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por fonte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8394192" y="5212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Ganho de despacho da fonte i menos Ei mostra quem ganha e quem perde.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Resultados esperados e contribuição</a:t>
            </a:r>
            <a:endParaRPr lang="en-US" sz="3200" dirty="0"/>
          </a:p>
        </p:txBody>
      </p:sp>
      <p:sp>
        <p:nvSpPr>
          <p:cNvPr id="3" name="Outcome column 1"/>
          <p:cNvSpPr/>
          <p:nvPr/>
        </p:nvSpPr>
        <p:spPr>
          <a:xfrm>
            <a:off x="548640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estudo entrega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Efeito das baterias no curtailment, no despacho e nos reservatórios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ΔCTO para cada nível de MMGD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Balanço entre ganho sistêmico e encargos por fonte</a:t>
            </a:r>
            <a:endParaRPr lang="en-US" sz="1600" dirty="0"/>
          </a:p>
        </p:txBody>
      </p:sp>
      <p:sp>
        <p:nvSpPr>
          <p:cNvPr id="8" name="Outcome column 2"/>
          <p:cNvSpPr/>
          <p:nvPr/>
        </p:nvSpPr>
        <p:spPr>
          <a:xfrm>
            <a:off x="4334256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608576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Fa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0096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Contribuição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25603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Evidência para o debate sobre o rateio dos custos das baterias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Apoio ao desenho de futuros leilões de armazenamento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Método replicável para outros níveis de MMGD</a:t>
            </a:r>
            <a:endParaRPr lang="en-US" sz="1600" dirty="0"/>
          </a:p>
        </p:txBody>
      </p:sp>
      <p:sp>
        <p:nvSpPr>
          <p:cNvPr id="13" name="Outcome column 3"/>
          <p:cNvSpPr/>
          <p:nvPr/>
        </p:nvSpPr>
        <p:spPr>
          <a:xfrm>
            <a:off x="8119872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8394192" y="17373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745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25712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25603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Resultados dependem das premissas de MMGD, potência e localização das baterias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Regra de rateio dos encargos ainda em discussão regulatória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Estimativas de cortes variam entre fontes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Summary row 1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63040"/>
            <a:ext cx="7985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MMGD em expansão gera curtailment e perdas bilionárias.</a:t>
            </a:r>
            <a:endParaRPr lang="en-US" sz="1800" dirty="0"/>
          </a:p>
        </p:txBody>
      </p:sp>
      <p:sp>
        <p:nvSpPr>
          <p:cNvPr id="6" name="Summary row 2"/>
          <p:cNvSpPr/>
          <p:nvPr/>
        </p:nvSpPr>
        <p:spPr>
          <a:xfrm>
            <a:off x="548640" y="274320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743200"/>
            <a:ext cx="7985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 ganho do sistema com baterias cobre os encargos das fontes?</a:t>
            </a:r>
            <a:endParaRPr lang="en-US" sz="1800" dirty="0"/>
          </a:p>
        </p:txBody>
      </p:sp>
      <p:sp>
        <p:nvSpPr>
          <p:cNvPr id="9" name="Summary row 3"/>
          <p:cNvSpPr/>
          <p:nvPr/>
        </p:nvSpPr>
        <p:spPr>
          <a:xfrm>
            <a:off x="548640" y="402336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023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023360"/>
            <a:ext cx="7985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Simulações horárias sem e com baterias (NE + SE, 4 h) em cenários de MMGD.</a:t>
            </a:r>
            <a:endParaRPr lang="en-US" sz="1800" dirty="0"/>
          </a:p>
        </p:txBody>
      </p:sp>
      <p:sp>
        <p:nvSpPr>
          <p:cNvPr id="12" name="Summary row 4"/>
          <p:cNvSpPr/>
          <p:nvPr/>
        </p:nvSpPr>
        <p:spPr>
          <a:xfrm>
            <a:off x="548640" y="530352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303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5303520"/>
            <a:ext cx="7985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ΔCTO comparado à soma dos encargos, no sistema e por fonte.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ONS (2025). Diagnóstico e perspectiva da evolução dos cortes de geração no Brasil. RT DGL-ONS 0189/2025.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ONS (2025). Critérios para Gestão de Excedentes Energéticos. NT-ONS DOP 0022/2025.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EPE/MME (2024). PDE 2034, Caderno Micro e Minigeração Distribuída e Bateria atrás do Medidor.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Acende Brasil (2025). Custos dos cortes de energia solar e eólica devem ser compartilhados com a geração distribuída (via ABDIB).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Gesel-UFRJ (2025). Gesel Broadcast: Medidas para Mitigação dos Curtailments.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Agência Infra (2025). Agentes têm prejuízo de R$ 6,5 bi por curtailment em 2025, diz estudo (Volts Robotics).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ePowerBay (2026). Análise do Leilão de Baterias LRCAP 2026.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TAGD Law (2026). Projeto muda rateio do Ercap de baterias (Lei 15.269/2025 e PL 3.716/2026).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terias SIN">
  <a:themeElements>
    <a:clrScheme name="Baterias SIN">
      <a:dk1>
        <a:srgbClr val="0B1A2E"/>
      </a:dk1>
      <a:lt1>
        <a:srgbClr val="FFFFFF"/>
      </a:lt1>
      <a:dk2>
        <a:srgbClr val="12305A"/>
      </a:dk2>
      <a:lt2>
        <a:srgbClr val="EEF3F8"/>
      </a:lt2>
      <a:accent1>
        <a:srgbClr val="F5A524"/>
      </a:accent1>
      <a:accent2>
        <a:srgbClr val="1FB5A8"/>
      </a:accent2>
      <a:accent3>
        <a:srgbClr val="2F6FDE"/>
      </a:accent3>
      <a:accent4>
        <a:srgbClr val="E4572E"/>
      </a:accent4>
      <a:accent5>
        <a:srgbClr val="5B6B80"/>
      </a:accent5>
      <a:accent6>
        <a:srgbClr val="BFE9E4"/>
      </a:accent6>
      <a:hlink>
        <a:srgbClr val="2F6FDE"/>
      </a:hlink>
      <a:folHlink>
        <a:srgbClr val="5B6B80"/>
      </a:folHlink>
    </a:clrScheme>
    <a:fontScheme name="Baterias S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Transição Energética e a Contribuição das Baterias: Ganho Econômico para o SIN?</dc:title>
  <dc:subject>Economia do Setor Elétrico I</dc:subject>
  <dc:creator>Ronaldo Antonio de Souza</dc:creator>
  <cp:lastModifiedBy>Ronaldo Antonio de Souza</cp:lastModifiedBy>
  <cp:revision>1</cp:revision>
  <dcterms:created xsi:type="dcterms:W3CDTF">2026-10-13T19:11:00Z</dcterms:created>
  <dcterms:modified xsi:type="dcterms:W3CDTF">2026-10-13T19:11:00Z</dcterms:modified>
</cp:coreProperties>
</file>