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8b60955-4889-6c0d-ffe3-90b9ba724b77}">
          <p14:sldIdLst>
            <p14:sldId id="256"/>
          </p14:sldIdLst>
        </p14:section>
        <p14:section name="Introdução" id="{0533c0fd-9597-8f5f-294e-af626ee4834e}">
          <p14:sldIdLst>
            <p14:sldId id="257"/>
            <p14:sldId id="258"/>
            <p14:sldId id="259"/>
            <p14:sldId id="260"/>
          </p14:sldIdLst>
        </p14:section>
        <p14:section name="Objetivos" id="{abe29916-fa16-2100-0741-a7aba829e55e}">
          <p14:sldIdLst>
            <p14:sldId id="261"/>
            <p14:sldId id="262"/>
          </p14:sldIdLst>
        </p14:section>
        <p14:section name="Método" id="{ff594270-f3f2-048f-d282-f40925085b0a}">
          <p14:sldIdLst>
            <p14:sldId id="263"/>
            <p14:sldId id="264"/>
            <p14:sldId id="265"/>
            <p14:sldId id="266"/>
          </p14:sldIdLst>
        </p14:section>
        <p14:section name="Análise" id="{b47bb3e6-8f29-4379-f65e-033d7ca5e03c}">
          <p14:sldIdLst>
            <p14:sldId id="267"/>
            <p14:sldId id="268"/>
          </p14:sldIdLst>
        </p14:section>
        <p14:section name="Encargos e benefícios" id="{d1c6a718-7a01-6530-7114-10d02a2008d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Fechamento" id="{caafda50-4554-8db3-e7da-e50576d7a546}">
          <p14:sldIdLst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Parcela do encargo por fonte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A: hidro e térmicas em P1</c:v>
                </c:pt>
              </c:strCache>
            </c:strRef>
          </c:tx>
          <c:spPr>
            <a:solidFill>
              <a:srgbClr val="2F6FD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Hidrelétricas</c:v>
                  </c:pt>
                  <c:pt idx="1">
                    <c:v>Eólicas e solares</c:v>
                  </c:pt>
                  <c:pt idx="2">
                    <c:v>Térmicas e demais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51.7</c:v>
                </c:pt>
                <c:pt idx="1">
                  <c:v>26.4</c:v>
                </c:pt>
                <c:pt idx="2">
                  <c:v>21.9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B: distribuídas entre P1 e P4</c:v>
                </c:pt>
              </c:strCache>
            </c:strRef>
          </c:tx>
          <c:spPr>
            <a:solidFill>
              <a:srgbClr val="F5A52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Hidrelétricas</c:v>
                  </c:pt>
                  <c:pt idx="1">
                    <c:v>Eólicas e solares</c:v>
                  </c:pt>
                  <c:pt idx="2">
                    <c:v>Térmicas e demais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44.6</c:v>
                </c:pt>
                <c:pt idx="1">
                  <c:v>36.5</c:v>
                </c:pt>
                <c:pt idx="2">
                  <c:v>18.9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C: hidro e térmicas em P4</c:v>
                </c:pt>
              </c:strCache>
            </c:strRef>
          </c:tx>
          <c:spPr>
            <a:solidFill>
              <a:srgbClr val="1FB5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Hidrelétricas</c:v>
                  </c:pt>
                  <c:pt idx="1">
                    <c:v>Eólicas e solares</c:v>
                  </c:pt>
                  <c:pt idx="2">
                    <c:v>Térmicas e demais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28.9</c:v>
                </c:pt>
                <c:pt idx="1">
                  <c:v>58.9</c:v>
                </c:pt>
                <c:pt idx="2">
                  <c:v>12.2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0B1A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B1A2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Benefício anual estimado (R$ bilhões)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Benefício estimado (R$ bi/ano)</c:v>
                </c:pt>
              </c:strCache>
            </c:strRef>
          </c:tx>
          <c:spPr>
            <a:solidFill>
              <a:srgbClr val="1FB5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4,5 GW (Volt Robotics e ABSAE)</c:v>
                  </c:pt>
                  <c:pt idx="1">
                    <c:v>Até 6 GW (ABSAE e Volt Robotics)</c:v>
                  </c:pt>
                  <c:pt idx="2">
                    <c:v>2 GW (ABSAE)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8.9</c:v>
                </c:pt>
                <c:pt idx="1">
                  <c:v>6</c:v>
                </c:pt>
                <c:pt idx="2">
                  <c:v>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B1A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tema, disciplina e identificação. A pergunta central do trabalho é se o ganho sistêmico com baterias cobre os encargos pagos pelas demais fontes.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mostram a escala do problema. Os valores de curtailment e perdas vêm de fontes setoriais e variam por metodologia; a faixa de MMGD é a do caderno do PDE 2034.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Cadeia causal: MMGD solar reduz a carga líquida ao meio-dia, hidrelétricas e térmicas já estão no mínimo, o excedente força o corte de eólicas e UFVs, e ao pôr do sol há rampa. A bateria desloca a energia do excedente para a ponta.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combina três coisas: perda econômica já observada, uma janela de decisão regulatória (leilão de baterias) e uma lacuna analítica sobre rateio de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hipótese é testável: compara a redução do CTO com a soma dos encargos.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geral é único e mensurável: comparar o ganho sistêmico (redução do CTO) com os encargos pagos pelas fontes.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cinco objetivos específicos formam uma cadeia: efeitos das baterias (OE1 e OE2), ganho sistêmico (OE3), custo (OE4) e comparação final (OE5), que responde à pergunta de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Nordeste e Sudeste e a duração de 4 horas vêm do desenho original do trabalho. Os demais parâmetros ficam marcados como a definir.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em serpentina: a etapa 1 gera a linha de base sem baterias; a etapa 2 repete as simulações com baterias em cenários crescentes de MMGD; a etapa 3 compara os resultados, calcula os encargos por fonte e testa a hipótese.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3 x 2. A faixa de 47 a 71 GW com referência de 59 GW é a do caderno de MMGD do PDE 2034 e serve de ordem de grandeza; os valores finais dependem do ano-horizonte escolhido.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objetivo específico tem uma variável, uma unidade e um critério de comparação definidos.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de decisão é simples: se a redução do CTO for maior ou igual à soma dos encargos, as baterias se pagam do ponto de vista do sistema. A análise por fonte mostra a distribuição do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Entregas, contribuição e limitações do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Pela Lei 15.269/2025, o custo das baterias é rateado só entre geradores; a ANEEL regulamenta a divisão. A regra ainda está em consulta pública e há projetos de lei para incluir os consumidores. A data da Portaria 136/2026 varia entre as fontes (início de junho de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vencedor recebe receita fixa, e o conjunto de receitas mais a energia de recarga forma o encargo Ercap-SAE, que a lei manda ratear entre os geradores. As penalidades são as da minuta em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patamares (100%, 75%, 50% e 25%) são da proposta da área técnica em consulta pública; podem mudar. Segundo resumos da nota técnica, valem para todas as classes de geração, e eólicas e solares entram inicialmente no P1. Os critérios de cada patamar não foram localizados. Os cenários de rateio R1 a R3 alimentam a análise de sensibilidade do OE4 e do OE5.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parcela de cada fonte é o peso dela (geração x coeficiente) dividido pela soma dos pesos. Eólicas e solares ficam em P1. Hidrelétricas e térmicas recebem o mesmo k em cada cenário, porque não há classificação por usina.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Tabela completa do cálculo. No cenário A todos os coeficientes são 1, então as parcelas coincidem com a participação na geração. Nos cenários B e C, reduzir k das hidrelétricas e térmicas diminui a soma dos pesos e aumenta a parcela das eólicas e solares, que ficam em P1.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colunas A, B e C somam R$ 1.000 milhões em cada cenário. A conversão é direta: parcela em % multiplicada por 10 dá o valor em R$ milhões por R$ 1 bilhão de receita fixa. As limitações indicam por que o resultado é só uma ordem de grandeza.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ilustrativo, não é a regra oficial. Parcela da fonte = geração x coeficiente, dividida pela soma dos pesos. Eólicas e solares ficam em P1 (100%), como na proposta. Hidrelétricas e térmicas recebem o mesmo coeficiente k em cada cenário. A: k = 100% (todas em P1), que equivale ao rateio universal sem diferenciar: 51,7%, 26,4% e 21,9%. B: k = 62,5%, média simples dos quatro patamares (1 + 0,75 + 0,5 + 0,25, dividido por 4), equivalente a distribuição uniforme: pesos 32,31, 26,40 e 13,69, soma 72,4, parcelas 44,6%, 36,5% e 18,9%. C: k = 25% (todas em P4): pesos 12,93, 26,40 e 5,48, soma 44,8, parcelas 28,9%, 58,9% e 12,2%. Limitações: os critérios de cada patamar e a classificação das usinas não foram localizados; hidro e térmicas têm distribuições diferentes na prática; 'térmicas e demais' é um resíduo e pode incluir MMGD, que está fora do rateio.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são de estudos do setor (ABSAE e Volt Robotics) e variam entre R$ 3 e R$ 9 bilhões por ano conforme a potência e as premissas. Não são resultados do nosso trabalho; servem de ordem de grandeza para comparar com o encargo.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tabela organiza as hipóteses: eólicas e UFVs partem do patamar mais alto, mas são as que mais ganham com menos corte. As térmicas podem perder despacho. As hidrelétricas dependem do patamar em que forem classificadas e ganham em risco hidrológico e armazenamento. As simulações dirão o saldo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problema, pergunta, método e resposta esperada, em uma linha 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Algumas fontes são imprensa e consultorias setoriais; vale conferir os dados nas fontes primárias (ONS, EPE, ANEEL) antes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S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ell 1"/>
          <p:cNvSpPr/>
          <p:nvPr/>
        </p:nvSpPr>
        <p:spPr>
          <a:xfrm>
            <a:off x="850392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Cell level 1"/>
          <p:cNvSpPr/>
          <p:nvPr/>
        </p:nvSpPr>
        <p:spPr>
          <a:xfrm>
            <a:off x="8503920" y="3877056"/>
            <a:ext cx="640080" cy="1152144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Cell 2"/>
          <p:cNvSpPr/>
          <p:nvPr/>
        </p:nvSpPr>
        <p:spPr>
          <a:xfrm>
            <a:off x="932688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ell level 2"/>
          <p:cNvSpPr/>
          <p:nvPr/>
        </p:nvSpPr>
        <p:spPr>
          <a:xfrm>
            <a:off x="9326880" y="3218688"/>
            <a:ext cx="640080" cy="1810512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Cell 3"/>
          <p:cNvSpPr/>
          <p:nvPr/>
        </p:nvSpPr>
        <p:spPr>
          <a:xfrm>
            <a:off x="1014984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ell level 3"/>
          <p:cNvSpPr/>
          <p:nvPr/>
        </p:nvSpPr>
        <p:spPr>
          <a:xfrm>
            <a:off x="10149840" y="2560320"/>
            <a:ext cx="640080" cy="24688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Cell 4"/>
          <p:cNvSpPr/>
          <p:nvPr/>
        </p:nvSpPr>
        <p:spPr>
          <a:xfrm>
            <a:off x="1097280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Cell level 4"/>
          <p:cNvSpPr/>
          <p:nvPr/>
        </p:nvSpPr>
        <p:spPr>
          <a:xfrm>
            <a:off x="10972800" y="1901952"/>
            <a:ext cx="640080" cy="31272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Economia do Setor Elétrico I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73736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Transição Energética e a Contribuição das Baterias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490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Ganho econômico para o SIN?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029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Aluno: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Ronaldo Antonio de Souza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Professor: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Nivalde de Castro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Contexto: o SIN já corta energia renovável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micro e minigeração distribuída (MMGD) cresce, a carga líquida do meio do dia cai e a geração centralizada precisa ser cortada.</a:t>
            </a:r>
            <a:endParaRPr lang="en-US" sz="1600" dirty="0"/>
          </a:p>
        </p:txBody>
      </p:sp>
      <p:sp>
        <p:nvSpPr>
          <p:cNvPr id="4" name="Stat card 1"/>
          <p:cNvSpPr/>
          <p:nvPr/>
        </p:nvSpPr>
        <p:spPr>
          <a:xfrm>
            <a:off x="54864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mage 0" descr="Fa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56489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geração eólica e solar disponível não foi aproveitada em 2025</a:t>
            </a:r>
            <a:endParaRPr lang="en-US" sz="1400" dirty="0"/>
          </a:p>
        </p:txBody>
      </p:sp>
      <p:sp>
        <p:nvSpPr>
          <p:cNvPr id="9" name="Stat card 2"/>
          <p:cNvSpPr/>
          <p:nvPr/>
        </p:nvSpPr>
        <p:spPr>
          <a:xfrm>
            <a:off x="338328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5648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 bi+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perdas estimadas dos geradores eólicos e solares com cortes em 2025</a:t>
            </a:r>
            <a:endParaRPr lang="en-US" sz="1400" dirty="0"/>
          </a:p>
        </p:txBody>
      </p:sp>
      <p:sp>
        <p:nvSpPr>
          <p:cNvPr id="14" name="Stat card 3"/>
          <p:cNvSpPr/>
          <p:nvPr/>
        </p:nvSpPr>
        <p:spPr>
          <a:xfrm>
            <a:off x="621792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mage 2" descr="FaSolarPan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972" y="25648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~40%</a:t>
            </a:r>
            <a:endParaRPr lang="en-US" sz="36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carga atendida pela MMGD em 10/08/2025, com UHEs e UTEs no mínimo técnico</a:t>
            </a:r>
            <a:endParaRPr lang="en-US" sz="1400" dirty="0"/>
          </a:p>
        </p:txBody>
      </p:sp>
      <p:sp>
        <p:nvSpPr>
          <p:cNvPr id="19" name="Stat card 4"/>
          <p:cNvSpPr/>
          <p:nvPr/>
        </p:nvSpPr>
        <p:spPr>
          <a:xfrm>
            <a:off x="905256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8612" y="25648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2688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47–71 GW</a:t>
            </a:r>
            <a:endParaRPr lang="en-US" sz="3600" dirty="0"/>
          </a:p>
        </p:txBody>
      </p:sp>
      <p:sp>
        <p:nvSpPr>
          <p:cNvPr id="23" name="Text 17"/>
          <p:cNvSpPr txBox="1"/>
          <p:nvPr/>
        </p:nvSpPr>
        <p:spPr>
          <a:xfrm>
            <a:off x="932688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MMGD projetados pela EPE para 2034 (referência: 59 GW)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 (2025); Acende Brasil (2025); Volts Robotics via Agência Infra (2025); EPE/MME, PDE 2034, Caderno MMGD e Baterias (2024). Estimativas de cortes variam conforme a metodologia.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a MMGD leva ao curtailment</a:t>
            </a:r>
            <a:endParaRPr lang="en-US" sz="3200" dirty="0"/>
          </a:p>
        </p:txBody>
      </p:sp>
      <p:sp>
        <p:nvSpPr>
          <p:cNvPr id="3" name="Chain step 1"/>
          <p:cNvSpPr/>
          <p:nvPr/>
        </p:nvSpPr>
        <p:spPr>
          <a:xfrm>
            <a:off x="548640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Fa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MMGD solar cresce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Geração distribuída fora do controle do ONS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551176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0" name="Chain step 2"/>
          <p:cNvSpPr/>
          <p:nvPr/>
        </p:nvSpPr>
        <p:spPr>
          <a:xfrm>
            <a:off x="2825496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3054096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2" name="Image 1" descr="FaChart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9202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7096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054096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Carga líquida cai ao meio-dia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054096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Demanda a ser atendida pela rede diminui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4828032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7" name="Chain step 3"/>
          <p:cNvSpPr/>
          <p:nvPr/>
        </p:nvSpPr>
        <p:spPr>
          <a:xfrm>
            <a:off x="5102352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5330952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9" name="Image 2" descr="FaWa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92024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3952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30952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UHEs e UTEs no mínimo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30952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Sem margem para reduzir a geração despachável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104888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4" name="Chain step 4"/>
          <p:cNvSpPr/>
          <p:nvPr/>
        </p:nvSpPr>
        <p:spPr>
          <a:xfrm>
            <a:off x="7379208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con circle"/>
          <p:cNvSpPr/>
          <p:nvPr/>
        </p:nvSpPr>
        <p:spPr>
          <a:xfrm>
            <a:off x="7607808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6" name="Image 3" descr="Fa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92024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0808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607808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Corte de eólicas e UFVs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607808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Curtailment: energia disponível e desperdiçada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9381744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1" name="Chain step 5"/>
          <p:cNvSpPr/>
          <p:nvPr/>
        </p:nvSpPr>
        <p:spPr>
          <a:xfrm>
            <a:off x="9656064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Icon circle"/>
          <p:cNvSpPr/>
          <p:nvPr/>
        </p:nvSpPr>
        <p:spPr>
          <a:xfrm>
            <a:off x="9884664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3" name="Image 4" descr="FaFi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192024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027664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884664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Rampa no fim da tarde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Sol se põe e térmicas são acionadas</a:t>
            </a:r>
            <a:endParaRPr lang="en-US" sz="1400" dirty="0"/>
          </a:p>
        </p:txBody>
      </p:sp>
      <p:sp>
        <p:nvSpPr>
          <p:cNvPr id="37" name="BESS panel"/>
          <p:cNvSpPr/>
          <p:nvPr/>
        </p:nvSpPr>
        <p:spPr>
          <a:xfrm>
            <a:off x="548640" y="4251960"/>
            <a:ext cx="11094415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Icon circle"/>
          <p:cNvSpPr/>
          <p:nvPr/>
        </p:nvSpPr>
        <p:spPr>
          <a:xfrm>
            <a:off x="914400" y="49377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9" name="Image 5" descr="FaBatteryFu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5120640"/>
            <a:ext cx="365760" cy="3657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920240" y="4526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bateria (BESS) quebra a cadeia no passo 3</a:t>
            </a:r>
            <a:endParaRPr lang="en-US" sz="2000" dirty="0"/>
          </a:p>
        </p:txBody>
      </p:sp>
      <p:sp>
        <p:nvSpPr>
          <p:cNvPr id="41" name="Text 33"/>
          <p:cNvSpPr txBox="1"/>
          <p:nvPr/>
        </p:nvSpPr>
        <p:spPr>
          <a:xfrm>
            <a:off x="1920240" y="5074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Absorve o excedente do meio-dia e devolve a energia na ponta do início da noite.</a:t>
            </a:r>
            <a:endParaRPr lang="en-US" sz="1600" dirty="0"/>
          </a:p>
        </p:txBody>
      </p:sp>
      <p:sp>
        <p:nvSpPr>
          <p:cNvPr id="42" name="Effect circle"/>
          <p:cNvSpPr/>
          <p:nvPr/>
        </p:nvSpPr>
        <p:spPr>
          <a:xfrm>
            <a:off x="77724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3" name="Image 6" descr="Menos curtailm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2420" y="4732020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4980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curtailment</a:t>
            </a:r>
            <a:endParaRPr lang="en-US" sz="1300" dirty="0"/>
          </a:p>
        </p:txBody>
      </p:sp>
      <p:sp>
        <p:nvSpPr>
          <p:cNvPr id="45" name="Effect circle"/>
          <p:cNvSpPr/>
          <p:nvPr/>
        </p:nvSpPr>
        <p:spPr>
          <a:xfrm>
            <a:off x="91440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6" name="Image 7" descr="Menos térmica na ramp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4020" y="4732020"/>
            <a:ext cx="274320" cy="27432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88696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térmica na rampa</a:t>
            </a:r>
            <a:endParaRPr lang="en-US" sz="1300" dirty="0"/>
          </a:p>
        </p:txBody>
      </p:sp>
      <p:sp>
        <p:nvSpPr>
          <p:cNvPr id="48" name="Effect circle"/>
          <p:cNvSpPr/>
          <p:nvPr/>
        </p:nvSpPr>
        <p:spPr>
          <a:xfrm>
            <a:off x="105156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Image 8" descr="Mais água nos reservatório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75620" y="4732020"/>
            <a:ext cx="274320" cy="274320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102412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Mais água nos reservatórios</a:t>
            </a:r>
            <a:endParaRPr lang="en-US" sz="1300" dirty="0"/>
          </a:p>
        </p:txBody>
      </p:sp>
      <p:sp>
        <p:nvSpPr>
          <p:cNvPr id="51" name="Text 40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ONS, RT DGL-ONS 0189/2025; Acende Brasil (2025).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Justificativa: por que estudar agora</a:t>
            </a:r>
            <a:endParaRPr lang="en-US" sz="3200" dirty="0"/>
          </a:p>
        </p:txBody>
      </p:sp>
      <p:sp>
        <p:nvSpPr>
          <p:cNvPr id="3" name="Justification card 1"/>
          <p:cNvSpPr/>
          <p:nvPr/>
        </p:nvSpPr>
        <p:spPr>
          <a:xfrm>
            <a:off x="548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Perda econômica real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Cortes custaram mais de R$ 6 bi a eólicas e solares em 2025, e o debate de ressarcimento segue aberto.</a:t>
            </a:r>
            <a:endParaRPr lang="en-US" sz="1400" dirty="0"/>
          </a:p>
        </p:txBody>
      </p:sp>
      <p:sp>
        <p:nvSpPr>
          <p:cNvPr id="8" name="Justification card 2"/>
          <p:cNvSpPr/>
          <p:nvPr/>
        </p:nvSpPr>
        <p:spPr>
          <a:xfrm>
            <a:off x="6263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6537960" y="17373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FaGav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8973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Janela de política pública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Primeiro leilão de armazenamento (LRCAP) em dez/2026, com início de suprimento em ago/2028.</a:t>
            </a:r>
            <a:endParaRPr lang="en-US" sz="1400" dirty="0"/>
          </a:p>
        </p:txBody>
      </p:sp>
      <p:sp>
        <p:nvSpPr>
          <p:cNvPr id="13" name="Justification card 3"/>
          <p:cNvSpPr/>
          <p:nvPr/>
        </p:nvSpPr>
        <p:spPr>
          <a:xfrm>
            <a:off x="548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22960" y="3840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mage 2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0005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paga as baterias?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Lei 15.269/2025 prevê rateio do custo entre geradores. O PL 3.716/2026 propõe mudar a regra.</a:t>
            </a:r>
            <a:endParaRPr lang="en-US" sz="1400" dirty="0"/>
          </a:p>
        </p:txBody>
      </p:sp>
      <p:sp>
        <p:nvSpPr>
          <p:cNvPr id="18" name="Justification card 4"/>
          <p:cNvSpPr/>
          <p:nvPr/>
        </p:nvSpPr>
        <p:spPr>
          <a:xfrm>
            <a:off x="6263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537960" y="384048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Image 3" descr="FaBo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400050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Flexibilidade operativa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BESS desloca energia para a ponta, pode reduzir o despacho térmico e preservar água nos reservatórios.</a:t>
            </a:r>
            <a:endParaRPr lang="en-US" sz="1400" dirty="0"/>
          </a:p>
        </p:txBody>
      </p:sp>
      <p:sp>
        <p:nvSpPr>
          <p:cNvPr id="23" name="Gap banner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68680" y="5577840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Lacuna: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falta comparar o ganho sistêmico das baterias com os encargos que cada fonte pagará.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Agência Infra (2025); ePowerBay (2026) sobre o LRCAP; TAGD Law (2026) sobre a Lei 15.269/2025 e o PL 3.716/2026.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Problema de pesquisa e hipótese</a:t>
            </a:r>
            <a:endParaRPr lang="en-US" sz="3200" dirty="0"/>
          </a:p>
        </p:txBody>
      </p:sp>
      <p:sp>
        <p:nvSpPr>
          <p:cNvPr id="3" name="Question card"/>
          <p:cNvSpPr/>
          <p:nvPr/>
        </p:nvSpPr>
        <p:spPr>
          <a:xfrm>
            <a:off x="548640" y="1463040"/>
            <a:ext cx="5486400" cy="466344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7830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Ques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19431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74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1"/>
                </a:solidFill>
              </a:rPr>
              <a:t>PERGUNTA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ganho econômico com a redução do curtailment pode ser equivalente aos encargos pagos pelas demais fontes para implantar as baterias?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52578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Ganho = redução do custo total de operação (CTO) do SIN</a:t>
            </a:r>
            <a:endParaRPr lang="en-US" sz="1400" dirty="0"/>
          </a:p>
        </p:txBody>
      </p:sp>
      <p:sp>
        <p:nvSpPr>
          <p:cNvPr id="9" name="H1 card"/>
          <p:cNvSpPr/>
          <p:nvPr/>
        </p:nvSpPr>
        <p:spPr>
          <a:xfrm>
            <a:off x="6355080" y="1463040"/>
            <a:ext cx="5287975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62940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FaCheckCir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745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1737360"/>
            <a:ext cx="4099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H1: as baterias se pagam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629400" y="2468880"/>
            <a:ext cx="4739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redução do CTO é maior ou igual à soma dos encargos pagos pelas fontes.</a:t>
            </a:r>
            <a:endParaRPr lang="en-US" sz="1400" dirty="0"/>
          </a:p>
        </p:txBody>
      </p:sp>
      <p:sp>
        <p:nvSpPr>
          <p:cNvPr id="14" name="H0 card"/>
          <p:cNvSpPr/>
          <p:nvPr/>
        </p:nvSpPr>
        <p:spPr>
          <a:xfrm>
            <a:off x="6355080" y="3749040"/>
            <a:ext cx="5287975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629400" y="4023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mage 2" descr="FaTimes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360920" y="3749040"/>
            <a:ext cx="4099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H0: o custo excede o ganho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7360920" y="4297680"/>
            <a:ext cx="4099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redução do CTO é menor que a soma dos encargos.</a:t>
            </a:r>
            <a:endParaRPr lang="en-US" sz="1400" dirty="0"/>
          </a:p>
        </p:txBody>
      </p:sp>
      <p:sp>
        <p:nvSpPr>
          <p:cNvPr id="19" name="Variables card"/>
          <p:cNvSpPr/>
          <p:nvPr/>
        </p:nvSpPr>
        <p:spPr>
          <a:xfrm>
            <a:off x="6355080" y="5029200"/>
            <a:ext cx="5287975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6629400" y="5029200"/>
            <a:ext cx="4739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Variáveis: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causa = nível de MMGD e presença de baterias. Efeitos = curtailment, despacho, armazenamento, CTO e encargos.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Objetivo geral</a:t>
            </a:r>
            <a:endParaRPr lang="en-US" sz="3200" dirty="0"/>
          </a:p>
        </p:txBody>
      </p:sp>
      <p:sp>
        <p:nvSpPr>
          <p:cNvPr id="3" name="General objective card"/>
          <p:cNvSpPr/>
          <p:nvPr/>
        </p:nvSpPr>
        <p:spPr>
          <a:xfrm>
            <a:off x="548640" y="1417320"/>
            <a:ext cx="11094415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9659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717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1554480"/>
            <a:ext cx="926561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Verificar, por meio de simulações horárias do SIN sem e com baterias, se o ganho econômico com a redução do curtailment (menor custo total de operação) é equivalente aos encargos que as demais fontes pagarão pela implantação das baterias.</a:t>
            </a:r>
            <a:endParaRPr lang="en-US" sz="2200" dirty="0"/>
          </a:p>
        </p:txBody>
      </p:sp>
      <p:sp>
        <p:nvSpPr>
          <p:cNvPr id="7" name="Objective breakdown 1"/>
          <p:cNvSpPr/>
          <p:nvPr/>
        </p:nvSpPr>
        <p:spPr>
          <a:xfrm>
            <a:off x="548640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Icon circle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Fa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20624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O QUÊ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Ganho sistêmico (redução do CTO) em confronto com os encargos pagos por cada fonte.</a:t>
            </a:r>
            <a:endParaRPr lang="en-US" sz="1400" dirty="0"/>
          </a:p>
        </p:txBody>
      </p:sp>
      <p:sp>
        <p:nvSpPr>
          <p:cNvPr id="12" name="Objective breakdown 2"/>
          <p:cNvSpPr/>
          <p:nvPr/>
        </p:nvSpPr>
        <p:spPr>
          <a:xfrm>
            <a:off x="4334256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4608576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420624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40096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COMO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608576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Simulações horárias do SIN sem e com baterias (NE e SE, 4 h), em níveis crescentes de MMGD.</a:t>
            </a:r>
            <a:endParaRPr lang="en-US" sz="1400" dirty="0"/>
          </a:p>
        </p:txBody>
      </p:sp>
      <p:sp>
        <p:nvSpPr>
          <p:cNvPr id="17" name="Objective breakdown 3"/>
          <p:cNvSpPr/>
          <p:nvPr/>
        </p:nvSpPr>
        <p:spPr>
          <a:xfrm>
            <a:off x="8119872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8394192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3" descr="FaGave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1352" y="420624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25712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PARA QUÊ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394192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Dizer se as baterias se pagam e quais fontes ganham ou perdem, subsidiando o rateio dos custos.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Objetivos específicos</a:t>
            </a:r>
            <a:endParaRPr lang="en-US" sz="3200" dirty="0"/>
          </a:p>
        </p:txBody>
      </p:sp>
      <p:sp>
        <p:nvSpPr>
          <p:cNvPr id="3" name="Specific objective 1"/>
          <p:cNvSpPr/>
          <p:nvPr/>
        </p:nvSpPr>
        <p:spPr>
          <a:xfrm>
            <a:off x="548640" y="1371600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OE tag 1"/>
          <p:cNvSpPr/>
          <p:nvPr/>
        </p:nvSpPr>
        <p:spPr>
          <a:xfrm>
            <a:off x="731520" y="1508760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463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Quantificar a redução do curtailment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715000" y="1444752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eólicas, UFVs centralizadas e UHEs com baterias, em cada nível de MMGD.</a:t>
            </a:r>
            <a:endParaRPr lang="en-US" sz="1400" dirty="0"/>
          </a:p>
        </p:txBody>
      </p:sp>
      <p:pic>
        <p:nvPicPr>
          <p:cNvPr id="8" name="Image 0" descr="Quantificar a redução do curtail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7255" y="1577340"/>
            <a:ext cx="411480" cy="411480"/>
          </a:xfrm>
          <a:prstGeom prst="rect">
            <a:avLst/>
          </a:prstGeom>
        </p:spPr>
      </p:pic>
      <p:sp>
        <p:nvSpPr>
          <p:cNvPr id="9" name="Specific objective 2"/>
          <p:cNvSpPr/>
          <p:nvPr/>
        </p:nvSpPr>
        <p:spPr>
          <a:xfrm>
            <a:off x="548640" y="2304288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OE tag 2"/>
          <p:cNvSpPr/>
          <p:nvPr/>
        </p:nvSpPr>
        <p:spPr>
          <a:xfrm>
            <a:off x="731520" y="2441448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4414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23957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Analisar despacho e armazenamento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37744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identificar fontes beneficiadas e deslocadas e se a energia armazenada nas UHEs aumenta.</a:t>
            </a:r>
            <a:endParaRPr lang="en-US" sz="1400" dirty="0"/>
          </a:p>
        </p:txBody>
      </p:sp>
      <p:pic>
        <p:nvPicPr>
          <p:cNvPr id="14" name="Image 1" descr="Analisar despacho e armazenamen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2510028"/>
            <a:ext cx="411480" cy="411480"/>
          </a:xfrm>
          <a:prstGeom prst="rect">
            <a:avLst/>
          </a:prstGeom>
        </p:spPr>
      </p:pic>
      <p:sp>
        <p:nvSpPr>
          <p:cNvPr id="15" name="Specific objective 3"/>
          <p:cNvSpPr/>
          <p:nvPr/>
        </p:nvSpPr>
        <p:spPr>
          <a:xfrm>
            <a:off x="548640" y="3236976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OE tag 3"/>
          <p:cNvSpPr/>
          <p:nvPr/>
        </p:nvSpPr>
        <p:spPr>
          <a:xfrm>
            <a:off x="731520" y="3374136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337413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OE3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920240" y="332841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Calcular o ganho sistêmico (ΔCTO)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715000" y="331012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variação do custo total de operação do SIN, sem e com baterias.</a:t>
            </a:r>
            <a:endParaRPr lang="en-US" sz="1400" dirty="0"/>
          </a:p>
        </p:txBody>
      </p:sp>
      <p:pic>
        <p:nvPicPr>
          <p:cNvPr id="20" name="Image 2" descr="Calcular o ganho sistêmico (ΔCTO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3442716"/>
            <a:ext cx="411480" cy="411480"/>
          </a:xfrm>
          <a:prstGeom prst="rect">
            <a:avLst/>
          </a:prstGeom>
        </p:spPr>
      </p:pic>
      <p:sp>
        <p:nvSpPr>
          <p:cNvPr id="21" name="Specific objective 4"/>
          <p:cNvSpPr/>
          <p:nvPr/>
        </p:nvSpPr>
        <p:spPr>
          <a:xfrm>
            <a:off x="548640" y="4169664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OE tag 4"/>
          <p:cNvSpPr/>
          <p:nvPr/>
        </p:nvSpPr>
        <p:spPr>
          <a:xfrm>
            <a:off x="731520" y="4306824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30682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OE4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920240" y="426110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Estimar os encargos por fonte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5715000" y="4242816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valor a ser pago por UHEs, UTEs, eólicas e UFVs pela implantação das baterias.</a:t>
            </a:r>
            <a:endParaRPr lang="en-US" sz="1400" dirty="0"/>
          </a:p>
        </p:txBody>
      </p:sp>
      <p:pic>
        <p:nvPicPr>
          <p:cNvPr id="26" name="Image 3" descr="Estimar os encargos por fon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4375404"/>
            <a:ext cx="411480" cy="411480"/>
          </a:xfrm>
          <a:prstGeom prst="rect">
            <a:avLst/>
          </a:prstGeom>
        </p:spPr>
      </p:pic>
      <p:sp>
        <p:nvSpPr>
          <p:cNvPr id="27" name="Specific objective 5"/>
          <p:cNvSpPr/>
          <p:nvPr/>
        </p:nvSpPr>
        <p:spPr>
          <a:xfrm>
            <a:off x="548640" y="5102352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OE tag 5"/>
          <p:cNvSpPr/>
          <p:nvPr/>
        </p:nvSpPr>
        <p:spPr>
          <a:xfrm>
            <a:off x="731520" y="5239512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31520" y="5239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OE5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1920240" y="51937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Comparar ganho e encargos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5715000" y="5175504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 sistema e por fonte, testando H1 e a sensibilidade ao nível de MMGD.</a:t>
            </a:r>
            <a:endParaRPr lang="en-US" sz="1400" dirty="0"/>
          </a:p>
        </p:txBody>
      </p:sp>
      <p:pic>
        <p:nvPicPr>
          <p:cNvPr id="32" name="Image 4" descr="Comparar ganho e encargo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5308092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48640" y="6053328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OE1 a OE3 medem o ganho, OE4 mede o custo e OE5 responde à pergunta de pesquisa.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Escopo e premissas do estudo</a:t>
            </a:r>
            <a:endParaRPr lang="en-US" sz="3200" dirty="0"/>
          </a:p>
        </p:txBody>
      </p:sp>
      <p:sp>
        <p:nvSpPr>
          <p:cNvPr id="3" name="Scope column 1"/>
          <p:cNvSpPr/>
          <p:nvPr/>
        </p:nvSpPr>
        <p:spPr>
          <a:xfrm>
            <a:off x="548640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eck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do escopo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Sistema Interligado Nacional (SIN)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Baterias no Nordeste e no Sudeste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Armazenamento de 4 horas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Simulação horária do despacho hidrotérmico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Cenários de MMGD a partir de uma referência</a:t>
            </a:r>
            <a:endParaRPr lang="en-US" sz="1600" dirty="0"/>
          </a:p>
        </p:txBody>
      </p:sp>
      <p:sp>
        <p:nvSpPr>
          <p:cNvPr id="8" name="Scope column 2"/>
          <p:cNvSpPr/>
          <p:nvPr/>
        </p:nvSpPr>
        <p:spPr>
          <a:xfrm>
            <a:off x="4334256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Co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definir no estudo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Potência instalada das baterias (MW)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Ano-horizonte da simulação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Eficiência de ida e volta (ref.: mínimo de 85% no LRCAP)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Valores dos cenários de MMGD (ref.: faixa do PDE 2034)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Regra de rateio dos encargos (cenários R1 a R3)</a:t>
            </a:r>
            <a:endParaRPr lang="en-US" sz="1600" dirty="0"/>
          </a:p>
        </p:txBody>
      </p:sp>
      <p:sp>
        <p:nvSpPr>
          <p:cNvPr id="13" name="Scope column 3"/>
          <p:cNvSpPr/>
          <p:nvPr/>
        </p:nvSpPr>
        <p:spPr>
          <a:xfrm>
            <a:off x="8119872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Times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do escopo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Dimensionamento ótimo e localização por barra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Baterias atrás do medidor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Efeitos sobre a tarifa do consumidor final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Outras tecnologias de armazenamento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 de referência: requisitos técnicos do LRCAP 2026 (ePowerBay, 2026) e EPE, PDE 2034, Caderno MMGD e Baterias (2024).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Metodologia: fluxo de simulações</a:t>
            </a:r>
            <a:endParaRPr lang="en-US" sz="3200" dirty="0"/>
          </a:p>
        </p:txBody>
      </p:sp>
      <p:sp>
        <p:nvSpPr>
          <p:cNvPr id="3" name="Lane 1"/>
          <p:cNvSpPr/>
          <p:nvPr/>
        </p:nvSpPr>
        <p:spPr>
          <a:xfrm>
            <a:off x="548640" y="1417320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ETAPA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5" name="Lane 2"/>
          <p:cNvSpPr/>
          <p:nvPr/>
        </p:nvSpPr>
        <p:spPr>
          <a:xfrm>
            <a:off x="548640" y="3044952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44952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 baterias</a:t>
            </a:r>
            <a:endParaRPr lang="en-US" sz="1400" dirty="0"/>
          </a:p>
        </p:txBody>
      </p:sp>
      <p:sp>
        <p:nvSpPr>
          <p:cNvPr id="7" name="Lane 3"/>
          <p:cNvSpPr/>
          <p:nvPr/>
        </p:nvSpPr>
        <p:spPr>
          <a:xfrm>
            <a:off x="548640" y="4672584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672584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Análise</a:t>
            </a:r>
            <a:endParaRPr lang="en-US" sz="1400" dirty="0"/>
          </a:p>
        </p:txBody>
      </p:sp>
      <p:sp>
        <p:nvSpPr>
          <p:cNvPr id="9" name="Step 1"/>
          <p:cNvSpPr/>
          <p:nvPr/>
        </p:nvSpPr>
        <p:spPr>
          <a:xfrm>
            <a:off x="1965960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0" name="Step number 1"/>
          <p:cNvSpPr/>
          <p:nvPr/>
        </p:nvSpPr>
        <p:spPr>
          <a:xfrm>
            <a:off x="2075688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075688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Dados de entrada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Demanda, geração horária por fonte, MMGD de referência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4105656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5" name="Step 2"/>
          <p:cNvSpPr/>
          <p:nvPr/>
        </p:nvSpPr>
        <p:spPr>
          <a:xfrm>
            <a:off x="4453128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6" name="Step number 2"/>
          <p:cNvSpPr/>
          <p:nvPr/>
        </p:nvSpPr>
        <p:spPr>
          <a:xfrm>
            <a:off x="4562856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62856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956048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 de referência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90288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SIN sem baterias, com MMGD de referência</a:t>
            </a:r>
            <a:endParaRPr lang="en-US" sz="1200" dirty="0"/>
          </a:p>
        </p:txBody>
      </p:sp>
      <p:sp>
        <p:nvSpPr>
          <p:cNvPr id="20" name="Arrow"/>
          <p:cNvSpPr/>
          <p:nvPr/>
        </p:nvSpPr>
        <p:spPr>
          <a:xfrm>
            <a:off x="6592824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1" name="Step 3"/>
          <p:cNvSpPr/>
          <p:nvPr/>
        </p:nvSpPr>
        <p:spPr>
          <a:xfrm>
            <a:off x="6940296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2" name="Step number 3"/>
          <p:cNvSpPr/>
          <p:nvPr/>
        </p:nvSpPr>
        <p:spPr>
          <a:xfrm>
            <a:off x="7050024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50024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443216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77456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Despacho hidrotérmico sem baterias</a:t>
            </a:r>
            <a:endParaRPr lang="en-US" sz="1200" dirty="0"/>
          </a:p>
        </p:txBody>
      </p:sp>
      <p:sp>
        <p:nvSpPr>
          <p:cNvPr id="26" name="Arrow"/>
          <p:cNvSpPr/>
          <p:nvPr/>
        </p:nvSpPr>
        <p:spPr>
          <a:xfrm>
            <a:off x="9079992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7" name="Step 4"/>
          <p:cNvSpPr/>
          <p:nvPr/>
        </p:nvSpPr>
        <p:spPr>
          <a:xfrm>
            <a:off x="9427464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8" name="Step number 4"/>
          <p:cNvSpPr/>
          <p:nvPr/>
        </p:nvSpPr>
        <p:spPr>
          <a:xfrm>
            <a:off x="9537192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37192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930384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sem BESS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64624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Curtailment, despacho, armazenamento, CTO</a:t>
            </a:r>
            <a:endParaRPr lang="en-US" sz="1200" dirty="0"/>
          </a:p>
        </p:txBody>
      </p:sp>
      <p:sp>
        <p:nvSpPr>
          <p:cNvPr id="32" name="Step 5"/>
          <p:cNvSpPr/>
          <p:nvPr/>
        </p:nvSpPr>
        <p:spPr>
          <a:xfrm>
            <a:off x="9427464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3" name="Step number 5"/>
          <p:cNvSpPr/>
          <p:nvPr/>
        </p:nvSpPr>
        <p:spPr>
          <a:xfrm>
            <a:off x="9537192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537192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930384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Cenários de MMGD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564624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Aumento da MMGD sobre a referência</a:t>
            </a:r>
            <a:endParaRPr lang="en-US" sz="1200" dirty="0"/>
          </a:p>
        </p:txBody>
      </p:sp>
      <p:sp>
        <p:nvSpPr>
          <p:cNvPr id="37" name="Arrow"/>
          <p:cNvSpPr/>
          <p:nvPr/>
        </p:nvSpPr>
        <p:spPr>
          <a:xfrm flipH="1">
            <a:off x="9079992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8" name="Step 6"/>
          <p:cNvSpPr/>
          <p:nvPr/>
        </p:nvSpPr>
        <p:spPr>
          <a:xfrm>
            <a:off x="6940296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9" name="Step number 6"/>
          <p:cNvSpPr/>
          <p:nvPr/>
        </p:nvSpPr>
        <p:spPr>
          <a:xfrm>
            <a:off x="7050024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050024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6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443216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Inserção das baterias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077456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BESS no Nordeste e no Sudeste, 4 h</a:t>
            </a:r>
            <a:endParaRPr lang="en-US" sz="1200" dirty="0"/>
          </a:p>
        </p:txBody>
      </p:sp>
      <p:sp>
        <p:nvSpPr>
          <p:cNvPr id="43" name="Arrow"/>
          <p:cNvSpPr/>
          <p:nvPr/>
        </p:nvSpPr>
        <p:spPr>
          <a:xfrm flipH="1">
            <a:off x="6592824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44" name="Step 7"/>
          <p:cNvSpPr/>
          <p:nvPr/>
        </p:nvSpPr>
        <p:spPr>
          <a:xfrm>
            <a:off x="4453128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45" name="Step number 7"/>
          <p:cNvSpPr/>
          <p:nvPr/>
        </p:nvSpPr>
        <p:spPr>
          <a:xfrm>
            <a:off x="4562856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62856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4956048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4590288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 carga e descarga das baterias</a:t>
            </a:r>
            <a:endParaRPr lang="en-US" sz="1200" dirty="0"/>
          </a:p>
        </p:txBody>
      </p:sp>
      <p:sp>
        <p:nvSpPr>
          <p:cNvPr id="49" name="Arrow"/>
          <p:cNvSpPr/>
          <p:nvPr/>
        </p:nvSpPr>
        <p:spPr>
          <a:xfrm flipH="1">
            <a:off x="4105656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50" name="Step 8"/>
          <p:cNvSpPr/>
          <p:nvPr/>
        </p:nvSpPr>
        <p:spPr>
          <a:xfrm>
            <a:off x="1965960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51" name="Step number 8"/>
          <p:cNvSpPr/>
          <p:nvPr/>
        </p:nvSpPr>
        <p:spPr>
          <a:xfrm>
            <a:off x="2075688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075688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8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468880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com BESS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03120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Mesmas variáveis da etapa 1</a:t>
            </a:r>
            <a:endParaRPr lang="en-US" sz="1200" dirty="0"/>
          </a:p>
        </p:txBody>
      </p:sp>
      <p:sp>
        <p:nvSpPr>
          <p:cNvPr id="55" name="Step 9"/>
          <p:cNvSpPr/>
          <p:nvPr/>
        </p:nvSpPr>
        <p:spPr>
          <a:xfrm>
            <a:off x="1965960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6" name="Step number 9"/>
          <p:cNvSpPr/>
          <p:nvPr/>
        </p:nvSpPr>
        <p:spPr>
          <a:xfrm>
            <a:off x="2075688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075688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2468880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Comparação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2103120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Δ curtailment, Δ despacho, Δ armazenamento, Δ CTO</a:t>
            </a:r>
            <a:endParaRPr lang="en-US" sz="1200" dirty="0"/>
          </a:p>
        </p:txBody>
      </p:sp>
      <p:sp>
        <p:nvSpPr>
          <p:cNvPr id="60" name="Arrow"/>
          <p:cNvSpPr/>
          <p:nvPr/>
        </p:nvSpPr>
        <p:spPr>
          <a:xfrm>
            <a:off x="4105656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1" name="Step 10"/>
          <p:cNvSpPr/>
          <p:nvPr/>
        </p:nvSpPr>
        <p:spPr>
          <a:xfrm>
            <a:off x="4453128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2" name="Step number 10"/>
          <p:cNvSpPr/>
          <p:nvPr/>
        </p:nvSpPr>
        <p:spPr>
          <a:xfrm>
            <a:off x="4562856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562856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4956048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Encargos por fonte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590288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Custo das baterias rateado entre as fontes</a:t>
            </a:r>
            <a:endParaRPr lang="en-US" sz="1200" dirty="0"/>
          </a:p>
        </p:txBody>
      </p:sp>
      <p:sp>
        <p:nvSpPr>
          <p:cNvPr id="66" name="Arrow"/>
          <p:cNvSpPr/>
          <p:nvPr/>
        </p:nvSpPr>
        <p:spPr>
          <a:xfrm>
            <a:off x="6592824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7" name="Step 11"/>
          <p:cNvSpPr/>
          <p:nvPr/>
        </p:nvSpPr>
        <p:spPr>
          <a:xfrm>
            <a:off x="6940296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8" name="Step number 11"/>
          <p:cNvSpPr/>
          <p:nvPr/>
        </p:nvSpPr>
        <p:spPr>
          <a:xfrm>
            <a:off x="7050024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050024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11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7443216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Balanço econômico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77456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Ganho sistêmico × encargos</a:t>
            </a:r>
            <a:endParaRPr lang="en-US" sz="1200" dirty="0"/>
          </a:p>
        </p:txBody>
      </p:sp>
      <p:sp>
        <p:nvSpPr>
          <p:cNvPr id="72" name="Arrow"/>
          <p:cNvSpPr/>
          <p:nvPr/>
        </p:nvSpPr>
        <p:spPr>
          <a:xfrm>
            <a:off x="9079992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3" name="Step 12"/>
          <p:cNvSpPr/>
          <p:nvPr/>
        </p:nvSpPr>
        <p:spPr>
          <a:xfrm>
            <a:off x="9427464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4" name="Step number 12"/>
          <p:cNvSpPr/>
          <p:nvPr/>
        </p:nvSpPr>
        <p:spPr>
          <a:xfrm>
            <a:off x="9537192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7192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12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9930384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Conclusão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9564624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Fontes beneficiadas e deslocadas; teste da hipótese</a:t>
            </a:r>
            <a:endParaRPr lang="en-US" sz="1200" dirty="0"/>
          </a:p>
        </p:txBody>
      </p:sp>
      <p:sp>
        <p:nvSpPr>
          <p:cNvPr id="78" name="Arrow"/>
          <p:cNvSpPr/>
          <p:nvPr/>
        </p:nvSpPr>
        <p:spPr>
          <a:xfrm>
            <a:off x="10479024" y="2724912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9" name="Arrow"/>
          <p:cNvSpPr/>
          <p:nvPr/>
        </p:nvSpPr>
        <p:spPr>
          <a:xfrm>
            <a:off x="3017520" y="4352544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80" name="Text 7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Etapa 3 compara os resultados das etapas 1 e 2. O cenário de MMGD define as variações simuladas em cada etapa.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Cenários de simulação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Três níveis de MMGD, com e sem baterias, geram seis casos. A referência é o C3.</a:t>
            </a:r>
            <a:endParaRPr lang="en-US" sz="1600" dirty="0"/>
          </a:p>
        </p:txBody>
      </p:sp>
      <p:sp>
        <p:nvSpPr>
          <p:cNvPr id="4" name="Column header 1"/>
          <p:cNvSpPr/>
          <p:nvPr/>
        </p:nvSpPr>
        <p:spPr>
          <a:xfrm>
            <a:off x="274320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6" name="Column header 2"/>
          <p:cNvSpPr/>
          <p:nvPr/>
        </p:nvSpPr>
        <p:spPr>
          <a:xfrm>
            <a:off x="722376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 baterias (NE + SE, 4 h)</a:t>
            </a:r>
            <a:endParaRPr lang="en-US" sz="1400" dirty="0"/>
          </a:p>
        </p:txBody>
      </p:sp>
      <p:sp>
        <p:nvSpPr>
          <p:cNvPr id="8" name="Row header 1"/>
          <p:cNvSpPr/>
          <p:nvPr/>
        </p:nvSpPr>
        <p:spPr>
          <a:xfrm>
            <a:off x="548640" y="237744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3774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baixa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47 GW (2034)</a:t>
            </a:r>
            <a:endParaRPr lang="en-US" sz="1400" dirty="0"/>
          </a:p>
        </p:txBody>
      </p:sp>
      <p:sp>
        <p:nvSpPr>
          <p:cNvPr id="10" name="Case C1"/>
          <p:cNvSpPr/>
          <p:nvPr/>
        </p:nvSpPr>
        <p:spPr>
          <a:xfrm>
            <a:off x="274320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97180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13" name="Case C2"/>
          <p:cNvSpPr/>
          <p:nvPr/>
        </p:nvSpPr>
        <p:spPr>
          <a:xfrm>
            <a:off x="722376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5236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C2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16" name="Row header 2"/>
          <p:cNvSpPr/>
          <p:nvPr/>
        </p:nvSpPr>
        <p:spPr>
          <a:xfrm>
            <a:off x="548640" y="356616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5661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de referência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59 GW (2034)</a:t>
            </a:r>
            <a:endParaRPr lang="en-US" sz="1400" dirty="0"/>
          </a:p>
        </p:txBody>
      </p:sp>
      <p:sp>
        <p:nvSpPr>
          <p:cNvPr id="18" name="Case C3"/>
          <p:cNvSpPr/>
          <p:nvPr/>
        </p:nvSpPr>
        <p:spPr>
          <a:xfrm>
            <a:off x="274320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rgbClr val="F5A524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97180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297180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76732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REFERÊNCIA</a:t>
            </a:r>
            <a:endParaRPr lang="en-US" sz="1200" dirty="0"/>
          </a:p>
        </p:txBody>
      </p:sp>
      <p:sp>
        <p:nvSpPr>
          <p:cNvPr id="22" name="Case C4"/>
          <p:cNvSpPr/>
          <p:nvPr/>
        </p:nvSpPr>
        <p:spPr>
          <a:xfrm>
            <a:off x="722376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45236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25" name="Row header 3"/>
          <p:cNvSpPr/>
          <p:nvPr/>
        </p:nvSpPr>
        <p:spPr>
          <a:xfrm>
            <a:off x="548640" y="475488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47548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alta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71 GW (2034)</a:t>
            </a:r>
            <a:endParaRPr lang="en-US" sz="1400" dirty="0"/>
          </a:p>
        </p:txBody>
      </p:sp>
      <p:sp>
        <p:nvSpPr>
          <p:cNvPr id="27" name="Case C5"/>
          <p:cNvSpPr/>
          <p:nvPr/>
        </p:nvSpPr>
        <p:spPr>
          <a:xfrm>
            <a:off x="274320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97180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C5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30" name="Case C6"/>
          <p:cNvSpPr/>
          <p:nvPr/>
        </p:nvSpPr>
        <p:spPr>
          <a:xfrm>
            <a:off x="722376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45236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C6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45236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Comparações-chave: C2 × C1, C4 × C3 e C6 × C5 isolam o efeito das baterias; C1 × C3 × C5 isolam o efeito da MMGD.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Faixa de MMGD: EPE/MME, PDE 2034, Caderno MMGD e Baterias (2024); ordem de grandeza para o ano-horizonte a definir.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Indicadores: como cada objetivo será medido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57600"/>
                <a:gridCol w="301752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Variável de saída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Curtailment de eólicas, UFVs e UHEs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 e % da geração disponível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× com BESS, por nível de MMGD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Despacho por fonte e energia armazenada nas UHEs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MWh/ano, MW médios e % da capacidade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Fontes beneficiadas × deslocadas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total de operação (CTO)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bilhões/ano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ΔCTO em R$ e em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Encargos pagos por 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milhões/ano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Conforme a regra de rateio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ΔCTO ÷ Σ encargos e resultado por 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e R$ milhões/ano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 confirma H1; varia com a MMGD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Todas as variáveis vêm das simulações horárias, exceto os encargos (OE4), calculados a partir do custo das baterias e da regra de rateio.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econômica: ganho versus encargos</a:t>
            </a:r>
            <a:endParaRPr lang="en-US" sz="3200" dirty="0"/>
          </a:p>
        </p:txBody>
      </p:sp>
      <p:sp>
        <p:nvSpPr>
          <p:cNvPr id="3" name="Gain card"/>
          <p:cNvSpPr/>
          <p:nvPr/>
        </p:nvSpPr>
        <p:spPr>
          <a:xfrm>
            <a:off x="548640" y="1463040"/>
            <a:ext cx="4754880" cy="24688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88595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7373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GANHO SISTÊMICO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ΔCTO = CTO(sem BESS) − CTO(com BESS)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Inclui a economia de menos curtailment, menos térmica e mais água armazenada.</a:t>
            </a:r>
            <a:endParaRPr lang="en-US" sz="1400" dirty="0"/>
          </a:p>
        </p:txBody>
      </p:sp>
      <p:sp>
        <p:nvSpPr>
          <p:cNvPr id="9" name="Charges card"/>
          <p:cNvSpPr/>
          <p:nvPr/>
        </p:nvSpPr>
        <p:spPr>
          <a:xfrm>
            <a:off x="6888175" y="1463040"/>
            <a:ext cx="4754880" cy="24688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7162495" y="173736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085" y="188595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985455" y="17373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ENCARGOS DAS FONTES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162495" y="2560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Ei,  i = UHE, UTE, eólica, UFV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7162495" y="32004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Custo das baterias pago por cada fonte, conforme a regra de rateio adotada.</a:t>
            </a:r>
            <a:endParaRPr lang="en-US" sz="1400" dirty="0"/>
          </a:p>
        </p:txBody>
      </p:sp>
      <p:sp>
        <p:nvSpPr>
          <p:cNvPr id="15" name="Comparison circle"/>
          <p:cNvSpPr/>
          <p:nvPr/>
        </p:nvSpPr>
        <p:spPr>
          <a:xfrm>
            <a:off x="5592928" y="2194560"/>
            <a:ext cx="1005840" cy="10058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592928" y="21945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?</a:t>
            </a:r>
            <a:endParaRPr lang="en-US" sz="2800" dirty="0"/>
          </a:p>
        </p:txBody>
      </p:sp>
      <p:sp>
        <p:nvSpPr>
          <p:cNvPr id="17" name="Outcome 1"/>
          <p:cNvSpPr/>
          <p:nvPr/>
        </p:nvSpPr>
        <p:spPr>
          <a:xfrm>
            <a:off x="548640" y="42062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FaCheck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61772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54480" y="4480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ΔCTO ≥ Σ Ei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" y="52120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H1 confirmada: o ganho sistêmico cobre os encargos.</a:t>
            </a:r>
            <a:endParaRPr lang="en-US" sz="1400" dirty="0"/>
          </a:p>
        </p:txBody>
      </p:sp>
      <p:sp>
        <p:nvSpPr>
          <p:cNvPr id="22" name="Outcome 2"/>
          <p:cNvSpPr/>
          <p:nvPr/>
        </p:nvSpPr>
        <p:spPr>
          <a:xfrm>
            <a:off x="4334256" y="42062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Icon circle"/>
          <p:cNvSpPr/>
          <p:nvPr/>
        </p:nvSpPr>
        <p:spPr>
          <a:xfrm>
            <a:off x="4608576" y="44805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4" name="Image 3" descr="FaTimesCir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5736" y="461772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40096" y="4480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ΔCTO &lt; Σ Ei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4608576" y="52120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H0 mantida: o custo das baterias excede o ganho.</a:t>
            </a:r>
            <a:endParaRPr lang="en-US" sz="1400" dirty="0"/>
          </a:p>
        </p:txBody>
      </p:sp>
      <p:sp>
        <p:nvSpPr>
          <p:cNvPr id="27" name="Outcome 3"/>
          <p:cNvSpPr/>
          <p:nvPr/>
        </p:nvSpPr>
        <p:spPr>
          <a:xfrm>
            <a:off x="8119872" y="42062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Icon circle"/>
          <p:cNvSpPr/>
          <p:nvPr/>
        </p:nvSpPr>
        <p:spPr>
          <a:xfrm>
            <a:off x="8394192" y="448056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Image 4" descr="FaBalanceSca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1352" y="4617720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125712" y="4480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por fonte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394192" y="52120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Ganho de despacho da fonte i menos Ei mostra quem ganha e quem perde.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Resultados esperados e contribuição</a:t>
            </a:r>
            <a:endParaRPr lang="en-US" sz="3200" dirty="0"/>
          </a:p>
        </p:txBody>
      </p:sp>
      <p:sp>
        <p:nvSpPr>
          <p:cNvPr id="3" name="Outcome column 1"/>
          <p:cNvSpPr/>
          <p:nvPr/>
        </p:nvSpPr>
        <p:spPr>
          <a:xfrm>
            <a:off x="548640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File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estudo entrega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Efeito das baterias no curtailment, no despacho e nos reservatórios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ΔCTO para cada nível de MMGD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Balanço entre ganho sistêmico e encargos por fonte</a:t>
            </a:r>
            <a:endParaRPr lang="en-US" sz="1600" dirty="0"/>
          </a:p>
        </p:txBody>
      </p:sp>
      <p:sp>
        <p:nvSpPr>
          <p:cNvPr id="8" name="Outcome column 2"/>
          <p:cNvSpPr/>
          <p:nvPr/>
        </p:nvSpPr>
        <p:spPr>
          <a:xfrm>
            <a:off x="4334256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Contribuição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Evidência para o debate sobre o rateio dos custos das baterias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Apoio ao desenho de futuros leilões de armazenamento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Método replicável para outros níveis de MMGD</a:t>
            </a:r>
            <a:endParaRPr lang="en-US" sz="1600" dirty="0"/>
          </a:p>
        </p:txBody>
      </p:sp>
      <p:sp>
        <p:nvSpPr>
          <p:cNvPr id="13" name="Outcome column 3"/>
          <p:cNvSpPr/>
          <p:nvPr/>
        </p:nvSpPr>
        <p:spPr>
          <a:xfrm>
            <a:off x="8119872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Resultados dependem das premissas de MMGD, potência e localização das baterias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Regra de rateio dos encargos ainda em discussão regulatória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Estimativas de cortes variam entre fontes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paga: base legal e regulatória</a:t>
            </a:r>
            <a:endParaRPr lang="en-US" sz="3200" dirty="0"/>
          </a:p>
        </p:txBody>
      </p:sp>
      <p:sp>
        <p:nvSpPr>
          <p:cNvPr id="3" name="Date chip 1"/>
          <p:cNvSpPr/>
          <p:nvPr/>
        </p:nvSpPr>
        <p:spPr>
          <a:xfrm>
            <a:off x="548640" y="141732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24/11/2025</a:t>
            </a:r>
            <a:endParaRPr lang="en-US" sz="1600" dirty="0"/>
          </a:p>
        </p:txBody>
      </p:sp>
      <p:sp>
        <p:nvSpPr>
          <p:cNvPr id="5" name="Legal card 1"/>
          <p:cNvSpPr/>
          <p:nvPr/>
        </p:nvSpPr>
        <p:spPr>
          <a:xfrm>
            <a:off x="2606040" y="141732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2834640" y="1673352"/>
            <a:ext cx="585216" cy="5852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Fa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944" y="1819656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0" y="15270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 15.269/2025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1920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Inclui o § 6º no art. 3º-A da Lei 10.848/2004: o custo da contratação de baterias é rateado apenas entre os agentes de geração, conforme regulamentação da ANEEL.</a:t>
            </a:r>
            <a:endParaRPr lang="en-US" sz="1400" dirty="0"/>
          </a:p>
        </p:txBody>
      </p:sp>
      <p:sp>
        <p:nvSpPr>
          <p:cNvPr id="10" name="Date chip 2"/>
          <p:cNvSpPr/>
          <p:nvPr/>
        </p:nvSpPr>
        <p:spPr>
          <a:xfrm>
            <a:off x="548640" y="265176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651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Jun/2026</a:t>
            </a:r>
            <a:endParaRPr lang="en-US" sz="1600" dirty="0"/>
          </a:p>
        </p:txBody>
      </p:sp>
      <p:sp>
        <p:nvSpPr>
          <p:cNvPr id="12" name="Legal card 2"/>
          <p:cNvSpPr/>
          <p:nvPr/>
        </p:nvSpPr>
        <p:spPr>
          <a:xfrm>
            <a:off x="2606040" y="265176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2834640" y="2907792"/>
            <a:ext cx="585216" cy="58521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1" descr="FaFil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944" y="3054096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57600" y="27614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Portaria GM/MME 136/2026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0" y="3154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Diretrizes do LRCAP armazenamento: leilões em 2 e 4/12/2026, contratos de 15 anos desde 1/8/2028, mínimo de 30 MW, 4 h de descarga e eficiência de 85%.</a:t>
            </a:r>
            <a:endParaRPr lang="en-US" sz="1400" dirty="0"/>
          </a:p>
        </p:txBody>
      </p:sp>
      <p:sp>
        <p:nvSpPr>
          <p:cNvPr id="17" name="Date chip 3"/>
          <p:cNvSpPr/>
          <p:nvPr/>
        </p:nvSpPr>
        <p:spPr>
          <a:xfrm>
            <a:off x="548640" y="388620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862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8/10/2026</a:t>
            </a:r>
            <a:endParaRPr lang="en-US" sz="1600" dirty="0"/>
          </a:p>
        </p:txBody>
      </p:sp>
      <p:sp>
        <p:nvSpPr>
          <p:cNvPr id="19" name="Legal card 3"/>
          <p:cNvSpPr/>
          <p:nvPr/>
        </p:nvSpPr>
        <p:spPr>
          <a:xfrm>
            <a:off x="2606040" y="388620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2834640" y="4142232"/>
            <a:ext cx="585216" cy="58521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2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944" y="4288536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657600" y="399592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 Pública 37/2026 (ANEEL)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3657600" y="4389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Nota Técnica 101/2026 propõe a base de custeio e a metodologia de rateio do Ercap-SAE. Contribuições até 6/11/2026.</a:t>
            </a:r>
            <a:endParaRPr lang="en-US" sz="1400" dirty="0"/>
          </a:p>
        </p:txBody>
      </p:sp>
      <p:sp>
        <p:nvSpPr>
          <p:cNvPr id="24" name="Date chip 4"/>
          <p:cNvSpPr/>
          <p:nvPr/>
        </p:nvSpPr>
        <p:spPr>
          <a:xfrm>
            <a:off x="548640" y="512064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48640" y="51206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tramitação</a:t>
            </a:r>
            <a:endParaRPr lang="en-US" sz="1600" dirty="0"/>
          </a:p>
        </p:txBody>
      </p:sp>
      <p:sp>
        <p:nvSpPr>
          <p:cNvPr id="26" name="Legal card 4"/>
          <p:cNvSpPr/>
          <p:nvPr/>
        </p:nvSpPr>
        <p:spPr>
          <a:xfrm>
            <a:off x="2606040" y="512064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Icon circle"/>
          <p:cNvSpPr/>
          <p:nvPr/>
        </p:nvSpPr>
        <p:spPr>
          <a:xfrm>
            <a:off x="2834640" y="5376672"/>
            <a:ext cx="585216" cy="585216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8" name="Image 3" descr="Fa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0944" y="5522976"/>
            <a:ext cx="292608" cy="29260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3657600" y="52303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 3.716/2026 e PL 5.017/2019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3657600" y="56235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Propõem revogar o rateio apenas entre geradores e incluir os consumidores na cobrança do encargo.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Lei 15.269/2025; Canal Solar e MME (2026); ANEEL, CP 37/2026 e NT 101/2026-SGM; CNN Brasil (2026); TAGD Law (2026).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 receita fixa ao encargo das fontes</a:t>
            </a:r>
            <a:endParaRPr lang="en-US" sz="3200" dirty="0"/>
          </a:p>
        </p:txBody>
      </p:sp>
      <p:sp>
        <p:nvSpPr>
          <p:cNvPr id="3" name="Mechanism step 1"/>
          <p:cNvSpPr/>
          <p:nvPr/>
        </p:nvSpPr>
        <p:spPr>
          <a:xfrm>
            <a:off x="548640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Leilão LRCAP armazenamento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ANEEL e CCEE contratam potência de baterias (mín. 30 MW, 4 h)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551176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0" name="Mechanism step 2"/>
          <p:cNvSpPr/>
          <p:nvPr/>
        </p:nvSpPr>
        <p:spPr>
          <a:xfrm>
            <a:off x="2825496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3054096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8288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7096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054096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Receita fixa anual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054096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R$/ano em 12 parcelas mensais, reajustada pelo IPCA, por 15 anos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4828032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7" name="Mechanism step 3"/>
          <p:cNvSpPr/>
          <p:nvPr/>
        </p:nvSpPr>
        <p:spPr>
          <a:xfrm>
            <a:off x="5102352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5330952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FaBatteryFu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82880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3952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30952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 total (Ercap-SAE)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30952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Receita fixa mais a energia de recarga, com eficiência mínima de 85%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104888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4" name="Mechanism step 4"/>
          <p:cNvSpPr/>
          <p:nvPr/>
        </p:nvSpPr>
        <p:spPr>
          <a:xfrm>
            <a:off x="7379208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5" name="Icon circle"/>
          <p:cNvSpPr/>
          <p:nvPr/>
        </p:nvSpPr>
        <p:spPr>
          <a:xfrm>
            <a:off x="7607808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Image 3" descr="Fa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82880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0808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607808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Rateio entre geradores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607808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Agentes da CCEE, sem MMGD nem armazenamento autônomo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9381744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1" name="Mechanism step 5"/>
          <p:cNvSpPr/>
          <p:nvPr/>
        </p:nvSpPr>
        <p:spPr>
          <a:xfrm>
            <a:off x="9656064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2" name="Icon circle"/>
          <p:cNvSpPr/>
          <p:nvPr/>
        </p:nvSpPr>
        <p:spPr>
          <a:xfrm>
            <a:off x="9884664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3" name="Image 4" descr="FaIndustr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182880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027664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884664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Parcela de cada fonte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UHE, UTE, eólica e UFV pagam conforme a regra de rateio</a:t>
            </a:r>
            <a:endParaRPr lang="en-US" sz="1400" dirty="0"/>
          </a:p>
        </p:txBody>
      </p:sp>
      <p:sp>
        <p:nvSpPr>
          <p:cNvPr id="37" name="Rule card 1"/>
          <p:cNvSpPr/>
          <p:nvPr/>
        </p:nvSpPr>
        <p:spPr>
          <a:xfrm>
            <a:off x="548640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8" name="Icon circle"/>
          <p:cNvSpPr/>
          <p:nvPr/>
        </p:nvSpPr>
        <p:spPr>
          <a:xfrm>
            <a:off x="82296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Image 5" descr="FaChartLi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690" y="4606290"/>
            <a:ext cx="251460" cy="2514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508760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Desempenho</a:t>
            </a:r>
            <a:endParaRPr lang="en-US" sz="1800" dirty="0"/>
          </a:p>
        </p:txBody>
      </p:sp>
      <p:sp>
        <p:nvSpPr>
          <p:cNvPr id="41" name="Text 33"/>
          <p:cNvSpPr txBox="1"/>
          <p:nvPr/>
        </p:nvSpPr>
        <p:spPr>
          <a:xfrm>
            <a:off x="822960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receita é reduzida se a bateria não entregar a potência contratada.</a:t>
            </a:r>
            <a:endParaRPr lang="en-US" sz="1400" dirty="0"/>
          </a:p>
        </p:txBody>
      </p:sp>
      <p:sp>
        <p:nvSpPr>
          <p:cNvPr id="42" name="Rule card 2"/>
          <p:cNvSpPr/>
          <p:nvPr/>
        </p:nvSpPr>
        <p:spPr>
          <a:xfrm>
            <a:off x="4334256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3" name="Icon circle"/>
          <p:cNvSpPr/>
          <p:nvPr/>
        </p:nvSpPr>
        <p:spPr>
          <a:xfrm>
            <a:off x="4608576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4" name="Image 6" descr="FaGav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4306" y="4606290"/>
            <a:ext cx="251460" cy="251460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5294376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Penalidades (proposta)</a:t>
            </a:r>
            <a:endParaRPr lang="en-US" sz="1800" dirty="0"/>
          </a:p>
        </p:txBody>
      </p:sp>
      <p:sp>
        <p:nvSpPr>
          <p:cNvPr id="46" name="Text 37"/>
          <p:cNvSpPr txBox="1"/>
          <p:nvPr/>
        </p:nvSpPr>
        <p:spPr>
          <a:xfrm>
            <a:off x="4608576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1,15 vez a receita fixa unitária por descumprir comandos do ONS e 1,10 vez por indisponibilidade.</a:t>
            </a:r>
            <a:endParaRPr lang="en-US" sz="1400" dirty="0"/>
          </a:p>
        </p:txBody>
      </p:sp>
      <p:sp>
        <p:nvSpPr>
          <p:cNvPr id="47" name="Rule card 3"/>
          <p:cNvSpPr/>
          <p:nvPr/>
        </p:nvSpPr>
        <p:spPr>
          <a:xfrm>
            <a:off x="8119872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8" name="Icon circle"/>
          <p:cNvSpPr/>
          <p:nvPr/>
        </p:nvSpPr>
        <p:spPr>
          <a:xfrm>
            <a:off x="8394192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Image 7" descr="FaBo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9922" y="4606290"/>
            <a:ext cx="251460" cy="25146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079992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Consumo interno</a:t>
            </a:r>
            <a:endParaRPr lang="en-US" sz="1800" dirty="0"/>
          </a:p>
        </p:txBody>
      </p:sp>
      <p:sp>
        <p:nvSpPr>
          <p:cNvPr id="51" name="Text 41"/>
          <p:cNvSpPr txBox="1"/>
          <p:nvPr/>
        </p:nvSpPr>
        <p:spPr>
          <a:xfrm>
            <a:off x="8394192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Acima de 15% da energia utilizada, o excedente fica com o dono e é descontado da receita.</a:t>
            </a:r>
            <a:endParaRPr lang="en-US" sz="1400" dirty="0"/>
          </a:p>
        </p:txBody>
      </p:sp>
      <p:sp>
        <p:nvSpPr>
          <p:cNvPr id="52" name="Text 4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Portaria GM/MME 136/2026 e minutas dos editais, via Canal Solar e ANEEL (2026). Valores em consulta pública, sujeitos a mudança no edital final.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o encargo pode ser dividido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Proposta da área técnica da ANEEL (NT 101/2026): quanto menos flexível a usina, maior a parcela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P1: inflexível</a:t>
            </a:r>
            <a:endParaRPr lang="en-US" sz="1400" dirty="0"/>
          </a:p>
        </p:txBody>
      </p:sp>
      <p:sp>
        <p:nvSpPr>
          <p:cNvPr id="5" name="Tier bar 1"/>
          <p:cNvSpPr/>
          <p:nvPr/>
        </p:nvSpPr>
        <p:spPr>
          <a:xfrm>
            <a:off x="548640" y="2304288"/>
            <a:ext cx="612648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042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100%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P2: baixa flexibilidade</a:t>
            </a:r>
            <a:endParaRPr lang="en-US" sz="1400" dirty="0"/>
          </a:p>
        </p:txBody>
      </p:sp>
      <p:sp>
        <p:nvSpPr>
          <p:cNvPr id="8" name="Tier bar 2"/>
          <p:cNvSpPr/>
          <p:nvPr/>
        </p:nvSpPr>
        <p:spPr>
          <a:xfrm>
            <a:off x="548640" y="3081528"/>
            <a:ext cx="4594860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0815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75%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P3: alta flexibilidade</a:t>
            </a:r>
            <a:endParaRPr lang="en-US" sz="1400" dirty="0"/>
          </a:p>
        </p:txBody>
      </p:sp>
      <p:sp>
        <p:nvSpPr>
          <p:cNvPr id="11" name="Tier bar 3"/>
          <p:cNvSpPr/>
          <p:nvPr/>
        </p:nvSpPr>
        <p:spPr>
          <a:xfrm>
            <a:off x="548640" y="3858768"/>
            <a:ext cx="3063240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8587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50%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4340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P4: flexibilidade muito alta</a:t>
            </a:r>
            <a:endParaRPr lang="en-US" sz="1400" dirty="0"/>
          </a:p>
        </p:txBody>
      </p:sp>
      <p:sp>
        <p:nvSpPr>
          <p:cNvPr id="14" name="Tier bar 4"/>
          <p:cNvSpPr/>
          <p:nvPr/>
        </p:nvSpPr>
        <p:spPr>
          <a:xfrm>
            <a:off x="548640" y="4636008"/>
            <a:ext cx="15316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636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Os patamares valem para todas as classes de geração: o P4 é o mais flexível dentro de cada classe. Eólicas e solares partem do P1, sem armazenamento associado. Hidrelétricas e térmicas dependem da classificação anual do ONS.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1280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Cenários de rateio a simular no estudo</a:t>
            </a:r>
            <a:endParaRPr lang="en-US" sz="1600" dirty="0"/>
          </a:p>
        </p:txBody>
      </p:sp>
      <p:sp>
        <p:nvSpPr>
          <p:cNvPr id="18" name="Rateio scenario R1"/>
          <p:cNvSpPr/>
          <p:nvPr/>
        </p:nvSpPr>
        <p:spPr>
          <a:xfrm>
            <a:off x="7315200" y="192024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cenario tag R1"/>
          <p:cNvSpPr/>
          <p:nvPr/>
        </p:nvSpPr>
        <p:spPr>
          <a:xfrm>
            <a:off x="7498080" y="219456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0" y="21945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20574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Rateio universal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246888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Todos os geradores da CCEE, sem diferenciar a flexibilidade.</a:t>
            </a:r>
            <a:endParaRPr lang="en-US" sz="1400" dirty="0"/>
          </a:p>
        </p:txBody>
      </p:sp>
      <p:sp>
        <p:nvSpPr>
          <p:cNvPr id="23" name="Rateio scenario R2"/>
          <p:cNvSpPr/>
          <p:nvPr/>
        </p:nvSpPr>
        <p:spPr>
          <a:xfrm>
            <a:off x="7315200" y="324612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cenario tag R2"/>
          <p:cNvSpPr/>
          <p:nvPr/>
        </p:nvSpPr>
        <p:spPr>
          <a:xfrm>
            <a:off x="7498080" y="352044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0" y="35204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338328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Modulado por flexibilidade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379476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Proposta da ANEEL em consulta: quatro patamares, de 100% a 25%.</a:t>
            </a:r>
            <a:endParaRPr lang="en-US" sz="1400" dirty="0"/>
          </a:p>
        </p:txBody>
      </p:sp>
      <p:sp>
        <p:nvSpPr>
          <p:cNvPr id="28" name="Rateio scenario R3"/>
          <p:cNvSpPr/>
          <p:nvPr/>
        </p:nvSpPr>
        <p:spPr>
          <a:xfrm>
            <a:off x="7315200" y="457200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cenario tag R3"/>
          <p:cNvSpPr/>
          <p:nvPr/>
        </p:nvSpPr>
        <p:spPr>
          <a:xfrm>
            <a:off x="7498080" y="484632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98080" y="48463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70916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consumidores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512064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Mudança da lei pelos PLs 3.716/2026 e 5.017/2019.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0" y="5852160"/>
            <a:ext cx="4327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 ABRACE defende manter o custo só com geradores. ABSAE, Absolar e ABEEólica pedem tratar as baterias como as demais fontes.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NT 101/2026 e CP 37/2026 (ANEEL), via Canal Solar, ePowerBay e TAGD Law (2026); Canal Energia (2026). A fórmula final ainda será definida pela ANEEL.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Memória de cálculo 1/3: base e fórmula</a:t>
            </a:r>
            <a:endParaRPr lang="en-US" sz="3200" dirty="0"/>
          </a:p>
        </p:txBody>
      </p:sp>
      <p:sp>
        <p:nvSpPr>
          <p:cNvPr id="3" name="Calc base card"/>
          <p:cNvSpPr/>
          <p:nvPr/>
        </p:nvSpPr>
        <p:spPr>
          <a:xfrm>
            <a:off x="548640" y="141732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Base de geração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14600"/>
          <a:ext cx="29718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 e solares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demais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822960" y="51663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Térmicas e demais = 100 − 51,7 − 26,4 = 21,9 (resíduo). Fonte: EPE, Anuário Estatístico de Energia Elétrica 2025.</a:t>
            </a:r>
            <a:endParaRPr lang="en-US" sz="1200" dirty="0"/>
          </a:p>
        </p:txBody>
      </p:sp>
      <p:sp>
        <p:nvSpPr>
          <p:cNvPr id="9" name="Calc formula card"/>
          <p:cNvSpPr/>
          <p:nvPr/>
        </p:nvSpPr>
        <p:spPr>
          <a:xfrm>
            <a:off x="4334256" y="141732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4608576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2880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40096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Fórmula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4608576" y="26060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 = g × k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4608576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Parcela = peso ÷ soma dos pesos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4608576" y="434340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g: participação da fonte na geração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k: coeficiente de flexibilidade (P1 a P4)</a:t>
            </a:r>
            <a:endParaRPr lang="en-US" sz="1400" dirty="0"/>
          </a:p>
        </p:txBody>
      </p:sp>
      <p:sp>
        <p:nvSpPr>
          <p:cNvPr id="16" name="Calc coefficients card"/>
          <p:cNvSpPr/>
          <p:nvPr/>
        </p:nvSpPr>
        <p:spPr>
          <a:xfrm>
            <a:off x="8119872" y="141732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8394192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2880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125712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Coeficientes k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8394192" y="2514600"/>
            <a:ext cx="2971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P1 = 1,00 | P2 = 0,75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P3 = 0,50 | P4 = 0,25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Eólicas e solares: k = 1,00 (P1)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Hidro e térmicas, por cenário:</a:t>
            </a:r>
            <a:endParaRPr lang="en-US" sz="1400" dirty="0"/>
          </a:p>
          <a:p>
            <a:pPr marL="381000" indent="-381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A: todas em P1, k = 1,00</a:t>
            </a:r>
            <a:endParaRPr lang="en-US" sz="1400" dirty="0"/>
          </a:p>
          <a:p>
            <a:pPr marL="381000" indent="-381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B: uniforme, k = (1 + 0,75 + 0,5 + 0,25) ÷ 4 = 0,625</a:t>
            </a:r>
            <a:endParaRPr lang="en-US" sz="1400" dirty="0"/>
          </a:p>
          <a:p>
            <a:pPr marL="381000" indent="-381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C: todas em P4, k = 0,25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Patamares e coeficientes da proposta da ANEEL (NT 101/2026, CP 37/2026), via Canal Solar, ePowerBay e TAGD Law (2026). Os cenários A, B e C são hipóteses minhas.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Memória de cálculo 2/3: pesos e parcelas</a:t>
            </a:r>
            <a:endParaRPr lang="en-US" sz="3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417320"/>
                <a:gridCol w="1188720"/>
                <a:gridCol w="1508760"/>
                <a:gridCol w="1188720"/>
                <a:gridCol w="1508760"/>
                <a:gridCol w="1353312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peso (g × 1,00)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parcela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peso (g × 0,625)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parcela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peso (g × 0,25)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parcela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 e solares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demais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572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Pesos exibidos com duas casas. Valores exatos: B = 32,3125, 26,40 e 13,6875 (soma 72,4); C = 12,925, 26,40 e 5,475 (soma 44,8).</a:t>
            </a:r>
            <a:endParaRPr lang="en-US" sz="1200" dirty="0"/>
          </a:p>
        </p:txBody>
      </p:sp>
      <p:sp>
        <p:nvSpPr>
          <p:cNvPr id="5" name="Worked examples"/>
          <p:cNvSpPr/>
          <p:nvPr/>
        </p:nvSpPr>
        <p:spPr>
          <a:xfrm>
            <a:off x="548640" y="5029200"/>
            <a:ext cx="11094415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5029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Exemplo B, hidrelétricas: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51,7 × 0,625 = 32,3125; 32,3125 ÷ 72,4 = 0,4463, ou 44,6%.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Exemplo C, térmicas: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21,9 × 0,25 = 5,475; 5,475 ÷ 44,8 = 0,1222, ou 12,2%.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Memória de cálculo 3/3: valores em R$ e limites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 R$ 1 bilhão de receita fixa anual (R$ milhões)</a:t>
            </a:r>
            <a:endParaRPr lang="en-US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6692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 e solares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demais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2920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Conversão: parcela (%) × 10. Exemplo: eólicas e solares no cenário B, 36,5% de R$ 1 bi = R$ 365 mi. O encargo total depende do deságio do leilão e ainda não é conhecido.</a:t>
            </a:r>
            <a:endParaRPr lang="en-US" sz="1400" dirty="0"/>
          </a:p>
        </p:txBody>
      </p:sp>
      <p:sp>
        <p:nvSpPr>
          <p:cNvPr id="6" name="Limits card"/>
          <p:cNvSpPr/>
          <p:nvPr/>
        </p:nvSpPr>
        <p:spPr>
          <a:xfrm>
            <a:off x="6583680" y="1417320"/>
            <a:ext cx="5059375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7" name="Icon circle"/>
          <p:cNvSpPr/>
          <p:nvPr/>
        </p:nvSpPr>
        <p:spPr>
          <a:xfrm>
            <a:off x="6858000" y="16459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mage 0" descr="Fa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17830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589520" y="1645920"/>
            <a:ext cx="3870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858000" y="2468880"/>
            <a:ext cx="451073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Os critérios de cada patamar e a classificação das usinas pelo ONS não foram localizados.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Hidrelétricas e térmicas recebem o mesmo k em cada cenário, o que na prática não ocorre.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Térmicas e demais é um resíduo e pode incluir MMGD, que fica fora do rateio.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base da proposta é a energia associada de cada agente, e não a participação anual na geração.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Os patamares vêm de resumos setoriais, e a proposta ainda está em consulta.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Quanto cada fonte pagaria: exercício ilustrativo</a:t>
            </a:r>
            <a:endParaRPr lang="en-US" sz="3200" dirty="0"/>
          </a:p>
        </p:txBody>
      </p:sp>
      <p:sp>
        <p:nvSpPr>
          <p:cNvPr id="3" name="Share chart card"/>
          <p:cNvSpPr/>
          <p:nvPr/>
        </p:nvSpPr>
        <p:spPr>
          <a:xfrm>
            <a:off x="548640" y="1417320"/>
            <a:ext cx="6126480" cy="4069080"/>
          </a:xfrm>
          <a:prstGeom prst="roundRect">
            <a:avLst>
              <a:gd name="adj" fmla="val 2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graphicFrame>
        <p:nvGraphicFramePr>
          <p:cNvPr id="4" name="Chart 0" descr=""/>
          <p:cNvGraphicFramePr/>
          <p:nvPr/>
        </p:nvGraphicFramePr>
        <p:xfrm>
          <a:off x="685800" y="1508760"/>
          <a:ext cx="585216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417320"/>
          <a:ext cx="47393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51560"/>
                <a:gridCol w="1097280"/>
                <a:gridCol w="11247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(k = 100%)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(k = 62,5%)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(k = 25%)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 e solares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demais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03720" y="4389120"/>
            <a:ext cx="4739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Eólicas e solares fixas em P1 (100%). Hidrelétricas e térmicas usam o mesmo coeficiente k: 100% (tudo P1), 62,5% (média dos quatro patamares) e 25% (tudo P4). Para cada R$ 1 bi de receita fixa, 1% equivale a R$ 10 mi.</a:t>
            </a:r>
            <a:endParaRPr lang="en-US" sz="1200" dirty="0"/>
          </a:p>
        </p:txBody>
      </p:sp>
      <p:sp>
        <p:nvSpPr>
          <p:cNvPr id="7" name="Illustrative caveat"/>
          <p:cNvSpPr/>
          <p:nvPr/>
        </p:nvSpPr>
        <p:spPr>
          <a:xfrm>
            <a:off x="548640" y="5577840"/>
            <a:ext cx="11094415" cy="713232"/>
          </a:xfrm>
          <a:prstGeom prst="roundRect">
            <a:avLst>
              <a:gd name="adj" fmla="val 1538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57784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Não há percentual oficial.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ANEEL ainda define a fórmula e os critérios de cada patamar. Os cenários mostram o intervalo possível, com a geração de 2025 (EPE) como base.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Cálculo próprio com a geração de 2025 do Anuário Estatístico de Energia Elétrica 2025 (EPE): hidráulica 51,7%, eólica e solar 26,4% e demais 21,9% (resíduo).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que as baterias podem economizar</a:t>
            </a:r>
            <a:endParaRPr lang="en-US" sz="3200" dirty="0"/>
          </a:p>
        </p:txBody>
      </p:sp>
      <p:sp>
        <p:nvSpPr>
          <p:cNvPr id="3" name="Chart card"/>
          <p:cNvSpPr/>
          <p:nvPr/>
        </p:nvSpPr>
        <p:spPr>
          <a:xfrm>
            <a:off x="548640" y="1417320"/>
            <a:ext cx="6035040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731520" y="1554480"/>
          <a:ext cx="56692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Breakdown card"/>
          <p:cNvSpPr/>
          <p:nvPr/>
        </p:nvSpPr>
        <p:spPr>
          <a:xfrm>
            <a:off x="6858000" y="1417320"/>
            <a:ext cx="4785055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132320" y="1600200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do estudo de 4,5 GW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R$ 8,9 bi/ano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2103120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benefício total para os consumidores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132320" y="27797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R$ 660 mi/ano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189720" y="2779776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custo do risco hidrológico (GSF)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3456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R$ 550 mi/ano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189720" y="3456432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curtailment de solar e eólica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41330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R$ 550 mi/ano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189720" y="4133088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economia atribuída aos geradores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480974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R$ 629 mi/ano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189720" y="4809744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encargos evitados em outra simulação da Volt Robotics</a:t>
            </a:r>
            <a:endParaRPr lang="en-US" sz="1400" dirty="0"/>
          </a:p>
        </p:txBody>
      </p:sp>
      <p:sp>
        <p:nvSpPr>
          <p:cNvPr id="17" name="Caveat banner"/>
          <p:cNvSpPr/>
          <p:nvPr/>
        </p:nvSpPr>
        <p:spPr>
          <a:xfrm>
            <a:off x="548640" y="5669280"/>
            <a:ext cx="11094415" cy="594360"/>
          </a:xfrm>
          <a:prstGeom prst="roundRect">
            <a:avLst>
              <a:gd name="adj" fmla="val 1846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6692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Cautela: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estudos encomendados pelo setor de armazenamento. Potência e premissas diferem, então os valores não são comparáveis entre si.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Volt Robotics via Tribuna do Sertão (1/10/2026); ABSAE (2026); Canal Solar (2026). Estimativas de simulação, não economia já realizada.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Comparativo por fonte: encargo × benefício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3291840"/>
                <a:gridCol w="28620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Encargo (proposta em consulta)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Benefício esperado com baterias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(hipótese a testar)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 e UFVs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 do P1 (100%); pode cair com armazenamento associado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curtailment: mais energia vendida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do corte evitado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a P4 (100% a 25%), conforme a classificação do 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acionamento na rampa do fim da tarde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ser negativo: perdem despacho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a P4 (100% a 25%), conforme a classificação do 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risco hidrológico e mais água armazenada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do patamar e do ganho hídrico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MMGD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Fora do rateio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excedente e menos cortes na rede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paga, mas é a origem do excedente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Link to objectives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Saldo da fonte i = ganho com baterias − Ei.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 simulações (OE2 a OE5) quantificam cada célula e testam os três cenários de rateio (R1 a R3).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Encargos: proposta da ANEEL (NT 101/2026), via resumos setoriais. Os sinais do saldo são hipóteses de trabalho, não resultados.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Summary row 1"/>
          <p:cNvSpPr/>
          <p:nvPr/>
        </p:nvSpPr>
        <p:spPr>
          <a:xfrm>
            <a:off x="548640" y="146304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463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46304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MMGD em expansão gera curtailment e perdas bilionárias.</a:t>
            </a:r>
            <a:endParaRPr lang="en-US" sz="1800" dirty="0"/>
          </a:p>
        </p:txBody>
      </p:sp>
      <p:sp>
        <p:nvSpPr>
          <p:cNvPr id="6" name="Summary row 2"/>
          <p:cNvSpPr/>
          <p:nvPr/>
        </p:nvSpPr>
        <p:spPr>
          <a:xfrm>
            <a:off x="548640" y="274320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743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74320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 ganho do sistema com baterias cobre os encargos das fontes?</a:t>
            </a:r>
            <a:endParaRPr lang="en-US" sz="1800" dirty="0"/>
          </a:p>
        </p:txBody>
      </p:sp>
      <p:sp>
        <p:nvSpPr>
          <p:cNvPr id="9" name="Summary row 3"/>
          <p:cNvSpPr/>
          <p:nvPr/>
        </p:nvSpPr>
        <p:spPr>
          <a:xfrm>
            <a:off x="548640" y="402336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023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402336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Simulações horárias sem e com baterias (NE + SE, 4 h) em cenários de MMGD.</a:t>
            </a:r>
            <a:endParaRPr lang="en-US" sz="1800" dirty="0"/>
          </a:p>
        </p:txBody>
      </p:sp>
      <p:sp>
        <p:nvSpPr>
          <p:cNvPr id="12" name="Summary row 4"/>
          <p:cNvSpPr/>
          <p:nvPr/>
        </p:nvSpPr>
        <p:spPr>
          <a:xfrm>
            <a:off x="548640" y="530352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5303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Resposta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530352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ΔCTO comparado à soma dos encargos, no sistema e por fonte.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Referências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Brasil (2025). Lei nº 15.269/2025, que inclui o § 6º no art. 3º-A da Lei nº 10.848/2004.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MME (2026). Portaria GM/MME nº 136/2026: diretrizes do LRCAP armazenamento.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ANEEL (2026). Consulta Pública 37/2026 e Nota Técnica 101/2026-SGM: Ercap-SAE.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ANEEL (2026). Consultas públicas dos editais dos leilões de armazenamento.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Canal Energia (2026). Nota técnica sugere manter custo do LRCAP de baterias com geradores; Proposta prevê modulação no rateio; Projeto visa revogar alocação de custos a geradores.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Agência iNFRA (2026). Reportagem de 6/10/2026 sobre o rateio por flexibilidade.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TAGD Law (2026). Encargo das baterias entra em consulta com duas propostas de rateio.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CNN Brasil (2026). Aneel abre consulta para leilão de baterias; rateio segue incerto.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Canal Solar (2026). MME publica diretrizes do 1º leilão de baterias.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41732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ABSAE (2026). Baterias podem gerar economia superior a R$ 3 bi por ano no LRCAP.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Volt Robotics via Tribuna do Sertão (2026). Economia de R$ 8,9 bi por ano com baterias.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ONS (2025). Diagnóstico dos cortes de geração. RT DGL-ONS 0189/2025; NT-ONS DOP 0022/2025.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EPE/MME (2024). PDE 2034, Caderno Micro e Minigeração Distribuída e Bateria atrás do Medidor.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Acende Brasil (2025). Custos dos cortes devem ser compartilhados com a geração distribuída.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Gesel-UFRJ (2025). Gesel Broadcast: Medidas para Mitigação dos Curtailments.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Agência Infra (2025). Prejuízo de R$ 6,5 bi por curtailment em 2025 (Volt Robotics).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ePowerBay (2026). Análise do Leilão de Baterias LRCAP 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EPE (2025). Anuário Estatístico de Energia Elétrica 2025: participação por fonte na geração.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terias SIN">
  <a:themeElements>
    <a:clrScheme name="Baterias SIN">
      <a:dk1>
        <a:srgbClr val="0B1A2E"/>
      </a:dk1>
      <a:lt1>
        <a:srgbClr val="FFFFFF"/>
      </a:lt1>
      <a:dk2>
        <a:srgbClr val="12305A"/>
      </a:dk2>
      <a:lt2>
        <a:srgbClr val="EEF3F8"/>
      </a:lt2>
      <a:accent1>
        <a:srgbClr val="F5A524"/>
      </a:accent1>
      <a:accent2>
        <a:srgbClr val="1FB5A8"/>
      </a:accent2>
      <a:accent3>
        <a:srgbClr val="2F6FDE"/>
      </a:accent3>
      <a:accent4>
        <a:srgbClr val="E4572E"/>
      </a:accent4>
      <a:accent5>
        <a:srgbClr val="5B6B80"/>
      </a:accent5>
      <a:accent6>
        <a:srgbClr val="BFE9E4"/>
      </a:accent6>
      <a:hlink>
        <a:srgbClr val="2F6FDE"/>
      </a:hlink>
      <a:folHlink>
        <a:srgbClr val="5B6B80"/>
      </a:folHlink>
    </a:clrScheme>
    <a:fontScheme name="Baterias SI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Transição Energética e a Contribuição das Baterias: Ganho Econômico para o SIN?</dc:title>
  <dc:subject>Economia do Setor Elétrico I</dc:subject>
  <dc:creator>Ronaldo Antonio de Souza</dc:creator>
  <cp:lastModifiedBy>Ronaldo Antonio de Souza</cp:lastModifiedBy>
  <cp:revision>1</cp:revision>
  <dcterms:created xsi:type="dcterms:W3CDTF">2026-10-13T20:49:51Z</dcterms:created>
  <dcterms:modified xsi:type="dcterms:W3CDTF">2026-10-13T20:49:51Z</dcterms:modified>
</cp:coreProperties>
</file>