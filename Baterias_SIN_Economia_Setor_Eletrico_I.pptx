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2d14a1a-359c-07cc-bf6c-f406d29c2f44}">
          <p14:sldIdLst>
            <p14:sldId id="256"/>
          </p14:sldIdLst>
        </p14:section>
        <p14:section name="Introdução" id="{ff90a364-07fa-5700-7b24-b3974b2bbdce}">
          <p14:sldIdLst>
            <p14:sldId id="257"/>
            <p14:sldId id="258"/>
            <p14:sldId id="259"/>
            <p14:sldId id="260"/>
            <p14:sldId id="261"/>
          </p14:sldIdLst>
        </p14:section>
        <p14:section name="Objetivos" id="{b145d3b4-46f3-d0bf-b640-bbd0af6ad0a6}">
          <p14:sldIdLst>
            <p14:sldId id="262"/>
            <p14:sldId id="263"/>
          </p14:sldIdLst>
        </p14:section>
        <p14:section name="Método" id="{4a15fffa-de2f-08e4-f8e5-cb8b23b29b9f}">
          <p14:sldIdLst>
            <p14:sldId id="264"/>
            <p14:sldId id="265"/>
            <p14:sldId id="266"/>
            <p14:sldId id="267"/>
          </p14:sldIdLst>
        </p14:section>
        <p14:section name="Análise" id="{7055d899-ff08-dc86-96d3-4e366a1d16da}">
          <p14:sldIdLst>
            <p14:sldId id="268"/>
            <p14:sldId id="269"/>
          </p14:sldIdLst>
        </p14:section>
        <p14:section name="Encargos e benefícios" id="{c464c56f-cfd6-fb6b-75cc-b4faacc37738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Fechamento" id="{452ce5d8-ce11-c07b-94de-08d60050caf0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SIN, domingo 10/08/2025 (GW por hora)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Carga bruta</c:v>
                </c:pt>
              </c:strCache>
            </c:strRef>
          </c:tx>
          <c:spPr>
            <a:solidFill>
              <a:srgbClr val="5B6B80"/>
            </a:solidFill>
            <a:ln w="38100" cap="flat">
              <a:solidFill>
                <a:srgbClr val="5B6B8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6B80"/>
              </a:solidFill>
              <a:ln w="9525" cap="flat">
                <a:solidFill>
                  <a:srgbClr val="5B6B8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65.13</c:v>
                </c:pt>
                <c:pt idx="1">
                  <c:v>61.87</c:v>
                </c:pt>
                <c:pt idx="2">
                  <c:v>59.65</c:v>
                </c:pt>
                <c:pt idx="3">
                  <c:v>58.23</c:v>
                </c:pt>
                <c:pt idx="4">
                  <c:v>57.47</c:v>
                </c:pt>
                <c:pt idx="5">
                  <c:v>56.94</c:v>
                </c:pt>
                <c:pt idx="6">
                  <c:v>56.4</c:v>
                </c:pt>
                <c:pt idx="7">
                  <c:v>56.72</c:v>
                </c:pt>
                <c:pt idx="8">
                  <c:v>57.24</c:v>
                </c:pt>
                <c:pt idx="9">
                  <c:v>58.13</c:v>
                </c:pt>
                <c:pt idx="10">
                  <c:v>59.73</c:v>
                </c:pt>
                <c:pt idx="11">
                  <c:v>60.58</c:v>
                </c:pt>
                <c:pt idx="12">
                  <c:v>58.98</c:v>
                </c:pt>
                <c:pt idx="13">
                  <c:v>56.55</c:v>
                </c:pt>
                <c:pt idx="14">
                  <c:v>55.13</c:v>
                </c:pt>
                <c:pt idx="15">
                  <c:v>56.07</c:v>
                </c:pt>
                <c:pt idx="16">
                  <c:v>60.32</c:v>
                </c:pt>
                <c:pt idx="17">
                  <c:v>68.72</c:v>
                </c:pt>
                <c:pt idx="18">
                  <c:v>78.06</c:v>
                </c:pt>
                <c:pt idx="19">
                  <c:v>78.2</c:v>
                </c:pt>
                <c:pt idx="20">
                  <c:v>76.48</c:v>
                </c:pt>
                <c:pt idx="21">
                  <c:v>74.89</c:v>
                </c:pt>
                <c:pt idx="22">
                  <c:v>71.63</c:v>
                </c:pt>
                <c:pt idx="23">
                  <c:v>67.38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MMGD</c:v>
                </c:pt>
              </c:strCache>
            </c:strRef>
          </c:tx>
          <c:spPr>
            <a:solidFill>
              <a:srgbClr val="F5A524"/>
            </a:solidFill>
            <a:ln w="38100" cap="flat">
              <a:solidFill>
                <a:srgbClr val="F5A52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5A524"/>
              </a:solidFill>
              <a:ln w="9525" cap="flat">
                <a:solidFill>
                  <a:srgbClr val="F5A52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0.11</c:v>
                </c:pt>
                <c:pt idx="6">
                  <c:v>1.49</c:v>
                </c:pt>
                <c:pt idx="7">
                  <c:v>6.02</c:v>
                </c:pt>
                <c:pt idx="8">
                  <c:v>12.12</c:v>
                </c:pt>
                <c:pt idx="9">
                  <c:v>17.51</c:v>
                </c:pt>
                <c:pt idx="10">
                  <c:v>21.45</c:v>
                </c:pt>
                <c:pt idx="11">
                  <c:v>23.35</c:v>
                </c:pt>
                <c:pt idx="12">
                  <c:v>23.22</c:v>
                </c:pt>
                <c:pt idx="13">
                  <c:v>21.08</c:v>
                </c:pt>
                <c:pt idx="14">
                  <c:v>17.22</c:v>
                </c:pt>
                <c:pt idx="15">
                  <c:v>11.97</c:v>
                </c:pt>
                <c:pt idx="16">
                  <c:v>6</c:v>
                </c:pt>
                <c:pt idx="17">
                  <c:v>1.32</c:v>
                </c:pt>
                <c:pt idx="18">
                  <c:v>0.06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Carga líquida (bruta − MMGD)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> </c:v>
                  </c:pt>
                  <c:pt idx="2">
                    <c:v>  </c:v>
                  </c:pt>
                  <c:pt idx="3">
                    <c:v>3h</c:v>
                  </c:pt>
                  <c:pt idx="4">
                    <c:v> </c:v>
                  </c:pt>
                  <c:pt idx="5">
                    <c:v>  </c:v>
                  </c:pt>
                  <c:pt idx="6">
                    <c:v>6h</c:v>
                  </c:pt>
                  <c:pt idx="7">
                    <c:v> </c:v>
                  </c:pt>
                  <c:pt idx="8">
                    <c:v>  </c:v>
                  </c:pt>
                  <c:pt idx="9">
                    <c:v>9h</c:v>
                  </c:pt>
                  <c:pt idx="10">
                    <c:v> </c:v>
                  </c:pt>
                  <c:pt idx="11">
                    <c:v>  </c:v>
                  </c:pt>
                  <c:pt idx="12">
                    <c:v>12h</c:v>
                  </c:pt>
                  <c:pt idx="13">
                    <c:v> </c:v>
                  </c:pt>
                  <c:pt idx="14">
                    <c:v>  </c:v>
                  </c:pt>
                  <c:pt idx="15">
                    <c:v>15h</c:v>
                  </c:pt>
                  <c:pt idx="16">
                    <c:v> </c:v>
                  </c:pt>
                  <c:pt idx="17">
                    <c:v>  </c:v>
                  </c:pt>
                  <c:pt idx="18">
                    <c:v>18h</c:v>
                  </c:pt>
                  <c:pt idx="19">
                    <c:v> </c:v>
                  </c:pt>
                  <c:pt idx="20">
                    <c:v>  </c:v>
                  </c:pt>
                  <c:pt idx="21">
                    <c:v>21h</c:v>
                  </c:pt>
                  <c:pt idx="22">
                    <c:v> </c:v>
                  </c:pt>
                  <c:pt idx="23">
                    <c:v>  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65.13</c:v>
                </c:pt>
                <c:pt idx="1">
                  <c:v>61.87</c:v>
                </c:pt>
                <c:pt idx="2">
                  <c:v>59.65</c:v>
                </c:pt>
                <c:pt idx="3">
                  <c:v>58.23</c:v>
                </c:pt>
                <c:pt idx="4">
                  <c:v>57.47</c:v>
                </c:pt>
                <c:pt idx="5">
                  <c:v>56.82</c:v>
                </c:pt>
                <c:pt idx="6">
                  <c:v>54.91</c:v>
                </c:pt>
                <c:pt idx="7">
                  <c:v>50.7</c:v>
                </c:pt>
                <c:pt idx="8">
                  <c:v>45.12</c:v>
                </c:pt>
                <c:pt idx="9">
                  <c:v>40.62</c:v>
                </c:pt>
                <c:pt idx="10">
                  <c:v>38.29</c:v>
                </c:pt>
                <c:pt idx="11">
                  <c:v>37.23</c:v>
                </c:pt>
                <c:pt idx="12">
                  <c:v>35.76</c:v>
                </c:pt>
                <c:pt idx="13">
                  <c:v>35.47</c:v>
                </c:pt>
                <c:pt idx="14">
                  <c:v>37.91</c:v>
                </c:pt>
                <c:pt idx="15">
                  <c:v>44.11</c:v>
                </c:pt>
                <c:pt idx="16">
                  <c:v>54.32</c:v>
                </c:pt>
                <c:pt idx="17">
                  <c:v>67.4</c:v>
                </c:pt>
                <c:pt idx="18">
                  <c:v>78</c:v>
                </c:pt>
                <c:pt idx="19">
                  <c:v>78.2</c:v>
                </c:pt>
                <c:pt idx="20">
                  <c:v>76.48</c:v>
                </c:pt>
                <c:pt idx="21">
                  <c:v>74.89</c:v>
                </c:pt>
                <c:pt idx="22">
                  <c:v>71.63</c:v>
                </c:pt>
                <c:pt idx="23">
                  <c:v>67.38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B1A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Parcela do encargo por fonte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A: hidro e térmicas em P1</c:v>
                </c:pt>
              </c:strCache>
            </c:strRef>
          </c:tx>
          <c:spPr>
            <a:solidFill>
              <a:srgbClr val="2F6FD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Hidrelétricas</c:v>
                  </c:pt>
                  <c:pt idx="1">
                    <c:v>Eólicas</c:v>
                  </c:pt>
                  <c:pt idx="2">
                    <c:v>Solares</c:v>
                  </c:pt>
                  <c:pt idx="3">
                    <c:v>Térmicas e biomassa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62.3</c:v>
                </c:pt>
                <c:pt idx="1">
                  <c:v>17.9</c:v>
                </c:pt>
                <c:pt idx="2">
                  <c:v>5.3</c:v>
                </c:pt>
                <c:pt idx="3">
                  <c:v>14.5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B: distribuídas entre P1 e P4</c:v>
                </c:pt>
              </c:strCache>
            </c:strRef>
          </c:tx>
          <c:spPr>
            <a:solidFill>
              <a:srgbClr val="F5A5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Hidrelétricas</c:v>
                  </c:pt>
                  <c:pt idx="1">
                    <c:v>Eólicas</c:v>
                  </c:pt>
                  <c:pt idx="2">
                    <c:v>Solares</c:v>
                  </c:pt>
                  <c:pt idx="3">
                    <c:v>Térmicas e biomassa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54.6</c:v>
                </c:pt>
                <c:pt idx="1">
                  <c:v>25.2</c:v>
                </c:pt>
                <c:pt idx="2">
                  <c:v>7.5</c:v>
                </c:pt>
                <c:pt idx="3">
                  <c:v>12.7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C: hidro e térmicas em P4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Hidrelétricas</c:v>
                  </c:pt>
                  <c:pt idx="1">
                    <c:v>Eólicas</c:v>
                  </c:pt>
                  <c:pt idx="2">
                    <c:v>Solares</c:v>
                  </c:pt>
                  <c:pt idx="3">
                    <c:v>Térmicas e biomassa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36.7</c:v>
                </c:pt>
                <c:pt idx="1">
                  <c:v>42.2</c:v>
                </c:pt>
                <c:pt idx="2">
                  <c:v>12.5</c:v>
                </c:pt>
                <c:pt idx="3">
                  <c:v>8.6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B1A2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A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A2E"/>
                </a:solidFill>
                <a:latin typeface="+mn-lt"/>
              </a:rPr>
              <a:t>Benefício anual estimado (R$ bilhões)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Benefício estimado (R$ bi/ano)</c:v>
                </c:pt>
              </c:strCache>
            </c:strRef>
          </c:tx>
          <c:spPr>
            <a:solidFill>
              <a:srgbClr val="1FB5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B1A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4,5 GW (Volt Robotics e ABSAE)</c:v>
                  </c:pt>
                  <c:pt idx="1">
                    <c:v>Até 6 GW (ABSAE e Volt Robotics)</c:v>
                  </c:pt>
                  <c:pt idx="2">
                    <c:v>2 GW (ABSAE)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8.9</c:v>
                </c:pt>
                <c:pt idx="1">
                  <c:v>6</c:v>
                </c:pt>
                <c:pt idx="2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B1A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A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D5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tema, disciplina e identificação. A pergunta central é, para cada fonte (eólicas, solares e UHEs), se o ganho com menos cortes compensa o encargo das baterias.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mostram a escala do problema. Os valores de curtailment e perdas vêm de fontes setoriais e variam por metodologia; a faixa de MMGD é a do caderno do PDE 2034.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Cadeia causal: MMGD solar reduz a carga líquida ao meio-dia, hidrelétricas e térmicas já estão no mínimo, o excedente força o corte de eólicas e UFVs, e ao pôr do sol há rampa. A bateria desloca a energia do excedente para a ponta.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Curva real do SIN em 10/08/2025, um domingo e o dia do episódio de excedente citado pelo setor. Os dados são os dados abertos do ONS em base horária: a carga vem do balanço de energia nos subsistemas (linha SIN), e a MMGD é a modalidade 'Pequenas Usinas (MMGD)' do conjunto de geração por usina, que é uma estimativa do ONS. A soma de MMGD e solar centralizada reproduz a geração solar do balanço, e a geração total reproduz a carga, o que indica que a carga do ONS é a carga bruta, incluindo a parcela atendida pela MMGD. Carga líquida = carga bruta menos MMGD, que é a definição da EPE; a versão ampla também desconta eólica e solar centralizada. Resultados do dia: MMGD de 23,2 GW às 12h, equivalente a 39,4% da carga de 59,0 GW; carga líquida mínima de 35,5 GW às 13h e máxima de 78,2 GW às 19h; rampa de 33,9 GW entre 15h e 18h. A solar centralizada gerou 0,5 GW às 12h, contra 7,3 GW na média de agosto. A média de agosto/2025 (31 dias) mostra o mesmo formato, com carga líquida de 51,9 GW às 12h e 87,8 GW às 18h.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combina perda econômica já observada, uma janela de decisão regulatória (leilão de baterias) e uma lacuna analítica: ninguém mostrou, fonte a fonte, se o ganho com menos cortes compensa o encargo.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agora é fonte a fonte: para eólicas, solares e UHEs, o ganho com menos cortes supera o encargo que cada uma pagará pelas baterias? A hipótese H1 vale para cada fonte i. Os percentuais de corte são do 3º trimestre de 2025 (BTG); o dado da Abrage cobre 2022 a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geral responde à pergunta de pesquisa: para cada fonte, o ganho com menos cortes (receita adicional) supera o encargo da receita fixa das baterias?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objetivos formam uma cadeia, sempre fonte a fonte: geração evitada de corte (OE1), ganho (OE2), encargo (OE3), comparação (OE4) e sensibilidade (OE5).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escopo agora se limita às três fontes da pergunta: eólicas, UFVs centralizadas e UHEs. As térmicas e a biomassa também pagam encargo, mas só são reportadas. As premissas ainda a definir incluem a receita fixa, que depende do deságio do leilão.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em serpentina: a etapa 1 gera a linha de base sem baterias; a etapa 2 repete as simulações com baterias em níveis crescentes de MMGD; a etapa 3 mede a geração evitada de corte de cada fonte, valora o ganho, estima o encargo pela regra de rateio e calcula o saldo de cada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3 x 2, avaliada sob três regras de rateio (R1 a R3). A faixa de 47 a 71 GW com referência de 59 GW é a do caderno de MMGD do PDE 2034 e serve de ordem de grandeza; os valores finais dependem do ano-horizonte escolhido.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objetivo específico tem uma variável, uma unidade e um critério de comparação definidos, sempre por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cada fonte i, compara-se o ganho (geração evitada de corte vezes preço) com o encargo (receita fixa vezes a parcela da fonte). A razão ganho sobre encargo maior ou igual a 1 indica vantagem. O ponto de equilíbrio é a geração evitada de corte mínima para pagar o encargo: encargo dividido pelo preço. Como o rateio usa a energia associada, quem gera mais paga mais, e isso entra no cálculo.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Entregas, contribuição e limitações do estudo. A receita fixa depende do deságio do leilão de dezembro de 2026, e o ressarcimento de cortes da Lei 15.269 pode reduzir o ganho incremental.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Pela Lei 15.269/2025, o custo das baterias é rateado só entre geradores; a ANEEL regulamenta a divisão. A regra ainda está em consulta pública e há projetos de lei para incluir os consumidores. A data da Portaria 136/2026 varia entre as fontes (início de junho de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vencedor recebe receita fixa, e o conjunto de receitas mais a energia de recarga forma o encargo Ercap-SAE, que a lei manda ratear entre os geradores. As penalidades são as da minuta em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patamares (100%, 75%, 50% e 25%) são da proposta da área técnica em consulta pública; podem mudar. Segundo resumos da nota técnica, valem para todas as classes de geração, e eólicas e solares entram inicialmente no P1. Os critérios de cada patamar não foram localizados. Os cenários de rateio R1 a R3 alimentam a análise de sensibilidade do OE4 e do OE5.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parcela de cada fonte é o peso dela (geração x coeficiente) dividido pela soma dos pesos. Eólicas e solares ficam em P1. Hidrelétricas e térmicas recebem o mesmo k em cada cenário, porque não há classificação por usina. A base é a geração centralizada de 2025 (CCEE/EPE), que separa eólicas e solares.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Tabela completa do cálculo, com eólicas e solares separadas. No cenário A todos os coeficientes são 1, então as parcelas coincidem com a participação na geração. Nos cenários B e C, reduzir k das hidrelétricas e térmicas diminui a soma dos pesos e aumenta a parcela de eólicas e solares, que ficam em P1.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colunas A, B e C somam R$ 1.000 milhões em cada cenário. A conversão é direta: parcela em % multiplicada por 10 dá o valor em R$ milhões por R$ 1 bilhão de receita fixa. As limitações indicam por que o resultado é só uma ordem de grandeza.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ilustrativo, não é a regra oficial. Parcela da fonte = geração x coeficiente, dividida pela soma dos pesos. Eólicas e solares ficam em P1 (100%), como na proposta. Hidrelétricas e térmicas recebem o mesmo coeficiente k em cada cenário. A: k = 100%, equivalente ao rateio universal. B: k = 62,5%, média simples dos quatro patamares. C: k = 25%, todas em P4. Os pesos e somas de cada cenário estão nos slides de memória de cálculo. Limitações: os critérios de cada patamar não foram localizados; 'térmicas e biomassa' agrupa fontes com flexibilidades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são de estudos do setor (ABSAE e Volt Robotics) e variam entre R$ 3 e R$ 9 bilhões por ano conforme a potência e as premissas. Não são resultados do nosso trabalho; servem de ordem de grandeza para comparar com o encargo.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organiza as hipóteses por fonte. Eólicas e solares partem do patamar mais alto, mas têm o maior corte a evitar. As UHEs dependem do patamar em que forem classificadas e ganham em menos corte e mais água armazenada. As térmicas e a biomassa só são reportadas.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problema, pergunta, método e resposta esperada, em uma linha 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Algumas fontes são imprensa e consultorias setoriais; vale conferir os dados nas fontes primárias (ONS, EPE, ANEEL)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S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ll 1"/>
          <p:cNvSpPr/>
          <p:nvPr/>
        </p:nvSpPr>
        <p:spPr>
          <a:xfrm>
            <a:off x="850392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Cell level 1"/>
          <p:cNvSpPr/>
          <p:nvPr/>
        </p:nvSpPr>
        <p:spPr>
          <a:xfrm>
            <a:off x="8503920" y="3877056"/>
            <a:ext cx="640080" cy="1152144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ell 2"/>
          <p:cNvSpPr/>
          <p:nvPr/>
        </p:nvSpPr>
        <p:spPr>
          <a:xfrm>
            <a:off x="932688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ell level 2"/>
          <p:cNvSpPr/>
          <p:nvPr/>
        </p:nvSpPr>
        <p:spPr>
          <a:xfrm>
            <a:off x="9326880" y="3218688"/>
            <a:ext cx="640080" cy="1810512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ell 3"/>
          <p:cNvSpPr/>
          <p:nvPr/>
        </p:nvSpPr>
        <p:spPr>
          <a:xfrm>
            <a:off x="1014984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ell level 3"/>
          <p:cNvSpPr/>
          <p:nvPr/>
        </p:nvSpPr>
        <p:spPr>
          <a:xfrm>
            <a:off x="10149840" y="2560320"/>
            <a:ext cx="640080" cy="24688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ell 4"/>
          <p:cNvSpPr/>
          <p:nvPr/>
        </p:nvSpPr>
        <p:spPr>
          <a:xfrm>
            <a:off x="10972800" y="1737360"/>
            <a:ext cx="640080" cy="329184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Cell level 4"/>
          <p:cNvSpPr/>
          <p:nvPr/>
        </p:nvSpPr>
        <p:spPr>
          <a:xfrm>
            <a:off x="10972800" y="1901952"/>
            <a:ext cx="640080" cy="31272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Economia do Setor Elétrico 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173736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Transição Energética e a Contribuição das Baterias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490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fontes ganham mais do que pagam?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29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Aluno: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Ronaldo Antonio de Souza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Professor: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Nivalde de Castro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Contexto: o SIN já corta energia renovável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micro e minigeração distribuída (MMGD) cresce, a carga líquida do meio do dia cai e a geração centralizada precisa ser cortada.</a:t>
            </a:r>
            <a:endParaRPr lang="en-US" sz="1600" dirty="0"/>
          </a:p>
        </p:txBody>
      </p:sp>
      <p:sp>
        <p:nvSpPr>
          <p:cNvPr id="4" name="Stat card 1"/>
          <p:cNvSpPr/>
          <p:nvPr/>
        </p:nvSpPr>
        <p:spPr>
          <a:xfrm>
            <a:off x="54864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5" name="Icon circle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mage 0" descr="Fa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56489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geração eólica e solar disponível não foi aproveitada em 2025</a:t>
            </a:r>
            <a:endParaRPr lang="en-US" sz="1400" dirty="0"/>
          </a:p>
        </p:txBody>
      </p:sp>
      <p:sp>
        <p:nvSpPr>
          <p:cNvPr id="9" name="Stat card 2"/>
          <p:cNvSpPr/>
          <p:nvPr/>
        </p:nvSpPr>
        <p:spPr>
          <a:xfrm>
            <a:off x="338328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5648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 bi+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perdas estimadas dos geradores eólicos e solares com cortes em 2025</a:t>
            </a:r>
            <a:endParaRPr lang="en-US" sz="1400" dirty="0"/>
          </a:p>
        </p:txBody>
      </p:sp>
      <p:sp>
        <p:nvSpPr>
          <p:cNvPr id="14" name="Stat card 3"/>
          <p:cNvSpPr/>
          <p:nvPr/>
        </p:nvSpPr>
        <p:spPr>
          <a:xfrm>
            <a:off x="621792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2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972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36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 carga atendida pela MMGD em 10/08/2025, com UHEs e UTEs no mínimo técnico</a:t>
            </a:r>
            <a:endParaRPr lang="en-US" sz="1400" dirty="0"/>
          </a:p>
        </p:txBody>
      </p:sp>
      <p:sp>
        <p:nvSpPr>
          <p:cNvPr id="19" name="Stat card 4"/>
          <p:cNvSpPr/>
          <p:nvPr/>
        </p:nvSpPr>
        <p:spPr>
          <a:xfrm>
            <a:off x="9052560" y="214884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8612" y="25648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26880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47–71 GW</a:t>
            </a:r>
            <a:endParaRPr lang="en-US" sz="3600" dirty="0"/>
          </a:p>
        </p:txBody>
      </p:sp>
      <p:sp>
        <p:nvSpPr>
          <p:cNvPr id="23" name="Text 17"/>
          <p:cNvSpPr txBox="1"/>
          <p:nvPr/>
        </p:nvSpPr>
        <p:spPr>
          <a:xfrm>
            <a:off x="9326880" y="41148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MMGD projetados pela EPE para 2034 (referência: 59 GW)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 (2025); Acende Brasil (2025); Volts Robotics via Agência Infra (2025); EPE/MME, PDE 2034, Caderno MMGD e Baterias (2024). Estimativas de cortes variam conforme a metodologia.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a MMGD leva ao curtailment</a:t>
            </a:r>
            <a:endParaRPr lang="en-US" sz="3200" dirty="0"/>
          </a:p>
        </p:txBody>
      </p:sp>
      <p:sp>
        <p:nvSpPr>
          <p:cNvPr id="3" name="Chain step 1"/>
          <p:cNvSpPr/>
          <p:nvPr/>
        </p:nvSpPr>
        <p:spPr>
          <a:xfrm>
            <a:off x="548640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Fa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MMGD solar cresce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Geração distribuída fora do controle do ONS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Chain step 2"/>
          <p:cNvSpPr/>
          <p:nvPr/>
        </p:nvSpPr>
        <p:spPr>
          <a:xfrm>
            <a:off x="2825496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3054096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2" name="Image 1" descr="FaChar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9202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Carga líquida cai ao meio-dia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Demanda a ser atendida pela rede diminui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Chain step 3"/>
          <p:cNvSpPr/>
          <p:nvPr/>
        </p:nvSpPr>
        <p:spPr>
          <a:xfrm>
            <a:off x="5102352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5330952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9" name="Image 2" descr="FaWa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92024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UHEs e UTEs no mínimo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Sem margem para reduzir a geração despachável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Chain step 4"/>
          <p:cNvSpPr/>
          <p:nvPr/>
        </p:nvSpPr>
        <p:spPr>
          <a:xfrm>
            <a:off x="7379208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 circle"/>
          <p:cNvSpPr/>
          <p:nvPr/>
        </p:nvSpPr>
        <p:spPr>
          <a:xfrm>
            <a:off x="7607808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6" name="Image 3" descr="Fa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92024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Corte de eólicas e UFVs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Curtailment: energia disponível e desperdiçada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2034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Chain step 5"/>
          <p:cNvSpPr/>
          <p:nvPr/>
        </p:nvSpPr>
        <p:spPr>
          <a:xfrm>
            <a:off x="9656064" y="1554480"/>
            <a:ext cx="1965960" cy="233172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Icon circle"/>
          <p:cNvSpPr/>
          <p:nvPr/>
        </p:nvSpPr>
        <p:spPr>
          <a:xfrm>
            <a:off x="9884664" y="178308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3" name="Image 4" descr="FaFi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92024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468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Rampa no fim da tarde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108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Sol se põe e térmicas são acionadas</a:t>
            </a:r>
            <a:endParaRPr lang="en-US" sz="1400" dirty="0"/>
          </a:p>
        </p:txBody>
      </p:sp>
      <p:sp>
        <p:nvSpPr>
          <p:cNvPr id="37" name="BESS panel"/>
          <p:cNvSpPr/>
          <p:nvPr/>
        </p:nvSpPr>
        <p:spPr>
          <a:xfrm>
            <a:off x="548640" y="4251960"/>
            <a:ext cx="11094415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Icon circle"/>
          <p:cNvSpPr/>
          <p:nvPr/>
        </p:nvSpPr>
        <p:spPr>
          <a:xfrm>
            <a:off x="914400" y="49377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9" name="Image 5" descr="FaBatteryFu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5120640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920240" y="4526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bateria (BESS) quebra a cadeia no passo 3</a:t>
            </a:r>
            <a:endParaRPr lang="en-US" sz="2000" dirty="0"/>
          </a:p>
        </p:txBody>
      </p:sp>
      <p:sp>
        <p:nvSpPr>
          <p:cNvPr id="41" name="Text 33"/>
          <p:cNvSpPr txBox="1"/>
          <p:nvPr/>
        </p:nvSpPr>
        <p:spPr>
          <a:xfrm>
            <a:off x="1920240" y="5074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Absorve o excedente do meio-dia e devolve a energia na ponta do início da noite.</a:t>
            </a:r>
            <a:endParaRPr lang="en-US" sz="1600" dirty="0"/>
          </a:p>
        </p:txBody>
      </p:sp>
      <p:sp>
        <p:nvSpPr>
          <p:cNvPr id="42" name="Effect circle"/>
          <p:cNvSpPr/>
          <p:nvPr/>
        </p:nvSpPr>
        <p:spPr>
          <a:xfrm>
            <a:off x="77724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3" name="Image 6" descr="Menos curtailm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2420" y="4732020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4980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curtailment</a:t>
            </a:r>
            <a:endParaRPr lang="en-US" sz="1300" dirty="0"/>
          </a:p>
        </p:txBody>
      </p:sp>
      <p:sp>
        <p:nvSpPr>
          <p:cNvPr id="45" name="Effect circle"/>
          <p:cNvSpPr/>
          <p:nvPr/>
        </p:nvSpPr>
        <p:spPr>
          <a:xfrm>
            <a:off x="91440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Image 7" descr="Menos térmica na ramp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4020" y="4732020"/>
            <a:ext cx="274320" cy="27432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88696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térmica na rampa</a:t>
            </a:r>
            <a:endParaRPr lang="en-US" sz="1300" dirty="0"/>
          </a:p>
        </p:txBody>
      </p:sp>
      <p:sp>
        <p:nvSpPr>
          <p:cNvPr id="48" name="Effect circle"/>
          <p:cNvSpPr/>
          <p:nvPr/>
        </p:nvSpPr>
        <p:spPr>
          <a:xfrm>
            <a:off x="10515600" y="45720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8" descr="Mais água nos reservatório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75620" y="4732020"/>
            <a:ext cx="274320" cy="274320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10241280" y="53035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Mais água nos reservatórios</a:t>
            </a:r>
            <a:endParaRPr lang="en-US" sz="1300" dirty="0"/>
          </a:p>
        </p:txBody>
      </p:sp>
      <p:sp>
        <p:nvSpPr>
          <p:cNvPr id="51" name="Text 40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ONS, RT DGL-ONS 0189/2025; Acende Brasil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curva do pato no SIN: domingo, 10/08/2025</a:t>
            </a:r>
            <a:endParaRPr lang="en-US" sz="3200" dirty="0"/>
          </a:p>
        </p:txBody>
      </p:sp>
      <p:sp>
        <p:nvSpPr>
          <p:cNvPr id="3" name="Duck chart card"/>
          <p:cNvSpPr/>
          <p:nvPr/>
        </p:nvSpPr>
        <p:spPr>
          <a:xfrm>
            <a:off x="548640" y="1371600"/>
            <a:ext cx="6675120" cy="402336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685800" y="146304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Duck stat 1"/>
          <p:cNvSpPr/>
          <p:nvPr/>
        </p:nvSpPr>
        <p:spPr>
          <a:xfrm>
            <a:off x="7498080" y="1371600"/>
            <a:ext cx="4144975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6" name="Duck stat tag 1"/>
          <p:cNvSpPr/>
          <p:nvPr/>
        </p:nvSpPr>
        <p:spPr>
          <a:xfrm>
            <a:off x="7680960" y="1600200"/>
            <a:ext cx="1417320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1600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281160" y="1463040"/>
            <a:ext cx="2179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 carga às 12h foi atendida pela MMGD: 23,2 de 59,0 GW.</a:t>
            </a:r>
            <a:endParaRPr lang="en-US" sz="1300" dirty="0"/>
          </a:p>
        </p:txBody>
      </p:sp>
      <p:sp>
        <p:nvSpPr>
          <p:cNvPr id="9" name="Duck stat 2"/>
          <p:cNvSpPr/>
          <p:nvPr/>
        </p:nvSpPr>
        <p:spPr>
          <a:xfrm>
            <a:off x="7498080" y="2743200"/>
            <a:ext cx="4144975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Duck stat tag 2"/>
          <p:cNvSpPr/>
          <p:nvPr/>
        </p:nvSpPr>
        <p:spPr>
          <a:xfrm>
            <a:off x="7680960" y="2971800"/>
            <a:ext cx="1417320" cy="777240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29718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+34 GW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281160" y="2834640"/>
            <a:ext cx="2179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rampa da carga líquida em 3 h, das 15h às 18h (de 44,1 para 78,0 GW).</a:t>
            </a:r>
            <a:endParaRPr lang="en-US" sz="1300" dirty="0"/>
          </a:p>
        </p:txBody>
      </p:sp>
      <p:sp>
        <p:nvSpPr>
          <p:cNvPr id="13" name="Duck stat 3"/>
          <p:cNvSpPr/>
          <p:nvPr/>
        </p:nvSpPr>
        <p:spPr>
          <a:xfrm>
            <a:off x="7498080" y="4114800"/>
            <a:ext cx="4144975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Duck stat tag 3"/>
          <p:cNvSpPr/>
          <p:nvPr/>
        </p:nvSpPr>
        <p:spPr>
          <a:xfrm>
            <a:off x="7680960" y="4343400"/>
            <a:ext cx="1417320" cy="777240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680960" y="43434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 GW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281160" y="4206240"/>
            <a:ext cx="2179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geraram as solares centralizadas às 12h, contra 7,3 GW na média de agosto: o excedente forçou cortes.</a:t>
            </a:r>
            <a:endParaRPr lang="en-US" sz="1300" dirty="0"/>
          </a:p>
        </p:txBody>
      </p:sp>
      <p:sp>
        <p:nvSpPr>
          <p:cNvPr id="17" name="Duck formula banner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5321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Carga líquida = carga bruta − MMGD.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versão ampla também subtrai eólica e solar centralizada. Na média de agosto/2025, a MMGD chegou a 22,4 GW ao meio-dia e a carga líquida foi de 51,9 GW (12h) a 87,8 GW (18h).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Fonte: elaboração própria com dados abertos do ONS (balanço de energia e geração por usina, base horária, 2025); MMGD estimada pelo ONS; definição da EPE (2026).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Justificativa: por que estudar agora</a:t>
            </a:r>
            <a:endParaRPr lang="en-US" sz="3200" dirty="0"/>
          </a:p>
        </p:txBody>
      </p:sp>
      <p:sp>
        <p:nvSpPr>
          <p:cNvPr id="3" name="Justification card 1"/>
          <p:cNvSpPr/>
          <p:nvPr/>
        </p:nvSpPr>
        <p:spPr>
          <a:xfrm>
            <a:off x="548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Perda econômica real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Cortes custaram mais de R$ 6 bi a eólicas e solares em 2025, e o debate de ressarcimento segue aberto.</a:t>
            </a:r>
            <a:endParaRPr lang="en-US" sz="1400" dirty="0"/>
          </a:p>
        </p:txBody>
      </p:sp>
      <p:sp>
        <p:nvSpPr>
          <p:cNvPr id="8" name="Justification card 2"/>
          <p:cNvSpPr/>
          <p:nvPr/>
        </p:nvSpPr>
        <p:spPr>
          <a:xfrm>
            <a:off x="6263640" y="146304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6537960" y="17373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FaGav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1907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Janela de política pública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24028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Primeiro leilão de armazenamento (LRCAP) em dez/2026, com início de suprimento em ago/2028.</a:t>
            </a:r>
            <a:endParaRPr lang="en-US" sz="1400" dirty="0"/>
          </a:p>
        </p:txBody>
      </p:sp>
      <p:sp>
        <p:nvSpPr>
          <p:cNvPr id="13" name="Justification card 3"/>
          <p:cNvSpPr/>
          <p:nvPr/>
        </p:nvSpPr>
        <p:spPr>
          <a:xfrm>
            <a:off x="548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22960" y="3840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0005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91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paga as baterias?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691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Lei 15.269/2025 prevê rateio do custo entre geradores. O PL 3.716/2026 propõe mudar a regra.</a:t>
            </a:r>
            <a:endParaRPr lang="en-US" sz="1400" dirty="0"/>
          </a:p>
        </p:txBody>
      </p:sp>
      <p:sp>
        <p:nvSpPr>
          <p:cNvPr id="18" name="Justification card 4"/>
          <p:cNvSpPr/>
          <p:nvPr/>
        </p:nvSpPr>
        <p:spPr>
          <a:xfrm>
            <a:off x="6263640" y="356616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537960" y="384048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00050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8221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Flexibilidade operativa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BESS desloca energia para a ponta, pode reduzir o despacho térmico e preservar água nos reservatórios.</a:t>
            </a:r>
            <a:endParaRPr lang="en-US" sz="1400" dirty="0"/>
          </a:p>
        </p:txBody>
      </p:sp>
      <p:sp>
        <p:nvSpPr>
          <p:cNvPr id="23" name="Gap banner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68680" y="5577840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Lacuna: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falta saber, fonte a fonte, se o ganho com menos cortes compensa o encargo das baterias.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Agência Infra (2025); ePowerBay (2026) sobre o LRCAP; TAGD Law (2026) sobre a Lei 15.269/2025 e o PL 3.716/2026.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Problema de pesquisa e hipóteses</a:t>
            </a:r>
            <a:endParaRPr lang="en-US" sz="3200" dirty="0"/>
          </a:p>
        </p:txBody>
      </p:sp>
      <p:sp>
        <p:nvSpPr>
          <p:cNvPr id="3" name="Question card"/>
          <p:cNvSpPr/>
          <p:nvPr/>
        </p:nvSpPr>
        <p:spPr>
          <a:xfrm>
            <a:off x="548640" y="1463040"/>
            <a:ext cx="4754880" cy="4663440"/>
          </a:xfrm>
          <a:prstGeom prst="roundRect">
            <a:avLst>
              <a:gd name="adj" fmla="val 23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1"/>
                </a:solidFill>
              </a:rPr>
              <a:t>PERGUNTA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06040"/>
            <a:ext cx="4023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cada fonte (eólicas, solares e UHEs), o ganho com o aumento de geração, por deixar de ser cortada, é maior que o encargo que ela pagará pelas baterias?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Ganho = receita da energia que deixa de ser cortada. Encargo = parcela da receita fixa das baterias.</a:t>
            </a:r>
            <a:endParaRPr lang="en-US" sz="1400" dirty="0"/>
          </a:p>
        </p:txBody>
      </p:sp>
      <p:sp>
        <p:nvSpPr>
          <p:cNvPr id="9" name="Source card 1"/>
          <p:cNvSpPr/>
          <p:nvPr/>
        </p:nvSpPr>
        <p:spPr>
          <a:xfrm>
            <a:off x="5577840" y="1463040"/>
            <a:ext cx="6065215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5852160" y="1764792"/>
            <a:ext cx="585216" cy="5852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FaWi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1911096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675120" y="155448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Eólicas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1965960"/>
            <a:ext cx="4785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Cortes de 20,4% no 3º trimestre de 2025. O encargo parte do patamar P1 (100%).</a:t>
            </a:r>
            <a:endParaRPr lang="en-US" sz="1400" dirty="0"/>
          </a:p>
        </p:txBody>
      </p:sp>
      <p:sp>
        <p:nvSpPr>
          <p:cNvPr id="14" name="Source card 2"/>
          <p:cNvSpPr/>
          <p:nvPr/>
        </p:nvSpPr>
        <p:spPr>
          <a:xfrm>
            <a:off x="5577840" y="2788920"/>
            <a:ext cx="6065215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5852160" y="3090672"/>
            <a:ext cx="585216" cy="5852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Fa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4" y="3236976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75120" y="288036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Solares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675120" y="3291840"/>
            <a:ext cx="4785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Maior corte: 34,1% no 3º trimestre de 2025, com peso de 5,3% na geração. O encargo parte do P1.</a:t>
            </a:r>
            <a:endParaRPr lang="en-US" sz="1400" dirty="0"/>
          </a:p>
        </p:txBody>
      </p:sp>
      <p:sp>
        <p:nvSpPr>
          <p:cNvPr id="19" name="Source card 3"/>
          <p:cNvSpPr/>
          <p:nvPr/>
        </p:nvSpPr>
        <p:spPr>
          <a:xfrm>
            <a:off x="5577840" y="4114800"/>
            <a:ext cx="6065215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0" name="Icon circle"/>
          <p:cNvSpPr/>
          <p:nvPr/>
        </p:nvSpPr>
        <p:spPr>
          <a:xfrm>
            <a:off x="5852160" y="4416552"/>
            <a:ext cx="585216" cy="58521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3" descr="FaWa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4" y="4562856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675120" y="420624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UHEs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675120" y="4617720"/>
            <a:ext cx="4785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Responderam por 86% dos cortes obrigatórios de 2022 a 2024. O encargo depende do patamar de flexibilidade.</a:t>
            </a:r>
            <a:endParaRPr lang="en-US" sz="1400" dirty="0"/>
          </a:p>
        </p:txBody>
      </p:sp>
      <p:sp>
        <p:nvSpPr>
          <p:cNvPr id="24" name="Hypothesis banner"/>
          <p:cNvSpPr/>
          <p:nvPr/>
        </p:nvSpPr>
        <p:spPr>
          <a:xfrm>
            <a:off x="5577840" y="5440680"/>
            <a:ext cx="6065215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852160" y="5440680"/>
            <a:ext cx="5516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H1 (fonte i):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ganho ≥ encargo. 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H0: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ganho &lt; encargo.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BTG Pactual via NeoFeed (2025); CCEE/EPE (2026); Abrage (2025); NT 101/2026 da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Objetivo geral</a:t>
            </a:r>
            <a:endParaRPr lang="en-US" sz="3200" dirty="0"/>
          </a:p>
        </p:txBody>
      </p:sp>
      <p:sp>
        <p:nvSpPr>
          <p:cNvPr id="3" name="General objective card"/>
          <p:cNvSpPr/>
          <p:nvPr/>
        </p:nvSpPr>
        <p:spPr>
          <a:xfrm>
            <a:off x="548640" y="1417320"/>
            <a:ext cx="11094415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914400" y="19659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508760"/>
            <a:ext cx="92656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Verificar, para cada fonte (eólicas, UFVs centralizadas e UHEs), se a receita adicional obtida com a redução dos cortes de geração, após a inserção de baterias, é maior que o encargo que a fonte pagará pela receita fixa do LRCAP armazenamento.</a:t>
            </a:r>
            <a:endParaRPr lang="en-US" sz="2100" dirty="0"/>
          </a:p>
        </p:txBody>
      </p:sp>
      <p:sp>
        <p:nvSpPr>
          <p:cNvPr id="7" name="Objective breakdown 1"/>
          <p:cNvSpPr/>
          <p:nvPr/>
        </p:nvSpPr>
        <p:spPr>
          <a:xfrm>
            <a:off x="548640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Icon circle"/>
          <p:cNvSpPr/>
          <p:nvPr/>
        </p:nvSpPr>
        <p:spPr>
          <a:xfrm>
            <a:off x="822960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Fa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2062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O QUÊ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Ganho com menos cortes em confronto com o encargo, fonte a fonte.</a:t>
            </a:r>
            <a:endParaRPr lang="en-US" sz="1400" dirty="0"/>
          </a:p>
        </p:txBody>
      </p:sp>
      <p:sp>
        <p:nvSpPr>
          <p:cNvPr id="12" name="Objective breakdown 2"/>
          <p:cNvSpPr/>
          <p:nvPr/>
        </p:nvSpPr>
        <p:spPr>
          <a:xfrm>
            <a:off x="4334256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4608576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42062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40096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COMO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608576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Simulações horárias sem e com baterias (NE e SE, 4 h), em níveis de MMGD e regras de rateio.</a:t>
            </a:r>
            <a:endParaRPr lang="en-US" sz="1400" dirty="0"/>
          </a:p>
        </p:txBody>
      </p:sp>
      <p:sp>
        <p:nvSpPr>
          <p:cNvPr id="17" name="Objective breakdown 3"/>
          <p:cNvSpPr/>
          <p:nvPr/>
        </p:nvSpPr>
        <p:spPr>
          <a:xfrm>
            <a:off x="8119872" y="3840480"/>
            <a:ext cx="352044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8394192" y="4069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3" descr="FaGav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1352" y="42062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25712" y="4069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chemeClr val="accent1"/>
                </a:solidFill>
              </a:rPr>
              <a:t>PARA QUÊ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94192" y="484632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Dizer a cada fonte se as baterias valem o encargo e subsidiar a regra de rateio.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Objetivos específicos</a:t>
            </a:r>
            <a:endParaRPr lang="en-US" sz="3200" dirty="0"/>
          </a:p>
        </p:txBody>
      </p:sp>
      <p:sp>
        <p:nvSpPr>
          <p:cNvPr id="3" name="Specific objective 1"/>
          <p:cNvSpPr/>
          <p:nvPr/>
        </p:nvSpPr>
        <p:spPr>
          <a:xfrm>
            <a:off x="548640" y="1371600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OE tag 1"/>
          <p:cNvSpPr/>
          <p:nvPr/>
        </p:nvSpPr>
        <p:spPr>
          <a:xfrm>
            <a:off x="731520" y="1508760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463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Quantificar a geração evitada de corte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715000" y="1444752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eólicas, UFVs centralizadas e UHEs, com e sem baterias, em cada nível de MMGD.</a:t>
            </a:r>
            <a:endParaRPr lang="en-US" sz="1400" dirty="0"/>
          </a:p>
        </p:txBody>
      </p:sp>
      <p:pic>
        <p:nvPicPr>
          <p:cNvPr id="8" name="Image 0" descr="Quantificar a geração evitada de co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7255" y="1577340"/>
            <a:ext cx="411480" cy="411480"/>
          </a:xfrm>
          <a:prstGeom prst="rect">
            <a:avLst/>
          </a:prstGeom>
        </p:spPr>
      </p:pic>
      <p:sp>
        <p:nvSpPr>
          <p:cNvPr id="9" name="Specific objective 2"/>
          <p:cNvSpPr/>
          <p:nvPr/>
        </p:nvSpPr>
        <p:spPr>
          <a:xfrm>
            <a:off x="548640" y="230428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E tag 2"/>
          <p:cNvSpPr/>
          <p:nvPr/>
        </p:nvSpPr>
        <p:spPr>
          <a:xfrm>
            <a:off x="731520" y="2441448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4414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23957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Valorar o ganho de cada fonte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37744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receita da energia adicional (preço de venda ou PLD) e, nas UHEs, valor da água.</a:t>
            </a:r>
            <a:endParaRPr lang="en-US" sz="1400" dirty="0"/>
          </a:p>
        </p:txBody>
      </p:sp>
      <p:pic>
        <p:nvPicPr>
          <p:cNvPr id="14" name="Image 1" descr="Valorar o ganho de cada fon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2510028"/>
            <a:ext cx="411480" cy="411480"/>
          </a:xfrm>
          <a:prstGeom prst="rect">
            <a:avLst/>
          </a:prstGeom>
        </p:spPr>
      </p:pic>
      <p:sp>
        <p:nvSpPr>
          <p:cNvPr id="15" name="Specific objective 3"/>
          <p:cNvSpPr/>
          <p:nvPr/>
        </p:nvSpPr>
        <p:spPr>
          <a:xfrm>
            <a:off x="548640" y="3236976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OE tag 3"/>
          <p:cNvSpPr/>
          <p:nvPr/>
        </p:nvSpPr>
        <p:spPr>
          <a:xfrm>
            <a:off x="731520" y="3374136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337413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OE3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920240" y="332841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Estimar o encargo de cada fonte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715000" y="3310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parcela da receita fixa das baterias, pelas regras de rateio R1 a R3.</a:t>
            </a:r>
            <a:endParaRPr lang="en-US" sz="1400" dirty="0"/>
          </a:p>
        </p:txBody>
      </p:sp>
      <p:pic>
        <p:nvPicPr>
          <p:cNvPr id="20" name="Image 2" descr="Estimar o encargo de cada fon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3442716"/>
            <a:ext cx="411480" cy="411480"/>
          </a:xfrm>
          <a:prstGeom prst="rect">
            <a:avLst/>
          </a:prstGeom>
        </p:spPr>
      </p:pic>
      <p:sp>
        <p:nvSpPr>
          <p:cNvPr id="21" name="Specific objective 4"/>
          <p:cNvSpPr/>
          <p:nvPr/>
        </p:nvSpPr>
        <p:spPr>
          <a:xfrm>
            <a:off x="548640" y="4169664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OE tag 4"/>
          <p:cNvSpPr/>
          <p:nvPr/>
        </p:nvSpPr>
        <p:spPr>
          <a:xfrm>
            <a:off x="731520" y="4306824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30682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OE4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920240" y="426110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Comparar ganho e encargo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5715000" y="424281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saldo, razão ganho ÷ encargo e ponto de equilíbrio de cada fonte.</a:t>
            </a:r>
            <a:endParaRPr lang="en-US" sz="1400" dirty="0"/>
          </a:p>
        </p:txBody>
      </p:sp>
      <p:pic>
        <p:nvPicPr>
          <p:cNvPr id="26" name="Image 3" descr="Comparar ganho e encarg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4375404"/>
            <a:ext cx="411480" cy="411480"/>
          </a:xfrm>
          <a:prstGeom prst="rect">
            <a:avLst/>
          </a:prstGeom>
        </p:spPr>
      </p:pic>
      <p:sp>
        <p:nvSpPr>
          <p:cNvPr id="27" name="Specific objective 5"/>
          <p:cNvSpPr/>
          <p:nvPr/>
        </p:nvSpPr>
        <p:spPr>
          <a:xfrm>
            <a:off x="548640" y="5102352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OE tag 5"/>
          <p:cNvSpPr/>
          <p:nvPr/>
        </p:nvSpPr>
        <p:spPr>
          <a:xfrm>
            <a:off x="731520" y="5239512"/>
            <a:ext cx="91440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31520" y="5239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OE5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1920240" y="519379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 a sensibilidade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5715000" y="517550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nível de MMGD, regra de rateio, preço de valoração e patamar de flexibilidade.</a:t>
            </a:r>
            <a:endParaRPr lang="en-US" sz="1400" dirty="0"/>
          </a:p>
        </p:txBody>
      </p:sp>
      <p:pic>
        <p:nvPicPr>
          <p:cNvPr id="32" name="Image 4" descr="Testar a sensibilida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5308092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48640" y="6053328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OE1 e OE2 medem o ganho, OE3 mede o custo, OE4 responde à pergunta e OE5 mostra quando a resposta muda.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Escopo e premissas do estudo</a:t>
            </a:r>
            <a:endParaRPr lang="en-US" sz="3200" dirty="0"/>
          </a:p>
        </p:txBody>
      </p:sp>
      <p:sp>
        <p:nvSpPr>
          <p:cNvPr id="3" name="Scope column 1"/>
          <p:cNvSpPr/>
          <p:nvPr/>
        </p:nvSpPr>
        <p:spPr>
          <a:xfrm>
            <a:off x="548640" y="1463040"/>
            <a:ext cx="3520440" cy="4663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eck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do escopo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Fontes: eólicas, UFVs centralizadas e UHEs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 com baterias no Nordeste e Sudeste, 4 h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Simulação horária, sem e com baterias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Ganho: receita da geração que deixa de ser cortada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Encargo: parcela da receita fixa do LRCAP armazenamento</a:t>
            </a:r>
            <a:endParaRPr lang="en-US" sz="1500" dirty="0"/>
          </a:p>
        </p:txBody>
      </p:sp>
      <p:sp>
        <p:nvSpPr>
          <p:cNvPr id="8" name="Scope column 2"/>
          <p:cNvSpPr/>
          <p:nvPr/>
        </p:nvSpPr>
        <p:spPr>
          <a:xfrm>
            <a:off x="4334256" y="1463040"/>
            <a:ext cx="3520440" cy="4663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Premissas a definir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Potência das baterias e receita fixa, conforme o deságio do leilão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Preço de valoração: PLD ou preço do contrato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Regra de rateio (R1 a R3) e patamar P1 a P4 de cada fonte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Cortes sem ressarcimento; Lei 15.269 como sensibilidade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Ano-horizonte e níveis de MMGD (ref.: PDE 2034)</a:t>
            </a:r>
            <a:endParaRPr lang="en-US" sz="1500" dirty="0"/>
          </a:p>
        </p:txBody>
      </p:sp>
      <p:sp>
        <p:nvSpPr>
          <p:cNvPr id="13" name="Scope column 3"/>
          <p:cNvSpPr/>
          <p:nvPr/>
        </p:nvSpPr>
        <p:spPr>
          <a:xfrm>
            <a:off x="8119872" y="1463040"/>
            <a:ext cx="3520440" cy="4663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Times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do escopo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146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Térmicas e biomassa: efeitos apenas reportados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MMGD, que fica fora do rateio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Efeitos sobre a tarifa do consumidor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Dimensionamento ótimo e localização por barra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Baterias atrás do medidor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Referências: requisitos do LRCAP 2026 (ePowerBay, 2026); EPE, PDE 2034, Caderno MMGD e Baterias (2024); NT 101/2026 da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Metodologia: fluxo de simulações</a:t>
            </a:r>
            <a:endParaRPr lang="en-US" sz="3200" dirty="0"/>
          </a:p>
        </p:txBody>
      </p:sp>
      <p:sp>
        <p:nvSpPr>
          <p:cNvPr id="3" name="Lane 1"/>
          <p:cNvSpPr/>
          <p:nvPr/>
        </p:nvSpPr>
        <p:spPr>
          <a:xfrm>
            <a:off x="548640" y="1417320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ETAPA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5" name="Lane 2"/>
          <p:cNvSpPr/>
          <p:nvPr/>
        </p:nvSpPr>
        <p:spPr>
          <a:xfrm>
            <a:off x="548640" y="3044952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44952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 baterias</a:t>
            </a:r>
            <a:endParaRPr lang="en-US" sz="1400" dirty="0"/>
          </a:p>
        </p:txBody>
      </p:sp>
      <p:sp>
        <p:nvSpPr>
          <p:cNvPr id="7" name="Lane 3"/>
          <p:cNvSpPr/>
          <p:nvPr/>
        </p:nvSpPr>
        <p:spPr>
          <a:xfrm>
            <a:off x="548640" y="4672584"/>
            <a:ext cx="1143000" cy="1280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672584"/>
            <a:ext cx="960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ETAPA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Análise</a:t>
            </a:r>
            <a:endParaRPr lang="en-US" sz="1400" dirty="0"/>
          </a:p>
        </p:txBody>
      </p:sp>
      <p:sp>
        <p:nvSpPr>
          <p:cNvPr id="9" name="Step 1"/>
          <p:cNvSpPr/>
          <p:nvPr/>
        </p:nvSpPr>
        <p:spPr>
          <a:xfrm>
            <a:off x="1965960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0" name="Step number 1"/>
          <p:cNvSpPr/>
          <p:nvPr/>
        </p:nvSpPr>
        <p:spPr>
          <a:xfrm>
            <a:off x="2075688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075688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Dados de entrada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Demanda, geração horária por fonte, MMGD de referência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4105656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5" name="Step 2"/>
          <p:cNvSpPr/>
          <p:nvPr/>
        </p:nvSpPr>
        <p:spPr>
          <a:xfrm>
            <a:off x="4453128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16" name="Step number 2"/>
          <p:cNvSpPr/>
          <p:nvPr/>
        </p:nvSpPr>
        <p:spPr>
          <a:xfrm>
            <a:off x="4562856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62856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956048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 de referência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90288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SIN sem baterias, com MMGD de referência</a:t>
            </a:r>
            <a:endParaRPr lang="en-US" sz="1200" dirty="0"/>
          </a:p>
        </p:txBody>
      </p:sp>
      <p:sp>
        <p:nvSpPr>
          <p:cNvPr id="20" name="Arrow"/>
          <p:cNvSpPr/>
          <p:nvPr/>
        </p:nvSpPr>
        <p:spPr>
          <a:xfrm>
            <a:off x="6592824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1" name="Step 3"/>
          <p:cNvSpPr/>
          <p:nvPr/>
        </p:nvSpPr>
        <p:spPr>
          <a:xfrm>
            <a:off x="6940296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2" name="Step number 3"/>
          <p:cNvSpPr/>
          <p:nvPr/>
        </p:nvSpPr>
        <p:spPr>
          <a:xfrm>
            <a:off x="7050024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50024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43216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77456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Despacho hidrotérmico sem baterias</a:t>
            </a:r>
            <a:endParaRPr lang="en-US" sz="1200" dirty="0"/>
          </a:p>
        </p:txBody>
      </p:sp>
      <p:sp>
        <p:nvSpPr>
          <p:cNvPr id="26" name="Arrow"/>
          <p:cNvSpPr/>
          <p:nvPr/>
        </p:nvSpPr>
        <p:spPr>
          <a:xfrm>
            <a:off x="9079992" y="2057400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7" name="Step 4"/>
          <p:cNvSpPr/>
          <p:nvPr/>
        </p:nvSpPr>
        <p:spPr>
          <a:xfrm>
            <a:off x="9427464" y="1417320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8" name="Step number 4"/>
          <p:cNvSpPr/>
          <p:nvPr/>
        </p:nvSpPr>
        <p:spPr>
          <a:xfrm>
            <a:off x="9537192" y="1527048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37192" y="1527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930384" y="15087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sem BESS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64624" y="194767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Geração, curtailment e armazenamento por fonte</a:t>
            </a:r>
            <a:endParaRPr lang="en-US" sz="1200" dirty="0"/>
          </a:p>
        </p:txBody>
      </p:sp>
      <p:sp>
        <p:nvSpPr>
          <p:cNvPr id="32" name="Step 5"/>
          <p:cNvSpPr/>
          <p:nvPr/>
        </p:nvSpPr>
        <p:spPr>
          <a:xfrm>
            <a:off x="9427464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3" name="Step number 5"/>
          <p:cNvSpPr/>
          <p:nvPr/>
        </p:nvSpPr>
        <p:spPr>
          <a:xfrm>
            <a:off x="9537192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537192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930384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Cenários de MMGD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564624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Aumento da MMGD sobre a referência</a:t>
            </a:r>
            <a:endParaRPr lang="en-US" sz="1200" dirty="0"/>
          </a:p>
        </p:txBody>
      </p:sp>
      <p:sp>
        <p:nvSpPr>
          <p:cNvPr id="37" name="Arrow"/>
          <p:cNvSpPr/>
          <p:nvPr/>
        </p:nvSpPr>
        <p:spPr>
          <a:xfrm flipH="1">
            <a:off x="9079992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8" name="Step 6"/>
          <p:cNvSpPr/>
          <p:nvPr/>
        </p:nvSpPr>
        <p:spPr>
          <a:xfrm>
            <a:off x="6940296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9" name="Step number 6"/>
          <p:cNvSpPr/>
          <p:nvPr/>
        </p:nvSpPr>
        <p:spPr>
          <a:xfrm>
            <a:off x="7050024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050024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6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443216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Inserção das baterias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077456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BESS no Nordeste e no Sudeste, 4 h</a:t>
            </a:r>
            <a:endParaRPr lang="en-US" sz="1200" dirty="0"/>
          </a:p>
        </p:txBody>
      </p:sp>
      <p:sp>
        <p:nvSpPr>
          <p:cNvPr id="43" name="Arrow"/>
          <p:cNvSpPr/>
          <p:nvPr/>
        </p:nvSpPr>
        <p:spPr>
          <a:xfrm flipH="1">
            <a:off x="6592824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44" name="Step 7"/>
          <p:cNvSpPr/>
          <p:nvPr/>
        </p:nvSpPr>
        <p:spPr>
          <a:xfrm>
            <a:off x="4453128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45" name="Step number 7"/>
          <p:cNvSpPr/>
          <p:nvPr/>
        </p:nvSpPr>
        <p:spPr>
          <a:xfrm>
            <a:off x="4562856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62856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7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4956048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Simulação horária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590288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 carga e descarga das baterias</a:t>
            </a:r>
            <a:endParaRPr lang="en-US" sz="1200" dirty="0"/>
          </a:p>
        </p:txBody>
      </p:sp>
      <p:sp>
        <p:nvSpPr>
          <p:cNvPr id="49" name="Arrow"/>
          <p:cNvSpPr/>
          <p:nvPr/>
        </p:nvSpPr>
        <p:spPr>
          <a:xfrm flipH="1">
            <a:off x="4105656" y="3685032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50" name="Step 8"/>
          <p:cNvSpPr/>
          <p:nvPr/>
        </p:nvSpPr>
        <p:spPr>
          <a:xfrm>
            <a:off x="1965960" y="3044952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1" name="Step number 8"/>
          <p:cNvSpPr/>
          <p:nvPr/>
        </p:nvSpPr>
        <p:spPr>
          <a:xfrm>
            <a:off x="2075688" y="3154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075688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468880" y="3136392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Resultados com BESS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03120" y="357530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Mesmas variáveis da etapa 1</a:t>
            </a:r>
            <a:endParaRPr lang="en-US" sz="1200" dirty="0"/>
          </a:p>
        </p:txBody>
      </p:sp>
      <p:sp>
        <p:nvSpPr>
          <p:cNvPr id="55" name="Step 9"/>
          <p:cNvSpPr/>
          <p:nvPr/>
        </p:nvSpPr>
        <p:spPr>
          <a:xfrm>
            <a:off x="1965960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6" name="Step number 9"/>
          <p:cNvSpPr/>
          <p:nvPr/>
        </p:nvSpPr>
        <p:spPr>
          <a:xfrm>
            <a:off x="2075688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075688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9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2468880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Geração evitada de corte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103120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Δ geração de eólicas, UFVs e UHEs: com × sem BESS</a:t>
            </a:r>
            <a:endParaRPr lang="en-US" sz="1200" dirty="0"/>
          </a:p>
        </p:txBody>
      </p:sp>
      <p:sp>
        <p:nvSpPr>
          <p:cNvPr id="60" name="Arrow"/>
          <p:cNvSpPr/>
          <p:nvPr/>
        </p:nvSpPr>
        <p:spPr>
          <a:xfrm>
            <a:off x="4105656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1" name="Step 10"/>
          <p:cNvSpPr/>
          <p:nvPr/>
        </p:nvSpPr>
        <p:spPr>
          <a:xfrm>
            <a:off x="4453128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2" name="Step number 10"/>
          <p:cNvSpPr/>
          <p:nvPr/>
        </p:nvSpPr>
        <p:spPr>
          <a:xfrm>
            <a:off x="4562856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562856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4956048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Ganho por fonte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590288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Δ geração × preço de valoração (UHE: valor da água)</a:t>
            </a:r>
            <a:endParaRPr lang="en-US" sz="1200" dirty="0"/>
          </a:p>
        </p:txBody>
      </p:sp>
      <p:sp>
        <p:nvSpPr>
          <p:cNvPr id="66" name="Arrow"/>
          <p:cNvSpPr/>
          <p:nvPr/>
        </p:nvSpPr>
        <p:spPr>
          <a:xfrm>
            <a:off x="6592824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67" name="Step 11"/>
          <p:cNvSpPr/>
          <p:nvPr/>
        </p:nvSpPr>
        <p:spPr>
          <a:xfrm>
            <a:off x="6940296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68" name="Step number 11"/>
          <p:cNvSpPr/>
          <p:nvPr/>
        </p:nvSpPr>
        <p:spPr>
          <a:xfrm>
            <a:off x="7050024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050024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11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7443216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Encargo por fonte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77456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Receita fixa rateada pelas regras R1 a R3</a:t>
            </a:r>
            <a:endParaRPr lang="en-US" sz="1200" dirty="0"/>
          </a:p>
        </p:txBody>
      </p:sp>
      <p:sp>
        <p:nvSpPr>
          <p:cNvPr id="72" name="Arrow"/>
          <p:cNvSpPr/>
          <p:nvPr/>
        </p:nvSpPr>
        <p:spPr>
          <a:xfrm>
            <a:off x="9079992" y="5312664"/>
            <a:ext cx="310896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3" name="Step 12"/>
          <p:cNvSpPr/>
          <p:nvPr/>
        </p:nvSpPr>
        <p:spPr>
          <a:xfrm>
            <a:off x="9427464" y="4672584"/>
            <a:ext cx="210312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74" name="Step number 12"/>
          <p:cNvSpPr/>
          <p:nvPr/>
        </p:nvSpPr>
        <p:spPr>
          <a:xfrm>
            <a:off x="9537192" y="478231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7192" y="4782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12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9930384" y="47640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Saldo por fonte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9564624" y="5202936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Ganho − encargo, razão e ponto de equilíbrio</a:t>
            </a:r>
            <a:endParaRPr lang="en-US" sz="1200" dirty="0"/>
          </a:p>
        </p:txBody>
      </p:sp>
      <p:sp>
        <p:nvSpPr>
          <p:cNvPr id="78" name="Arrow"/>
          <p:cNvSpPr/>
          <p:nvPr/>
        </p:nvSpPr>
        <p:spPr>
          <a:xfrm>
            <a:off x="10479024" y="2724912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79" name="Arrow"/>
          <p:cNvSpPr/>
          <p:nvPr/>
        </p:nvSpPr>
        <p:spPr>
          <a:xfrm>
            <a:off x="3017520" y="4352544"/>
            <a:ext cx="0" cy="292608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80" name="Text 78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A etapa 3 compara as etapas 1 e 2 e fecha o balanço de cada fonte: ganho com menos cortes menos o encargo das baterias.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Cenários de simulação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Seis casos (3 níveis de MMGD, com e sem baterias), cada um sob as regras de rateio R1 a R3.</a:t>
            </a:r>
            <a:endParaRPr lang="en-US" sz="1600" dirty="0"/>
          </a:p>
        </p:txBody>
      </p:sp>
      <p:sp>
        <p:nvSpPr>
          <p:cNvPr id="4" name="Column header 1"/>
          <p:cNvSpPr/>
          <p:nvPr/>
        </p:nvSpPr>
        <p:spPr>
          <a:xfrm>
            <a:off x="274320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Sem baterias</a:t>
            </a:r>
            <a:endParaRPr lang="en-US" sz="1400" dirty="0"/>
          </a:p>
        </p:txBody>
      </p:sp>
      <p:sp>
        <p:nvSpPr>
          <p:cNvPr id="6" name="Column header 2"/>
          <p:cNvSpPr/>
          <p:nvPr/>
        </p:nvSpPr>
        <p:spPr>
          <a:xfrm>
            <a:off x="7223760" y="1783080"/>
            <a:ext cx="429768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 baterias (NE + SE, 4 h)</a:t>
            </a:r>
            <a:endParaRPr lang="en-US" sz="1400" dirty="0"/>
          </a:p>
        </p:txBody>
      </p:sp>
      <p:sp>
        <p:nvSpPr>
          <p:cNvPr id="8" name="Row header 1"/>
          <p:cNvSpPr/>
          <p:nvPr/>
        </p:nvSpPr>
        <p:spPr>
          <a:xfrm>
            <a:off x="548640" y="237744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3774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baixa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47 GW (2034)</a:t>
            </a:r>
            <a:endParaRPr lang="en-US" sz="1400" dirty="0"/>
          </a:p>
        </p:txBody>
      </p:sp>
      <p:sp>
        <p:nvSpPr>
          <p:cNvPr id="10" name="Case C1"/>
          <p:cNvSpPr/>
          <p:nvPr/>
        </p:nvSpPr>
        <p:spPr>
          <a:xfrm>
            <a:off x="274320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97180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C1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13" name="Case C2"/>
          <p:cNvSpPr/>
          <p:nvPr/>
        </p:nvSpPr>
        <p:spPr>
          <a:xfrm>
            <a:off x="7223760" y="237744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52360" y="248716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9992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16" name="Row header 2"/>
          <p:cNvSpPr/>
          <p:nvPr/>
        </p:nvSpPr>
        <p:spPr>
          <a:xfrm>
            <a:off x="548640" y="356616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5661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de referência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59 GW (2034)</a:t>
            </a:r>
            <a:endParaRPr lang="en-US" sz="1400" dirty="0"/>
          </a:p>
        </p:txBody>
      </p:sp>
      <p:sp>
        <p:nvSpPr>
          <p:cNvPr id="18" name="Case C3"/>
          <p:cNvSpPr/>
          <p:nvPr/>
        </p:nvSpPr>
        <p:spPr>
          <a:xfrm>
            <a:off x="274320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rgbClr val="F5A524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97180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297180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76732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REFERÊNCIA</a:t>
            </a:r>
            <a:endParaRPr lang="en-US" sz="1200" dirty="0"/>
          </a:p>
        </p:txBody>
      </p:sp>
      <p:sp>
        <p:nvSpPr>
          <p:cNvPr id="22" name="Case C4"/>
          <p:cNvSpPr/>
          <p:nvPr/>
        </p:nvSpPr>
        <p:spPr>
          <a:xfrm>
            <a:off x="7223760" y="356616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452360" y="36758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452360" y="4187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25" name="Row header 3"/>
          <p:cNvSpPr/>
          <p:nvPr/>
        </p:nvSpPr>
        <p:spPr>
          <a:xfrm>
            <a:off x="548640" y="4754880"/>
            <a:ext cx="2011680" cy="100584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7548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MMGD alta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71 GW (2034)</a:t>
            </a:r>
            <a:endParaRPr lang="en-US" sz="1400" dirty="0"/>
          </a:p>
        </p:txBody>
      </p:sp>
      <p:sp>
        <p:nvSpPr>
          <p:cNvPr id="27" name="Case C5"/>
          <p:cNvSpPr/>
          <p:nvPr/>
        </p:nvSpPr>
        <p:spPr>
          <a:xfrm>
            <a:off x="274320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7180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C5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base do nível de MMGD</a:t>
            </a:r>
            <a:endParaRPr lang="en-US" sz="1400" dirty="0"/>
          </a:p>
        </p:txBody>
      </p:sp>
      <p:sp>
        <p:nvSpPr>
          <p:cNvPr id="30" name="Case C6"/>
          <p:cNvSpPr/>
          <p:nvPr/>
        </p:nvSpPr>
        <p:spPr>
          <a:xfrm>
            <a:off x="7223760" y="4754880"/>
            <a:ext cx="429768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452360" y="48646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C6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45236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Efeito das baterias nesse nível de MMGD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Comparações-chave: C2 × C1, C4 × C3 e C6 × C5 isolam o efeito das baterias; C1 × C3 × C5 isolam o efeito da MMGD.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Faixa de MMGD: EPE/MME, PDE 2034, Caderno MMGD e Baterias (2024); ordem de grandeza para o ano-horizonte a definir.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Indicadores: como cada objetivo será medido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301752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Variável de saída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Geração evitada de corte por fonte (eólicas, UFVs, UHEs)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MWh/ano e % do corte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× sem BESS, por nível de MMGD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por fonte (receita da energia adicional)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ΔG × preço (UHE: valor da água)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Regras de rateio R1 a R3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e razão ganho ÷ encargo, por 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milhões/ano e razão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≥ 1: vantajoso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 de equilíbrio e sensibilidade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MWh e R$/MWh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MMGD, rateio, preço e patamar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As variáveis vêm das simulações horárias, exceto o encargo (OE3) e o preço de valoração, que dependem do edital, da regra de rateio e do PLD.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econômica: o que cada fonte ganha e paga</a:t>
            </a:r>
            <a:endParaRPr lang="en-US" sz="3200" dirty="0"/>
          </a:p>
        </p:txBody>
      </p:sp>
      <p:sp>
        <p:nvSpPr>
          <p:cNvPr id="3" name="Gain card"/>
          <p:cNvSpPr/>
          <p:nvPr/>
        </p:nvSpPr>
        <p:spPr>
          <a:xfrm>
            <a:off x="548640" y="1417320"/>
            <a:ext cx="475488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45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GANHO DA FONTE i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Ganho = ΔG × p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ΔG: geração evitada de corte (MWh). p: preço de valoração (R$/MWh).</a:t>
            </a:r>
            <a:endParaRPr lang="en-US" sz="1400" dirty="0"/>
          </a:p>
        </p:txBody>
      </p:sp>
      <p:sp>
        <p:nvSpPr>
          <p:cNvPr id="9" name="Charges card"/>
          <p:cNvSpPr/>
          <p:nvPr/>
        </p:nvSpPr>
        <p:spPr>
          <a:xfrm>
            <a:off x="6888175" y="1417320"/>
            <a:ext cx="4754880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7162495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655" y="178308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94015" y="1645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</a:rPr>
              <a:t>ENCARGO DA FONTE i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162495" y="23317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Encargo = receita fixa × parcela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162495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Parcela pela regra R1 a R3. Inclui a geração adicional, pois o rateio usa a energia associada.</a:t>
            </a:r>
            <a:endParaRPr lang="en-US" sz="1400" dirty="0"/>
          </a:p>
        </p:txBody>
      </p:sp>
      <p:sp>
        <p:nvSpPr>
          <p:cNvPr id="15" name="Comparison circle"/>
          <p:cNvSpPr/>
          <p:nvPr/>
        </p:nvSpPr>
        <p:spPr>
          <a:xfrm>
            <a:off x="5592928" y="1988820"/>
            <a:ext cx="10058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592928" y="19888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?</a:t>
            </a:r>
            <a:endParaRPr lang="en-US" sz="2800" dirty="0"/>
          </a:p>
        </p:txBody>
      </p:sp>
      <p:sp>
        <p:nvSpPr>
          <p:cNvPr id="17" name="Source economics 1"/>
          <p:cNvSpPr/>
          <p:nvPr/>
        </p:nvSpPr>
        <p:spPr>
          <a:xfrm>
            <a:off x="548640" y="37490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822960" y="3931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Wi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4057650"/>
            <a:ext cx="251460" cy="2514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08760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Eólicas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Ganho: MWh eólicos antes cortados × preço do contrato ou PLD. Encargo: parte do P1 (100%).</a:t>
            </a:r>
            <a:endParaRPr lang="en-US" sz="1300" dirty="0"/>
          </a:p>
        </p:txBody>
      </p:sp>
      <p:sp>
        <p:nvSpPr>
          <p:cNvPr id="22" name="Source economics 2"/>
          <p:cNvSpPr/>
          <p:nvPr/>
        </p:nvSpPr>
        <p:spPr>
          <a:xfrm>
            <a:off x="4334256" y="37490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3" name="Icon circle"/>
          <p:cNvSpPr/>
          <p:nvPr/>
        </p:nvSpPr>
        <p:spPr>
          <a:xfrm>
            <a:off x="4608576" y="39319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3" descr="Fa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306" y="4057650"/>
            <a:ext cx="251460" cy="2514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94376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Solares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4608576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Ganho: MWh solares antes cortados × preço. Maior corte e menor peso na geração. Encargo: parte do P1.</a:t>
            </a:r>
            <a:endParaRPr lang="en-US" sz="1300" dirty="0"/>
          </a:p>
        </p:txBody>
      </p:sp>
      <p:sp>
        <p:nvSpPr>
          <p:cNvPr id="27" name="Source economics 3"/>
          <p:cNvSpPr/>
          <p:nvPr/>
        </p:nvSpPr>
        <p:spPr>
          <a:xfrm>
            <a:off x="8119872" y="374904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8394192" y="39319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Image 4" descr="FaWa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9922" y="4057650"/>
            <a:ext cx="251460" cy="25146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079992" y="3931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UHEs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394192" y="45720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Ganho: menos corte e vertimento e mais água armazenada, valorados pelo PLD. Encargo: P1 a P4.</a:t>
            </a:r>
            <a:endParaRPr lang="en-US" sz="1300" dirty="0"/>
          </a:p>
        </p:txBody>
      </p:sp>
      <p:sp>
        <p:nvSpPr>
          <p:cNvPr id="32" name="Decision rule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Vantajoso se ganho ÷ encargo ≥ 1.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Ponto de equilíbrio: ΔG* = encargo ÷ 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Resultados esperados e contribuição</a:t>
            </a:r>
            <a:endParaRPr lang="en-US" sz="3200" dirty="0"/>
          </a:p>
        </p:txBody>
      </p:sp>
      <p:sp>
        <p:nvSpPr>
          <p:cNvPr id="3" name="Outcome column 1"/>
          <p:cNvSpPr/>
          <p:nvPr/>
        </p:nvSpPr>
        <p:spPr>
          <a:xfrm>
            <a:off x="548640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circle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File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estudo entrega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Ganho, encargo, saldo e razão de eólicas, solares e UHEs, por cenário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Ponto de equilíbrio de cada fonte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Condições em que cada fonte ganha ou perde</a:t>
            </a:r>
            <a:endParaRPr lang="en-US" sz="1600" dirty="0"/>
          </a:p>
        </p:txBody>
      </p:sp>
      <p:sp>
        <p:nvSpPr>
          <p:cNvPr id="8" name="Outcome column 2"/>
          <p:cNvSpPr/>
          <p:nvPr/>
        </p:nvSpPr>
        <p:spPr>
          <a:xfrm>
            <a:off x="4334256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4608576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Fa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0096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Contribuição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08576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Evidência por fonte para o debate sobre o rateio do Ercap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Subsídio à ANEEL, que ainda define a fórmula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Método replicável para outros níveis de MMGD</a:t>
            </a:r>
            <a:endParaRPr lang="en-US" sz="1600" dirty="0"/>
          </a:p>
        </p:txBody>
      </p:sp>
      <p:sp>
        <p:nvSpPr>
          <p:cNvPr id="13" name="Outcome column 3"/>
          <p:cNvSpPr/>
          <p:nvPr/>
        </p:nvSpPr>
        <p:spPr>
          <a:xfrm>
            <a:off x="8119872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8394192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Fa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74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25712" y="17373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56032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Receita fixa só será conhecida após o leilão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Critérios dos patamares P1 a P4 não localizados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Preço de valoração e ressarcimento de cortes alteram o ganho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paga: base legal e regulatória</a:t>
            </a:r>
            <a:endParaRPr lang="en-US" sz="3200" dirty="0"/>
          </a:p>
        </p:txBody>
      </p:sp>
      <p:sp>
        <p:nvSpPr>
          <p:cNvPr id="3" name="Date chip 1"/>
          <p:cNvSpPr/>
          <p:nvPr/>
        </p:nvSpPr>
        <p:spPr>
          <a:xfrm>
            <a:off x="548640" y="141732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24/11/2025</a:t>
            </a:r>
            <a:endParaRPr lang="en-US" sz="1600" dirty="0"/>
          </a:p>
        </p:txBody>
      </p:sp>
      <p:sp>
        <p:nvSpPr>
          <p:cNvPr id="5" name="Legal card 1"/>
          <p:cNvSpPr/>
          <p:nvPr/>
        </p:nvSpPr>
        <p:spPr>
          <a:xfrm>
            <a:off x="2606040" y="141732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2834640" y="1673352"/>
            <a:ext cx="585216" cy="58521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944" y="1819656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0" y="15270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 15.269/2025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1920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Inclui o § 6º no art. 3º-A da Lei 10.848/2004: o custo da contratação de baterias é rateado apenas entre os agentes de geração, conforme regulamentação da ANEEL.</a:t>
            </a:r>
            <a:endParaRPr lang="en-US" sz="1400" dirty="0"/>
          </a:p>
        </p:txBody>
      </p:sp>
      <p:sp>
        <p:nvSpPr>
          <p:cNvPr id="10" name="Date chip 2"/>
          <p:cNvSpPr/>
          <p:nvPr/>
        </p:nvSpPr>
        <p:spPr>
          <a:xfrm>
            <a:off x="548640" y="265176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651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Jun/2026</a:t>
            </a:r>
            <a:endParaRPr lang="en-US" sz="1600" dirty="0"/>
          </a:p>
        </p:txBody>
      </p:sp>
      <p:sp>
        <p:nvSpPr>
          <p:cNvPr id="12" name="Legal card 2"/>
          <p:cNvSpPr/>
          <p:nvPr/>
        </p:nvSpPr>
        <p:spPr>
          <a:xfrm>
            <a:off x="2606040" y="265176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2834640" y="2907792"/>
            <a:ext cx="585216" cy="58521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1" descr="FaFil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944" y="3054096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57600" y="2761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Portaria GM/MME 136/2026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3154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Diretrizes do LRCAP armazenamento: leilões em 2 e 4/12/2026, contratos de 15 anos desde 1/8/2028, mínimo de 30 MW, 4 h de descarga e eficiência de 85%.</a:t>
            </a:r>
            <a:endParaRPr lang="en-US" sz="1400" dirty="0"/>
          </a:p>
        </p:txBody>
      </p:sp>
      <p:sp>
        <p:nvSpPr>
          <p:cNvPr id="17" name="Date chip 3"/>
          <p:cNvSpPr/>
          <p:nvPr/>
        </p:nvSpPr>
        <p:spPr>
          <a:xfrm>
            <a:off x="548640" y="388620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862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8/10/2026</a:t>
            </a:r>
            <a:endParaRPr lang="en-US" sz="1600" dirty="0"/>
          </a:p>
        </p:txBody>
      </p:sp>
      <p:sp>
        <p:nvSpPr>
          <p:cNvPr id="19" name="Legal card 3"/>
          <p:cNvSpPr/>
          <p:nvPr/>
        </p:nvSpPr>
        <p:spPr>
          <a:xfrm>
            <a:off x="2606040" y="388620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2834640" y="4142232"/>
            <a:ext cx="585216" cy="58521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mage 2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944" y="4288536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657600" y="39959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 Pública 37/2026 (ANEEL)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3657600" y="43891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Nota Técnica 101/2026 propõe a base de custeio e a metodologia de rateio do Ercap-SAE. Contribuições até 6/11/2026.</a:t>
            </a:r>
            <a:endParaRPr lang="en-US" sz="1400" dirty="0"/>
          </a:p>
        </p:txBody>
      </p:sp>
      <p:sp>
        <p:nvSpPr>
          <p:cNvPr id="24" name="Date chip 4"/>
          <p:cNvSpPr/>
          <p:nvPr/>
        </p:nvSpPr>
        <p:spPr>
          <a:xfrm>
            <a:off x="548640" y="512064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48640" y="51206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tramitação</a:t>
            </a:r>
            <a:endParaRPr lang="en-US" sz="1600" dirty="0"/>
          </a:p>
        </p:txBody>
      </p:sp>
      <p:sp>
        <p:nvSpPr>
          <p:cNvPr id="26" name="Legal card 4"/>
          <p:cNvSpPr/>
          <p:nvPr/>
        </p:nvSpPr>
        <p:spPr>
          <a:xfrm>
            <a:off x="2606040" y="5120640"/>
            <a:ext cx="90370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Icon circle"/>
          <p:cNvSpPr/>
          <p:nvPr/>
        </p:nvSpPr>
        <p:spPr>
          <a:xfrm>
            <a:off x="2834640" y="5376672"/>
            <a:ext cx="585216" cy="585216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8" name="Image 3" descr="Fa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944" y="5522976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3657600" y="52303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 3.716/2026 e PL 5.017/2019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5623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Propõem revogar o rateio apenas entre geradores e incluir os consumidores na cobrança do encargo.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Lei 15.269/2025; Canal Solar e MME (2026); ANEEL, CP 37/2026 e NT 101/2026-SGM; CNN Brasil (2026); TAGD Law (2026).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 receita fixa ao encargo das fontes</a:t>
            </a:r>
            <a:endParaRPr lang="en-US" sz="3200" dirty="0"/>
          </a:p>
        </p:txBody>
      </p:sp>
      <p:sp>
        <p:nvSpPr>
          <p:cNvPr id="3" name="Mechanism step 1"/>
          <p:cNvSpPr/>
          <p:nvPr/>
        </p:nvSpPr>
        <p:spPr>
          <a:xfrm>
            <a:off x="548640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Leilão LRCAP armazenamento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ANEEL e CCEE contratam potência de baterias (mín. 30 MW, 4 h)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2551176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0" name="Mechanism step 2"/>
          <p:cNvSpPr/>
          <p:nvPr/>
        </p:nvSpPr>
        <p:spPr>
          <a:xfrm>
            <a:off x="2825496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3054096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Fa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8288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97096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054096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Receita fixa anual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054096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R$/ano em 12 parcelas mensais, reajustada pelo IPCA, por 15 anos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4828032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17" name="Mechanism step 3"/>
          <p:cNvSpPr/>
          <p:nvPr/>
        </p:nvSpPr>
        <p:spPr>
          <a:xfrm>
            <a:off x="5102352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5330952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FaBatteryFu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8288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73952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330952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 total (Ercap-SAE)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30952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Receita fixa mais a energia de recarga, com eficiência mínima de 85%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7104888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24" name="Mechanism step 4"/>
          <p:cNvSpPr/>
          <p:nvPr/>
        </p:nvSpPr>
        <p:spPr>
          <a:xfrm>
            <a:off x="7379208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25" name="Icon circle"/>
          <p:cNvSpPr/>
          <p:nvPr/>
        </p:nvSpPr>
        <p:spPr>
          <a:xfrm>
            <a:off x="7607808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mage 3" descr="Fa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1828800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0808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607808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Rateio entre geradores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607808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Agentes da CCEE, sem MMGD nem armazenamento autônomo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9381744" y="2743200"/>
            <a:ext cx="237744" cy="0"/>
          </a:xfrm>
          <a:prstGeom prst="line">
            <a:avLst/>
          </a:prstGeom>
          <a:noFill/>
          <a:ln w="25400">
            <a:solidFill>
              <a:srgbClr val="5B6B80"/>
            </a:solidFill>
            <a:prstDash val="solid"/>
            <a:tailEnd type="triangle"/>
          </a:ln>
        </p:spPr>
      </p:sp>
      <p:sp>
        <p:nvSpPr>
          <p:cNvPr id="31" name="Mechanism step 5"/>
          <p:cNvSpPr/>
          <p:nvPr/>
        </p:nvSpPr>
        <p:spPr>
          <a:xfrm>
            <a:off x="9656064" y="1463040"/>
            <a:ext cx="1965960" cy="256032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2" name="Icon circle"/>
          <p:cNvSpPr/>
          <p:nvPr/>
        </p:nvSpPr>
        <p:spPr>
          <a:xfrm>
            <a:off x="9884664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Image 4" descr="FaIndustr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4" y="1828800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027664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884664" y="23774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Parcela de cada fonte</a:t>
            </a:r>
            <a:endParaRPr lang="en-US" sz="1600" dirty="0"/>
          </a:p>
        </p:txBody>
      </p:sp>
      <p:sp>
        <p:nvSpPr>
          <p:cNvPr id="36" name="Text 29"/>
          <p:cNvSpPr txBox="1"/>
          <p:nvPr/>
        </p:nvSpPr>
        <p:spPr>
          <a:xfrm>
            <a:off x="9884664" y="301752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UHE, UTE, eólica e UFV pagam conforme a regra de rateio</a:t>
            </a:r>
            <a:endParaRPr lang="en-US" sz="1400" dirty="0"/>
          </a:p>
        </p:txBody>
      </p:sp>
      <p:sp>
        <p:nvSpPr>
          <p:cNvPr id="37" name="Rule card 1"/>
          <p:cNvSpPr/>
          <p:nvPr/>
        </p:nvSpPr>
        <p:spPr>
          <a:xfrm>
            <a:off x="548640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38" name="Icon circle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Image 5" descr="FaChartLi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690" y="4606290"/>
            <a:ext cx="251460" cy="2514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508760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Desempenho</a:t>
            </a:r>
            <a:endParaRPr lang="en-US" sz="18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receita é reduzida se a bateria não entregar a potência contratada.</a:t>
            </a:r>
            <a:endParaRPr lang="en-US" sz="1400" dirty="0"/>
          </a:p>
        </p:txBody>
      </p:sp>
      <p:sp>
        <p:nvSpPr>
          <p:cNvPr id="42" name="Rule card 2"/>
          <p:cNvSpPr/>
          <p:nvPr/>
        </p:nvSpPr>
        <p:spPr>
          <a:xfrm>
            <a:off x="4334256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3" name="Icon circle"/>
          <p:cNvSpPr/>
          <p:nvPr/>
        </p:nvSpPr>
        <p:spPr>
          <a:xfrm>
            <a:off x="4608576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4" name="Image 6" descr="FaGav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4306" y="4606290"/>
            <a:ext cx="251460" cy="25146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5294376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Penalidades (proposta)</a:t>
            </a:r>
            <a:endParaRPr lang="en-US" sz="1800" dirty="0"/>
          </a:p>
        </p:txBody>
      </p:sp>
      <p:sp>
        <p:nvSpPr>
          <p:cNvPr id="46" name="Text 37"/>
          <p:cNvSpPr txBox="1"/>
          <p:nvPr/>
        </p:nvSpPr>
        <p:spPr>
          <a:xfrm>
            <a:off x="4608576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1,15 vez a receita fixa unitária por descumprir comandos do ONS e 1,10 vez por indisponibilidade.</a:t>
            </a:r>
            <a:endParaRPr lang="en-US" sz="1400" dirty="0"/>
          </a:p>
        </p:txBody>
      </p:sp>
      <p:sp>
        <p:nvSpPr>
          <p:cNvPr id="47" name="Rule card 3"/>
          <p:cNvSpPr/>
          <p:nvPr/>
        </p:nvSpPr>
        <p:spPr>
          <a:xfrm>
            <a:off x="8119872" y="425196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8" name="Icon circle"/>
          <p:cNvSpPr/>
          <p:nvPr/>
        </p:nvSpPr>
        <p:spPr>
          <a:xfrm>
            <a:off x="8394192" y="44805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9" name="Image 7" descr="FaBo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9922" y="4606290"/>
            <a:ext cx="251460" cy="25146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079992" y="4480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Consumo interno</a:t>
            </a:r>
            <a:endParaRPr lang="en-US" sz="1800" dirty="0"/>
          </a:p>
        </p:txBody>
      </p:sp>
      <p:sp>
        <p:nvSpPr>
          <p:cNvPr id="51" name="Text 41"/>
          <p:cNvSpPr txBox="1"/>
          <p:nvPr/>
        </p:nvSpPr>
        <p:spPr>
          <a:xfrm>
            <a:off x="8394192" y="5166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Acima de 15% da energia utilizada, o excedente fica com o dono e é descontado da receita.</a:t>
            </a:r>
            <a:endParaRPr lang="en-US" sz="1400" dirty="0"/>
          </a:p>
        </p:txBody>
      </p:sp>
      <p:sp>
        <p:nvSpPr>
          <p:cNvPr id="52" name="Text 4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Portaria GM/MME 136/2026 e minutas dos editais, via Canal Solar e ANEEL (2026). Valores em consulta pública, sujeitos a mudança no edital final.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o encargo pode ser dividido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Proposta da área técnica da ANEEL (NT 101/2026): quanto menos flexível a usina, maior a parcela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P1: inflexível</a:t>
            </a:r>
            <a:endParaRPr lang="en-US" sz="1400" dirty="0"/>
          </a:p>
        </p:txBody>
      </p:sp>
      <p:sp>
        <p:nvSpPr>
          <p:cNvPr id="5" name="Tier bar 1"/>
          <p:cNvSpPr/>
          <p:nvPr/>
        </p:nvSpPr>
        <p:spPr>
          <a:xfrm>
            <a:off x="548640" y="2304288"/>
            <a:ext cx="612648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042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100%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P2: baixa flexibilidade</a:t>
            </a:r>
            <a:endParaRPr lang="en-US" sz="1400" dirty="0"/>
          </a:p>
        </p:txBody>
      </p:sp>
      <p:sp>
        <p:nvSpPr>
          <p:cNvPr id="8" name="Tier bar 2"/>
          <p:cNvSpPr/>
          <p:nvPr/>
        </p:nvSpPr>
        <p:spPr>
          <a:xfrm>
            <a:off x="548640" y="3081528"/>
            <a:ext cx="459486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0815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75%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P3: alta flexibilidade</a:t>
            </a:r>
            <a:endParaRPr lang="en-US" sz="1400" dirty="0"/>
          </a:p>
        </p:txBody>
      </p:sp>
      <p:sp>
        <p:nvSpPr>
          <p:cNvPr id="11" name="Tier bar 3"/>
          <p:cNvSpPr/>
          <p:nvPr/>
        </p:nvSpPr>
        <p:spPr>
          <a:xfrm>
            <a:off x="548640" y="3858768"/>
            <a:ext cx="306324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8587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50%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434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P4: flexibilidade muito alta</a:t>
            </a:r>
            <a:endParaRPr lang="en-US" sz="1400" dirty="0"/>
          </a:p>
        </p:txBody>
      </p:sp>
      <p:sp>
        <p:nvSpPr>
          <p:cNvPr id="14" name="Tier bar 4"/>
          <p:cNvSpPr/>
          <p:nvPr/>
        </p:nvSpPr>
        <p:spPr>
          <a:xfrm>
            <a:off x="548640" y="4636008"/>
            <a:ext cx="15316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636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Os patamares valem para todas as classes de geração: o P4 é o mais flexível dentro de cada classe. Eólicas e solares partem do P1, sem armazenamento associado. Hidrelétricas e térmicas dependem da classificação anual do ONS.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1280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Cenários de rateio a simular no estudo</a:t>
            </a:r>
            <a:endParaRPr lang="en-US" sz="1600" dirty="0"/>
          </a:p>
        </p:txBody>
      </p:sp>
      <p:sp>
        <p:nvSpPr>
          <p:cNvPr id="18" name="Rateio scenario R1"/>
          <p:cNvSpPr/>
          <p:nvPr/>
        </p:nvSpPr>
        <p:spPr>
          <a:xfrm>
            <a:off x="7315200" y="192024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cenario tag R1"/>
          <p:cNvSpPr/>
          <p:nvPr/>
        </p:nvSpPr>
        <p:spPr>
          <a:xfrm>
            <a:off x="7498080" y="219456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R1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05740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Rateio universal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246888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Todos os geradores da CCEE, sem diferenciar a flexibilidade.</a:t>
            </a:r>
            <a:endParaRPr lang="en-US" sz="1400" dirty="0"/>
          </a:p>
        </p:txBody>
      </p:sp>
      <p:sp>
        <p:nvSpPr>
          <p:cNvPr id="23" name="Rateio scenario R2"/>
          <p:cNvSpPr/>
          <p:nvPr/>
        </p:nvSpPr>
        <p:spPr>
          <a:xfrm>
            <a:off x="7315200" y="324612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cenario tag R2"/>
          <p:cNvSpPr/>
          <p:nvPr/>
        </p:nvSpPr>
        <p:spPr>
          <a:xfrm>
            <a:off x="7498080" y="352044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0" y="35204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338328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Modulado por flexibilidade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379476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Proposta da ANEEL em consulta: quatro patamares, de 100% a 25%.</a:t>
            </a:r>
            <a:endParaRPr lang="en-US" sz="1400" dirty="0"/>
          </a:p>
        </p:txBody>
      </p:sp>
      <p:sp>
        <p:nvSpPr>
          <p:cNvPr id="28" name="Rateio scenario R3"/>
          <p:cNvSpPr/>
          <p:nvPr/>
        </p:nvSpPr>
        <p:spPr>
          <a:xfrm>
            <a:off x="7315200" y="4572000"/>
            <a:ext cx="4327855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cenario tag R3"/>
          <p:cNvSpPr/>
          <p:nvPr/>
        </p:nvSpPr>
        <p:spPr>
          <a:xfrm>
            <a:off x="7498080" y="4846320"/>
            <a:ext cx="7315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98080" y="4846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R3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709160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consumidores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5120640"/>
            <a:ext cx="3093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Mudança da lei pelos PLs 3.716/2026 e 5.017/2019.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0" y="5852160"/>
            <a:ext cx="4327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 ABRACE defende manter o custo só com geradores. ABSAE, Absolar e ABEEólica pedem tratar as baterias como as demais fontes.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NT 101/2026 e CP 37/2026 (ANEEL), via Canal Solar, ePowerBay e TAGD Law (2026); Canal Energia (2026). A fórmula final ainda será definida pela ANEEL.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1/3: base e fórmula</a:t>
            </a:r>
            <a:endParaRPr lang="en-US" sz="3200" dirty="0"/>
          </a:p>
        </p:txBody>
      </p:sp>
      <p:sp>
        <p:nvSpPr>
          <p:cNvPr id="3" name="Calc base card"/>
          <p:cNvSpPr/>
          <p:nvPr/>
        </p:nvSpPr>
        <p:spPr>
          <a:xfrm>
            <a:off x="548640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4" name="Icon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Base de geração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8880"/>
          <a:ext cx="29718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914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822960" y="52578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Geração centralizada de 2025: hidráulica 62,2%, eólica 17,9%, solar 5,3%, térmica 10,0% e biomassa 4,5%. O total de 99,9% é arredondamento. Fonte: CCEE/EPE.</a:t>
            </a:r>
            <a:endParaRPr lang="en-US" sz="1200" dirty="0"/>
          </a:p>
        </p:txBody>
      </p:sp>
      <p:sp>
        <p:nvSpPr>
          <p:cNvPr id="9" name="Calc formula card"/>
          <p:cNvSpPr/>
          <p:nvPr/>
        </p:nvSpPr>
        <p:spPr>
          <a:xfrm>
            <a:off x="4334256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4608576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2880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40096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Fórmula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4608576" y="26060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= g × k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4608576" y="3246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Parcela = peso ÷ soma dos pesos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4608576" y="434340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g: participação da fonte na geração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k: coeficiente de flexibilidade (P1 a P4)</a:t>
            </a:r>
            <a:endParaRPr lang="en-US" sz="1400" dirty="0"/>
          </a:p>
        </p:txBody>
      </p:sp>
      <p:sp>
        <p:nvSpPr>
          <p:cNvPr id="16" name="Calc coefficients card"/>
          <p:cNvSpPr/>
          <p:nvPr/>
        </p:nvSpPr>
        <p:spPr>
          <a:xfrm>
            <a:off x="8119872" y="1417320"/>
            <a:ext cx="3520440" cy="475488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17" name="Icon circle"/>
          <p:cNvSpPr/>
          <p:nvPr/>
        </p:nvSpPr>
        <p:spPr>
          <a:xfrm>
            <a:off x="8394192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82880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25712" y="1691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Coeficientes k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8394192" y="251460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P1 = 1,00 | P2 = 0,75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P3 = 0,50 | P4 = 0,25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Eólicas e solares: k = 1,00 (P1)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Hidro e térmicas, por cenário: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A: todas em P1, k = 1,00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B: uniforme, k = (1 + 0,75 + 0,5 + 0,25) ÷ 4 = 0,625</a:t>
            </a:r>
            <a:endParaRPr lang="en-US" sz="1400" dirty="0"/>
          </a:p>
          <a:p>
            <a:pPr marL="381000" indent="-381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C: todas em P4, k = 0,25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Patamares e coeficientes da proposta da ANEEL (NT 101/2026, CP 37/2026), via Canal Solar, ePowerBay e TAGD Law (2026). Os cenários A, B e C são hipóteses minhas.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2/3: pesos e parcelas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1417320"/>
                <a:gridCol w="1188720"/>
                <a:gridCol w="1463040"/>
                <a:gridCol w="1188720"/>
                <a:gridCol w="1463040"/>
                <a:gridCol w="1353312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peso (g × 1,00)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peso (g × 0,625)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peso (g × 0,25)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parcela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71,14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709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Pesos exibidos com duas casas. Valores exatos de B: 38,875; 17,9; 5,3; 9,0625 (soma 71,1375).</a:t>
            </a:r>
            <a:endParaRPr lang="en-US" sz="1200" dirty="0"/>
          </a:p>
        </p:txBody>
      </p:sp>
      <p:sp>
        <p:nvSpPr>
          <p:cNvPr id="5" name="Worked examples"/>
          <p:cNvSpPr/>
          <p:nvPr/>
        </p:nvSpPr>
        <p:spPr>
          <a:xfrm>
            <a:off x="548640" y="516636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516636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Exemplo B, hidrelétricas: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62,2 × 0,625 = 38,875; 38,875 ÷ 71,1375 = 0,5465, ou 54,6%.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Exemplo C, solares: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5,3 × 1,00 = 5,3; 5,3 ÷ 42,375 = 0,1251, ou 12,5%.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Memória de cálculo 3/3: valores em R$ e limites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 R$ 1 bilhão de receita fixa anual (R$ milhões)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669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1206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Conversão: parcela (%) × 10. Exemplo: eólicas no cenário B, 25,2% de R$ 1 bi = R$ 252 mi. O encargo total depende do deságio do leilão e ainda não é conhecido.</a:t>
            </a:r>
            <a:endParaRPr lang="en-US" sz="1400" dirty="0"/>
          </a:p>
        </p:txBody>
      </p:sp>
      <p:sp>
        <p:nvSpPr>
          <p:cNvPr id="6" name="Limits card"/>
          <p:cNvSpPr/>
          <p:nvPr/>
        </p:nvSpPr>
        <p:spPr>
          <a:xfrm>
            <a:off x="6583680" y="1417320"/>
            <a:ext cx="5059375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7" name="Icon circle"/>
          <p:cNvSpPr/>
          <p:nvPr/>
        </p:nvSpPr>
        <p:spPr>
          <a:xfrm>
            <a:off x="6858000" y="16459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mage 0" descr="Fa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17830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89520" y="1645920"/>
            <a:ext cx="3870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858000" y="2468880"/>
            <a:ext cx="451073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Os critérios de cada patamar e a classificação das usinas pelo ONS não foram localizados.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Hidrelétricas e térmicas recebem o mesmo k em cada cenário, o que na prática não ocorre.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base da proposta é a energia associada de cada agente, e não a participação anual na geração.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Os patamares vêm de resumos setoriais, e a proposta ainda está em consulta.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parcela de cada fonte muda com a geração adicional, pois quem gera mais paga mais.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Quanto cada fonte pagaria: exercício ilustrativo</a:t>
            </a:r>
            <a:endParaRPr lang="en-US" sz="3200" dirty="0"/>
          </a:p>
        </p:txBody>
      </p:sp>
      <p:sp>
        <p:nvSpPr>
          <p:cNvPr id="3" name="Share chart card"/>
          <p:cNvSpPr/>
          <p:nvPr/>
        </p:nvSpPr>
        <p:spPr>
          <a:xfrm>
            <a:off x="548640" y="1417320"/>
            <a:ext cx="6126480" cy="4069080"/>
          </a:xfrm>
          <a:prstGeom prst="roundRect">
            <a:avLst>
              <a:gd name="adj" fmla="val 2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graphicFrame>
        <p:nvGraphicFramePr>
          <p:cNvPr id="4" name="Chart 0" descr=""/>
          <p:cNvGraphicFramePr/>
          <p:nvPr/>
        </p:nvGraphicFramePr>
        <p:xfrm>
          <a:off x="685800" y="1508760"/>
          <a:ext cx="585216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417320"/>
          <a:ext cx="47393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97280"/>
                <a:gridCol w="11247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(k = 100%)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(k = 62,5%)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(k = 25%)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Hidrelétricas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03720" y="4526280"/>
            <a:ext cx="47393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Eólicas e solares fixas em P1 (100%). Hidrelétricas e térmicas usam o mesmo k: 100% (tudo P1), 62,5% (média dos quatro patamares) e 25% (tudo P4). Para cada R$ 1 bi de receita fixa, 1% equivale a R$ 10 mi.</a:t>
            </a:r>
            <a:endParaRPr lang="en-US" sz="1200" dirty="0"/>
          </a:p>
        </p:txBody>
      </p:sp>
      <p:sp>
        <p:nvSpPr>
          <p:cNvPr id="7" name="Illustrative caveat"/>
          <p:cNvSpPr/>
          <p:nvPr/>
        </p:nvSpPr>
        <p:spPr>
          <a:xfrm>
            <a:off x="548640" y="5577840"/>
            <a:ext cx="11094415" cy="713232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57784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Não há percentual oficial.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ANEEL ainda define a fórmula e os critérios de cada patamar. Os cenários mostram o intervalo possível, com a geração centralizada de 2025 como base.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Cálculo próprio com a geração centralizada de 2025 (CCEE/EPE, Balanço de consumo e geração 2025): hidráulica 62,2%, eólica 17,9%, solar 5,3%, térmica 10,0% e biomassa 4,5%.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as baterias podem economizar</a:t>
            </a:r>
            <a:endParaRPr lang="en-US" sz="3200" dirty="0"/>
          </a:p>
        </p:txBody>
      </p:sp>
      <p:sp>
        <p:nvSpPr>
          <p:cNvPr id="3" name="Chart card"/>
          <p:cNvSpPr/>
          <p:nvPr/>
        </p:nvSpPr>
        <p:spPr>
          <a:xfrm>
            <a:off x="548640" y="1417320"/>
            <a:ext cx="6035040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731520" y="1554480"/>
          <a:ext cx="56692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Breakdown card"/>
          <p:cNvSpPr/>
          <p:nvPr/>
        </p:nvSpPr>
        <p:spPr>
          <a:xfrm>
            <a:off x="6858000" y="1417320"/>
            <a:ext cx="4785055" cy="41148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B1A2E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132320" y="160020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do estudo de 4,5 GW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R$ 8,9 bi/ano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189720" y="2103120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benefício total para os consumidores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2779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R$ 660 mi/ano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189720" y="2779776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custo do risco hidrológico (GSF)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3456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R$ 550 mi/ano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189720" y="3456432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menor curtailment de solar e eólica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413308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R$ 550 mi/ano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189720" y="4133088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economia atribuída aos geradores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48097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R$ 629 mi/ano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189720" y="4809744"/>
            <a:ext cx="2179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encargos evitados em outra simulação da Volt Robotics</a:t>
            </a:r>
            <a:endParaRPr lang="en-US" sz="1400" dirty="0"/>
          </a:p>
        </p:txBody>
      </p:sp>
      <p:sp>
        <p:nvSpPr>
          <p:cNvPr id="17" name="Caveat banner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Cautela: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estudos encomendados pelo setor de armazenamento. Potência e premissas diferem, então os valores não são comparáveis entre si.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Fontes: Volt Robotics via Tribuna do Sertão (1/10/2026); ABSAE (2026); Canal Solar (2026). Estimativas de simulação, não economia já realizada.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Comparativo por fonte: ganho × encargo</a:t>
            </a:r>
            <a:endParaRPr lang="en-US" sz="3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3291840"/>
                <a:gridCol w="28620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com baterias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Encargo (proposta em consulta)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 a testar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Eólicas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cortes: mais energia vendida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 do P1 (100%); pode cair com armazenamento associado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Ganho cobre o encargo se o corte evitado for alto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 corte evitado por MWh instalado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 do P1 (100%); peso de 5,3% na geração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ser mais vantajoso que o das eólicas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corte e vertimento; mais água armazenada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a P4 (100% a 25%), conforme a classificação do 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do patamar e do valor da água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Térmicas e biomassa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acionamento na rampa: perdem despacho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a P4, conforme a classificação do 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Fora do foco: só reportado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3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Link to objectives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Saldo da fonte i = ganho − encargo.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simulações (OE1 a OE5) quantificam cada célula e testam as regras de rateio R1 a R3.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Encargos: proposta da ANEEL (NT 101/2026), via resumos setoriais. As hipóteses são de trabalho, não resultados.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Summary row 1"/>
          <p:cNvSpPr/>
          <p:nvPr/>
        </p:nvSpPr>
        <p:spPr>
          <a:xfrm>
            <a:off x="548640" y="146304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MMGD em expansão gera cortes e perdas bilionárias em eólicas, solares e UHEs.</a:t>
            </a:r>
            <a:endParaRPr lang="en-US" sz="1800" dirty="0"/>
          </a:p>
        </p:txBody>
      </p:sp>
      <p:sp>
        <p:nvSpPr>
          <p:cNvPr id="6" name="Summary row 2"/>
          <p:cNvSpPr/>
          <p:nvPr/>
        </p:nvSpPr>
        <p:spPr>
          <a:xfrm>
            <a:off x="548640" y="274320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7432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74320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Para cada fonte, o ganho com menos cortes supera o encargo das baterias?</a:t>
            </a:r>
            <a:endParaRPr lang="en-US" sz="1800" dirty="0"/>
          </a:p>
        </p:txBody>
      </p:sp>
      <p:sp>
        <p:nvSpPr>
          <p:cNvPr id="9" name="Summary row 3"/>
          <p:cNvSpPr/>
          <p:nvPr/>
        </p:nvSpPr>
        <p:spPr>
          <a:xfrm>
            <a:off x="548640" y="402336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023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02336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Simulações horárias sem e com baterias (NE + SE, 4 h), em níveis de MMGD e regras de rateio.</a:t>
            </a:r>
            <a:endParaRPr lang="en-US" sz="1800" dirty="0"/>
          </a:p>
        </p:txBody>
      </p:sp>
      <p:sp>
        <p:nvSpPr>
          <p:cNvPr id="12" name="Summary row 4"/>
          <p:cNvSpPr/>
          <p:nvPr/>
        </p:nvSpPr>
        <p:spPr>
          <a:xfrm>
            <a:off x="548640" y="530352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5303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5303520"/>
            <a:ext cx="79854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Saldo, razão ganho ÷ encargo e ponto de equilíbrio de cada fonte.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Referências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Brasil (2025). Lei nº 15.269/2025, que inclui o § 6º no art. 3º-A da Lei nº 10.848/2004.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MME (2026). Portaria GM/MME nº 136/2026: diretrizes do LRCAP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 Pública 37/2026 e Nota Técnica 101/2026-SGM: Ercap-SAE.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ANEEL (2026). Consultas públicas dos editais dos leilões de armazenamento.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Energia (2026). Nota técnica sugere manter custo do LRCAP de baterias com geradores; Proposta prevê modulação no rateio; Projeto visa revogar alocação de custos a geradores.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Agência iNFRA (2026). Reportagem de 6/10/2026 sobre o rateio por flexibilidade.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TAGD Law (2026). Encargo das baterias entra em consulta com duas propostas de rateio.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CNN Brasil (2026). Aneel abre consulta para leilão de baterias; rateio segue incerto.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Canal Solar (2026). MME publica diretrizes do 1º leilão de baterias.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ABSAE (2026). Baterias podem gerar economia superior a R$ 3 bi por ano no LRCAP.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Volt Robotics via Tribuna do Sertão (2026). Economia de R$ 8,9 bi por ano com baterias.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ONS (2025). Diagnóstico dos cortes de geração. RT DGL-ONS 0189/2025; NT-ONS DOP 0022/2025.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417320"/>
            <a:ext cx="53949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EPE/MME (2024). PDE 2034, Caderno Micro e Minigeração Distribuída e Bateria atrás do Medidor.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Acende Brasil (2025). Custos dos cortes devem ser compartilhados com a geração distribuída.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Gesel-UFRJ (2025). Gesel Broadcast: Medidas para Mitigação dos Curtailments.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Agência Infra (2025). Prejuízo de R$ 6,5 bi por curtailment em 2025 (Volt Robotics).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ePowerBay (2026). Análise do Leilão de Baterias LRCAP 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EPE (2026). Base de dados para estudos de fluxo de potência, PDE 2035: definições de carga bruta e líquida.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CAISO (2013). Flexible Resources Help Renewables. Fast Facts: origem da curva do pato.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ONS (2026). Dados abertos: balanço de energia nos subsistemas e geração por usina, base horária, 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CCEE/EPE (2026). Balanço de consumo e geração 2025: participação por fonte na geração centralizada.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BTG Pactual via NeoFeed (2025). Cortes de energia renovável: solar 34,1% e eólica 20,4% no 3º trimestre de 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Volt Robotics (2026). Análise de curtailment: balanço de 2025 (via Agência Infra).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3"/>
            </a:pPr>
            <a:r>
              <a:rPr lang="en-US" sz="1200" dirty="0">
                <a:solidFill>
                  <a:schemeClr val="tx1"/>
                </a:solidFill>
              </a:rPr>
              <a:t>Abrage (2025). Participação das hidrelétricas nos cortes de geração, 2022 a 2024.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erias SIN">
  <a:themeElements>
    <a:clrScheme name="Baterias SIN">
      <a:dk1>
        <a:srgbClr val="0B1A2E"/>
      </a:dk1>
      <a:lt1>
        <a:srgbClr val="FFFFFF"/>
      </a:lt1>
      <a:dk2>
        <a:srgbClr val="12305A"/>
      </a:dk2>
      <a:lt2>
        <a:srgbClr val="EEF3F8"/>
      </a:lt2>
      <a:accent1>
        <a:srgbClr val="F5A524"/>
      </a:accent1>
      <a:accent2>
        <a:srgbClr val="1FB5A8"/>
      </a:accent2>
      <a:accent3>
        <a:srgbClr val="2F6FDE"/>
      </a:accent3>
      <a:accent4>
        <a:srgbClr val="E4572E"/>
      </a:accent4>
      <a:accent5>
        <a:srgbClr val="5B6B80"/>
      </a:accent5>
      <a:accent6>
        <a:srgbClr val="BFE9E4"/>
      </a:accent6>
      <a:hlink>
        <a:srgbClr val="2F6FDE"/>
      </a:hlink>
      <a:folHlink>
        <a:srgbClr val="5B6B80"/>
      </a:folHlink>
    </a:clrScheme>
    <a:fontScheme name="Baterias S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Transição Energética e a Contribuição das Baterias: Ganho Econômico para o SIN?</dc:title>
  <dc:subject>Economia do Setor Elétrico I</dc:subject>
  <dc:creator>Ronaldo Antonio de Souza</dc:creator>
  <cp:lastModifiedBy>Ronaldo Antonio de Souza</cp:lastModifiedBy>
  <cp:revision>1</cp:revision>
  <dcterms:created xsi:type="dcterms:W3CDTF">2026-10-14T18:34:49Z</dcterms:created>
  <dcterms:modified xsi:type="dcterms:W3CDTF">2026-10-14T18:34:49Z</dcterms:modified>
</cp:coreProperties>
</file>