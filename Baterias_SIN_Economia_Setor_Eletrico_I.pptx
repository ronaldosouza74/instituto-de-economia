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ertura" id="{2a16064b-dcd0-71f7-ca45-edd8a9c528d9}">
          <p14:sldIdLst>
            <p14:sldId id="256"/>
          </p14:sldIdLst>
        </p14:section>
        <p14:section name="Introdução" id="{9308c725-e97d-7995-42fc-0636f346ea33}">
          <p14:sldIdLst>
            <p14:sldId id="257"/>
            <p14:sldId id="258"/>
            <p14:sldId id="259"/>
            <p14:sldId id="260"/>
            <p14:sldId id="261"/>
          </p14:sldIdLst>
        </p14:section>
        <p14:section name="Objetivos" id="{3bca2eb7-3ad6-6720-e9a9-740c43a251af}">
          <p14:sldIdLst>
            <p14:sldId id="262"/>
            <p14:sldId id="263"/>
          </p14:sldIdLst>
        </p14:section>
        <p14:section name="Método" id="{63f8184c-c58d-e6b9-4bdf-f20fecbb676a}">
          <p14:sldIdLst>
            <p14:sldId id="264"/>
            <p14:sldId id="265"/>
            <p14:sldId id="266"/>
            <p14:sldId id="267"/>
          </p14:sldIdLst>
        </p14:section>
        <p14:section name="Análise" id="{6db83971-e0aa-4f73-577c-0b98e870a772}">
          <p14:sldIdLst>
            <p14:sldId id="268"/>
            <p14:sldId id="269"/>
          </p14:sldIdLst>
        </p14:section>
        <p14:section name="Encargos e benefícios" id="{c327c3c6-2d13-830d-dd63-056c9b787312}">
          <p14:sldIdLst>
            <p14:sldId id="270"/>
            <p14:sldId id="271"/>
            <p14:sldId id="272"/>
            <p14:sldId id="273"/>
            <p14:sldId id="274"/>
            <p14:sldId id="275"/>
            <p14:sldId id="276"/>
            <p14:sldId id="277"/>
            <p14:sldId id="278"/>
          </p14:sldIdLst>
        </p14:section>
        <p14:section name="Fechamento" id="{496b3457-0153-2e6c-acec-733c789f968d}">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A2E"/>
                </a:solidFill>
                <a:latin typeface="+mn-lt"/>
              </a:defRPr>
            </a:pPr>
            <a:r>
              <a:rPr sz="1400" b="0" i="0" u="none" strike="noStrike">
                <a:solidFill>
                  <a:srgbClr val="0B1A2E"/>
                </a:solidFill>
                <a:latin typeface="+mn-lt"/>
              </a:rPr>
              <a:t>SIN, domingo 10/08/2025 (GW por hora)</a:t>
            </a:r>
          </a:p>
        </c:rich>
      </c:tx>
      <c:layout/>
      <c:overlay val="0"/>
    </c:title>
    <c:autoTitleDeleted val="0"/>
    <c:plotArea>
      <c:layout/>
      <c:lineChart>
        <c:varyColors val="0"/>
        <c:ser>
          <c:idx val="0"/>
          <c:order val="0"/>
          <c:tx>
            <c:strRef>
              <c:f>Sheet1!$B$1</c:f>
              <c:strCache>
                <c:ptCount val="1"/>
                <c:pt idx="0">
                  <c:v>Carga bruta</c:v>
                </c:pt>
              </c:strCache>
            </c:strRef>
          </c:tx>
          <c:spPr>
            <a:solidFill>
              <a:srgbClr val="5B6B80"/>
            </a:solidFill>
            <a:ln w="38100" cap="flat">
              <a:solidFill>
                <a:srgbClr val="5B6B8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B6B80"/>
              </a:solidFill>
              <a:ln w="9525" cap="flat">
                <a:solidFill>
                  <a:srgbClr val="5B6B80"/>
                </a:solidFill>
                <a:prstDash val="solid"/>
                <a:round/>
              </a:ln>
              <a:effectLst/>
            </c:spPr>
          </c:marker>
          <c:cat>
            <c:multiLvlStrRef>
              <c:f>Sheet1!$A$2:$A$25</c:f>
              <c:multiLvlStrCache>
                <c:ptCount val="24"/>
                <c:lvl>
                  <c:pt idx="0">
                    <c:v>0h</c:v>
                  </c:pt>
                  <c:pt idx="1">
                    <c:v> </c:v>
                  </c:pt>
                  <c:pt idx="2">
                    <c:v>  </c:v>
                  </c:pt>
                  <c:pt idx="3">
                    <c:v>3h</c:v>
                  </c:pt>
                  <c:pt idx="4">
                    <c:v> </c:v>
                  </c:pt>
                  <c:pt idx="5">
                    <c:v>  </c:v>
                  </c:pt>
                  <c:pt idx="6">
                    <c:v>6h</c:v>
                  </c:pt>
                  <c:pt idx="7">
                    <c:v> </c:v>
                  </c:pt>
                  <c:pt idx="8">
                    <c:v>  </c:v>
                  </c:pt>
                  <c:pt idx="9">
                    <c:v>9h</c:v>
                  </c:pt>
                  <c:pt idx="10">
                    <c:v> </c:v>
                  </c:pt>
                  <c:pt idx="11">
                    <c:v>  </c:v>
                  </c:pt>
                  <c:pt idx="12">
                    <c:v>12h</c:v>
                  </c:pt>
                  <c:pt idx="13">
                    <c:v> </c:v>
                  </c:pt>
                  <c:pt idx="14">
                    <c:v>  </c:v>
                  </c:pt>
                  <c:pt idx="15">
                    <c:v>15h</c:v>
                  </c:pt>
                  <c:pt idx="16">
                    <c:v> </c:v>
                  </c:pt>
                  <c:pt idx="17">
                    <c:v>  </c:v>
                  </c:pt>
                  <c:pt idx="18">
                    <c:v>18h</c:v>
                  </c:pt>
                  <c:pt idx="19">
                    <c:v> </c:v>
                  </c:pt>
                  <c:pt idx="20">
                    <c:v>  </c:v>
                  </c:pt>
                  <c:pt idx="21">
                    <c:v>21h</c:v>
                  </c:pt>
                  <c:pt idx="22">
                    <c:v> </c:v>
                  </c:pt>
                  <c:pt idx="23">
                    <c:v>  </c:v>
                  </c:pt>
                </c:lvl>
              </c:multiLvlStrCache>
            </c:multiLvlStrRef>
          </c:cat>
          <c:val>
            <c:numRef>
              <c:f>Sheet1!$B$2:$B$25</c:f>
              <c:numCache>
                <c:formatCode>General</c:formatCode>
                <c:ptCount val="24"/>
                <c:pt idx="0">
                  <c:v>65.13</c:v>
                </c:pt>
                <c:pt idx="1">
                  <c:v>61.87</c:v>
                </c:pt>
                <c:pt idx="2">
                  <c:v>59.65</c:v>
                </c:pt>
                <c:pt idx="3">
                  <c:v>58.23</c:v>
                </c:pt>
                <c:pt idx="4">
                  <c:v>57.47</c:v>
                </c:pt>
                <c:pt idx="5">
                  <c:v>56.94</c:v>
                </c:pt>
                <c:pt idx="6">
                  <c:v>56.4</c:v>
                </c:pt>
                <c:pt idx="7">
                  <c:v>56.72</c:v>
                </c:pt>
                <c:pt idx="8">
                  <c:v>57.24</c:v>
                </c:pt>
                <c:pt idx="9">
                  <c:v>58.13</c:v>
                </c:pt>
                <c:pt idx="10">
                  <c:v>59.73</c:v>
                </c:pt>
                <c:pt idx="11">
                  <c:v>60.58</c:v>
                </c:pt>
                <c:pt idx="12">
                  <c:v>58.98</c:v>
                </c:pt>
                <c:pt idx="13">
                  <c:v>56.55</c:v>
                </c:pt>
                <c:pt idx="14">
                  <c:v>55.13</c:v>
                </c:pt>
                <c:pt idx="15">
                  <c:v>56.07</c:v>
                </c:pt>
                <c:pt idx="16">
                  <c:v>60.32</c:v>
                </c:pt>
                <c:pt idx="17">
                  <c:v>68.72</c:v>
                </c:pt>
                <c:pt idx="18">
                  <c:v>78.06</c:v>
                </c:pt>
                <c:pt idx="19">
                  <c:v>78.2</c:v>
                </c:pt>
                <c:pt idx="20">
                  <c:v>76.48</c:v>
                </c:pt>
                <c:pt idx="21">
                  <c:v>74.89</c:v>
                </c:pt>
                <c:pt idx="22">
                  <c:v>71.63</c:v>
                </c:pt>
                <c:pt idx="23">
                  <c:v>67.38</c:v>
                </c:pt>
              </c:numCache>
            </c:numRef>
          </c:val>
          <c:smooth val="0"/>
        </c:ser>
        <c:ser>
          <c:idx val="1"/>
          <c:order val="1"/>
          <c:tx>
            <c:strRef>
              <c:f>Sheet1!$C$1</c:f>
              <c:strCache>
                <c:ptCount val="1"/>
                <c:pt idx="0">
                  <c:v>MMGD</c:v>
                </c:pt>
              </c:strCache>
            </c:strRef>
          </c:tx>
          <c:spPr>
            <a:solidFill>
              <a:srgbClr val="F5A524"/>
            </a:solidFill>
            <a:ln w="38100" cap="flat">
              <a:solidFill>
                <a:srgbClr val="F5A5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5A524"/>
              </a:solidFill>
              <a:ln w="9525" cap="flat">
                <a:solidFill>
                  <a:srgbClr val="F5A524"/>
                </a:solidFill>
                <a:prstDash val="solid"/>
                <a:round/>
              </a:ln>
              <a:effectLst/>
            </c:spPr>
          </c:marker>
          <c:cat>
            <c:multiLvlStrRef>
              <c:f>Sheet1!$A$2:$A$25</c:f>
              <c:multiLvlStrCache>
                <c:ptCount val="24"/>
                <c:lvl>
                  <c:pt idx="0">
                    <c:v>0h</c:v>
                  </c:pt>
                  <c:pt idx="1">
                    <c:v> </c:v>
                  </c:pt>
                  <c:pt idx="2">
                    <c:v>  </c:v>
                  </c:pt>
                  <c:pt idx="3">
                    <c:v>3h</c:v>
                  </c:pt>
                  <c:pt idx="4">
                    <c:v> </c:v>
                  </c:pt>
                  <c:pt idx="5">
                    <c:v>  </c:v>
                  </c:pt>
                  <c:pt idx="6">
                    <c:v>6h</c:v>
                  </c:pt>
                  <c:pt idx="7">
                    <c:v> </c:v>
                  </c:pt>
                  <c:pt idx="8">
                    <c:v>  </c:v>
                  </c:pt>
                  <c:pt idx="9">
                    <c:v>9h</c:v>
                  </c:pt>
                  <c:pt idx="10">
                    <c:v> </c:v>
                  </c:pt>
                  <c:pt idx="11">
                    <c:v>  </c:v>
                  </c:pt>
                  <c:pt idx="12">
                    <c:v>12h</c:v>
                  </c:pt>
                  <c:pt idx="13">
                    <c:v> </c:v>
                  </c:pt>
                  <c:pt idx="14">
                    <c:v>  </c:v>
                  </c:pt>
                  <c:pt idx="15">
                    <c:v>15h</c:v>
                  </c:pt>
                  <c:pt idx="16">
                    <c:v> </c:v>
                  </c:pt>
                  <c:pt idx="17">
                    <c:v>  </c:v>
                  </c:pt>
                  <c:pt idx="18">
                    <c:v>18h</c:v>
                  </c:pt>
                  <c:pt idx="19">
                    <c:v> </c:v>
                  </c:pt>
                  <c:pt idx="20">
                    <c:v>  </c:v>
                  </c:pt>
                  <c:pt idx="21">
                    <c:v>21h</c:v>
                  </c:pt>
                  <c:pt idx="22">
                    <c:v> </c:v>
                  </c:pt>
                  <c:pt idx="23">
                    <c:v>  </c:v>
                  </c:pt>
                </c:lvl>
              </c:multiLvlStrCache>
            </c:multiLvlStrRef>
          </c:cat>
          <c:val>
            <c:numRef>
              <c:f>Sheet1!$C$2:$C$25</c:f>
              <c:numCache>
                <c:formatCode>General</c:formatCode>
                <c:ptCount val="24"/>
                <c:pt idx="0">
                  <c:v>0</c:v>
                </c:pt>
                <c:pt idx="1">
                  <c:v>0</c:v>
                </c:pt>
                <c:pt idx="2">
                  <c:v>0</c:v>
                </c:pt>
                <c:pt idx="3">
                  <c:v>0</c:v>
                </c:pt>
                <c:pt idx="4">
                  <c:v>0</c:v>
                </c:pt>
                <c:pt idx="5">
                  <c:v>0.11</c:v>
                </c:pt>
                <c:pt idx="6">
                  <c:v>1.49</c:v>
                </c:pt>
                <c:pt idx="7">
                  <c:v>6.02</c:v>
                </c:pt>
                <c:pt idx="8">
                  <c:v>12.12</c:v>
                </c:pt>
                <c:pt idx="9">
                  <c:v>17.51</c:v>
                </c:pt>
                <c:pt idx="10">
                  <c:v>21.45</c:v>
                </c:pt>
                <c:pt idx="11">
                  <c:v>23.35</c:v>
                </c:pt>
                <c:pt idx="12">
                  <c:v>23.22</c:v>
                </c:pt>
                <c:pt idx="13">
                  <c:v>21.08</c:v>
                </c:pt>
                <c:pt idx="14">
                  <c:v>17.22</c:v>
                </c:pt>
                <c:pt idx="15">
                  <c:v>11.97</c:v>
                </c:pt>
                <c:pt idx="16">
                  <c:v>6</c:v>
                </c:pt>
                <c:pt idx="17">
                  <c:v>1.32</c:v>
                </c:pt>
                <c:pt idx="18">
                  <c:v>0.06</c:v>
                </c:pt>
                <c:pt idx="19">
                  <c:v>0</c:v>
                </c:pt>
                <c:pt idx="20">
                  <c:v>0</c:v>
                </c:pt>
                <c:pt idx="21">
                  <c:v>0</c:v>
                </c:pt>
                <c:pt idx="22">
                  <c:v>0</c:v>
                </c:pt>
                <c:pt idx="23">
                  <c:v>0</c:v>
                </c:pt>
              </c:numCache>
            </c:numRef>
          </c:val>
          <c:smooth val="0"/>
        </c:ser>
        <c:ser>
          <c:idx val="2"/>
          <c:order val="2"/>
          <c:tx>
            <c:strRef>
              <c:f>Sheet1!$D$1</c:f>
              <c:strCache>
                <c:ptCount val="1"/>
                <c:pt idx="0">
                  <c:v>Eólica e solar centralizada</c:v>
                </c:pt>
              </c:strCache>
            </c:strRef>
          </c:tx>
          <c:spPr>
            <a:solidFill>
              <a:srgbClr val="1FB5A8"/>
            </a:solidFill>
            <a:ln w="38100" cap="flat">
              <a:solidFill>
                <a:srgbClr val="1FB5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B5A8"/>
              </a:solidFill>
              <a:ln w="9525" cap="flat">
                <a:solidFill>
                  <a:srgbClr val="1FB5A8"/>
                </a:solidFill>
                <a:prstDash val="solid"/>
                <a:round/>
              </a:ln>
              <a:effectLst/>
            </c:spPr>
          </c:marker>
          <c:cat>
            <c:multiLvlStrRef>
              <c:f>Sheet1!$A$2:$A$25</c:f>
              <c:multiLvlStrCache>
                <c:ptCount val="24"/>
                <c:lvl>
                  <c:pt idx="0">
                    <c:v>0h</c:v>
                  </c:pt>
                  <c:pt idx="1">
                    <c:v> </c:v>
                  </c:pt>
                  <c:pt idx="2">
                    <c:v>  </c:v>
                  </c:pt>
                  <c:pt idx="3">
                    <c:v>3h</c:v>
                  </c:pt>
                  <c:pt idx="4">
                    <c:v> </c:v>
                  </c:pt>
                  <c:pt idx="5">
                    <c:v>  </c:v>
                  </c:pt>
                  <c:pt idx="6">
                    <c:v>6h</c:v>
                  </c:pt>
                  <c:pt idx="7">
                    <c:v> </c:v>
                  </c:pt>
                  <c:pt idx="8">
                    <c:v>  </c:v>
                  </c:pt>
                  <c:pt idx="9">
                    <c:v>9h</c:v>
                  </c:pt>
                  <c:pt idx="10">
                    <c:v> </c:v>
                  </c:pt>
                  <c:pt idx="11">
                    <c:v>  </c:v>
                  </c:pt>
                  <c:pt idx="12">
                    <c:v>12h</c:v>
                  </c:pt>
                  <c:pt idx="13">
                    <c:v> </c:v>
                  </c:pt>
                  <c:pt idx="14">
                    <c:v>  </c:v>
                  </c:pt>
                  <c:pt idx="15">
                    <c:v>15h</c:v>
                  </c:pt>
                  <c:pt idx="16">
                    <c:v> </c:v>
                  </c:pt>
                  <c:pt idx="17">
                    <c:v>  </c:v>
                  </c:pt>
                  <c:pt idx="18">
                    <c:v>18h</c:v>
                  </c:pt>
                  <c:pt idx="19">
                    <c:v> </c:v>
                  </c:pt>
                  <c:pt idx="20">
                    <c:v>  </c:v>
                  </c:pt>
                  <c:pt idx="21">
                    <c:v>21h</c:v>
                  </c:pt>
                  <c:pt idx="22">
                    <c:v> </c:v>
                  </c:pt>
                  <c:pt idx="23">
                    <c:v>  </c:v>
                  </c:pt>
                </c:lvl>
              </c:multiLvlStrCache>
            </c:multiLvlStrRef>
          </c:cat>
          <c:val>
            <c:numRef>
              <c:f>Sheet1!$D$2:$D$25</c:f>
              <c:numCache>
                <c:formatCode>General</c:formatCode>
                <c:ptCount val="24"/>
                <c:pt idx="0">
                  <c:v>14.15</c:v>
                </c:pt>
                <c:pt idx="1">
                  <c:v>14.33</c:v>
                </c:pt>
                <c:pt idx="2">
                  <c:v>13.95</c:v>
                </c:pt>
                <c:pt idx="3">
                  <c:v>13.35</c:v>
                </c:pt>
                <c:pt idx="4">
                  <c:v>12.37</c:v>
                </c:pt>
                <c:pt idx="5">
                  <c:v>11.95</c:v>
                </c:pt>
                <c:pt idx="6">
                  <c:v>12.48</c:v>
                </c:pt>
                <c:pt idx="7">
                  <c:v>11.08</c:v>
                </c:pt>
                <c:pt idx="8">
                  <c:v>7.94</c:v>
                </c:pt>
                <c:pt idx="9">
                  <c:v>4.41</c:v>
                </c:pt>
                <c:pt idx="10">
                  <c:v>2.72</c:v>
                </c:pt>
                <c:pt idx="11">
                  <c:v>1.77</c:v>
                </c:pt>
                <c:pt idx="12">
                  <c:v>1.09</c:v>
                </c:pt>
                <c:pt idx="13">
                  <c:v>0.97</c:v>
                </c:pt>
                <c:pt idx="14">
                  <c:v>2.11</c:v>
                </c:pt>
                <c:pt idx="15">
                  <c:v>6.8</c:v>
                </c:pt>
                <c:pt idx="16">
                  <c:v>11.91</c:v>
                </c:pt>
                <c:pt idx="17">
                  <c:v>10.87</c:v>
                </c:pt>
                <c:pt idx="18">
                  <c:v>10.78</c:v>
                </c:pt>
                <c:pt idx="19">
                  <c:v>11.47</c:v>
                </c:pt>
                <c:pt idx="20">
                  <c:v>12.1</c:v>
                </c:pt>
                <c:pt idx="21">
                  <c:v>12.21</c:v>
                </c:pt>
                <c:pt idx="22">
                  <c:v>13.4</c:v>
                </c:pt>
                <c:pt idx="23">
                  <c:v>15.6</c:v>
                </c:pt>
              </c:numCache>
            </c:numRef>
          </c:val>
          <c:smooth val="0"/>
        </c:ser>
        <c:ser>
          <c:idx val="3"/>
          <c:order val="3"/>
          <c:tx>
            <c:strRef>
              <c:f>Sheet1!$E$1</c:f>
              <c:strCache>
                <c:ptCount val="1"/>
                <c:pt idx="0">
                  <c:v>Carga líquida</c:v>
                </c:pt>
              </c:strCache>
            </c:strRef>
          </c:tx>
          <c:spPr>
            <a:solidFill>
              <a:srgbClr val="E4572E"/>
            </a:solidFill>
            <a:ln w="3810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4572E"/>
              </a:solidFill>
              <a:ln w="9525" cap="flat">
                <a:solidFill>
                  <a:srgbClr val="E4572E"/>
                </a:solidFill>
                <a:prstDash val="solid"/>
                <a:round/>
              </a:ln>
              <a:effectLst/>
            </c:spPr>
          </c:marker>
          <c:cat>
            <c:multiLvlStrRef>
              <c:f>Sheet1!$A$2:$A$25</c:f>
              <c:multiLvlStrCache>
                <c:ptCount val="24"/>
                <c:lvl>
                  <c:pt idx="0">
                    <c:v>0h</c:v>
                  </c:pt>
                  <c:pt idx="1">
                    <c:v> </c:v>
                  </c:pt>
                  <c:pt idx="2">
                    <c:v>  </c:v>
                  </c:pt>
                  <c:pt idx="3">
                    <c:v>3h</c:v>
                  </c:pt>
                  <c:pt idx="4">
                    <c:v> </c:v>
                  </c:pt>
                  <c:pt idx="5">
                    <c:v>  </c:v>
                  </c:pt>
                  <c:pt idx="6">
                    <c:v>6h</c:v>
                  </c:pt>
                  <c:pt idx="7">
                    <c:v> </c:v>
                  </c:pt>
                  <c:pt idx="8">
                    <c:v>  </c:v>
                  </c:pt>
                  <c:pt idx="9">
                    <c:v>9h</c:v>
                  </c:pt>
                  <c:pt idx="10">
                    <c:v> </c:v>
                  </c:pt>
                  <c:pt idx="11">
                    <c:v>  </c:v>
                  </c:pt>
                  <c:pt idx="12">
                    <c:v>12h</c:v>
                  </c:pt>
                  <c:pt idx="13">
                    <c:v> </c:v>
                  </c:pt>
                  <c:pt idx="14">
                    <c:v>  </c:v>
                  </c:pt>
                  <c:pt idx="15">
                    <c:v>15h</c:v>
                  </c:pt>
                  <c:pt idx="16">
                    <c:v> </c:v>
                  </c:pt>
                  <c:pt idx="17">
                    <c:v>  </c:v>
                  </c:pt>
                  <c:pt idx="18">
                    <c:v>18h</c:v>
                  </c:pt>
                  <c:pt idx="19">
                    <c:v> </c:v>
                  </c:pt>
                  <c:pt idx="20">
                    <c:v>  </c:v>
                  </c:pt>
                  <c:pt idx="21">
                    <c:v>21h</c:v>
                  </c:pt>
                  <c:pt idx="22">
                    <c:v> </c:v>
                  </c:pt>
                  <c:pt idx="23">
                    <c:v>  </c:v>
                  </c:pt>
                </c:lvl>
              </c:multiLvlStrCache>
            </c:multiLvlStrRef>
          </c:cat>
          <c:val>
            <c:numRef>
              <c:f>Sheet1!$E$2:$E$25</c:f>
              <c:numCache>
                <c:formatCode>General</c:formatCode>
                <c:ptCount val="24"/>
                <c:pt idx="0">
                  <c:v>50.98</c:v>
                </c:pt>
                <c:pt idx="1">
                  <c:v>47.54</c:v>
                </c:pt>
                <c:pt idx="2">
                  <c:v>45.7</c:v>
                </c:pt>
                <c:pt idx="3">
                  <c:v>44.88</c:v>
                </c:pt>
                <c:pt idx="4">
                  <c:v>45.1</c:v>
                </c:pt>
                <c:pt idx="5">
                  <c:v>44.88</c:v>
                </c:pt>
                <c:pt idx="6">
                  <c:v>42.43</c:v>
                </c:pt>
                <c:pt idx="7">
                  <c:v>39.62</c:v>
                </c:pt>
                <c:pt idx="8">
                  <c:v>37.18</c:v>
                </c:pt>
                <c:pt idx="9">
                  <c:v>36.21</c:v>
                </c:pt>
                <c:pt idx="10">
                  <c:v>35.56</c:v>
                </c:pt>
                <c:pt idx="11">
                  <c:v>35.46</c:v>
                </c:pt>
                <c:pt idx="12">
                  <c:v>34.67</c:v>
                </c:pt>
                <c:pt idx="13">
                  <c:v>34.5</c:v>
                </c:pt>
                <c:pt idx="14">
                  <c:v>35.8</c:v>
                </c:pt>
                <c:pt idx="15">
                  <c:v>37.3</c:v>
                </c:pt>
                <c:pt idx="16">
                  <c:v>42.41</c:v>
                </c:pt>
                <c:pt idx="17">
                  <c:v>56.53</c:v>
                </c:pt>
                <c:pt idx="18">
                  <c:v>67.22</c:v>
                </c:pt>
                <c:pt idx="19">
                  <c:v>66.73</c:v>
                </c:pt>
                <c:pt idx="20">
                  <c:v>64.38</c:v>
                </c:pt>
                <c:pt idx="21">
                  <c:v>62.68</c:v>
                </c:pt>
                <c:pt idx="22">
                  <c:v>58.23</c:v>
                </c:pt>
                <c:pt idx="23">
                  <c:v>51.78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B1A2E"/>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6350" cap="flat">
              <a:solidFill>
                <a:srgbClr val="D5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80"/>
                </a:solidFill>
                <a:latin typeface="+mn-lt"/>
              </a:defRPr>
            </a:pPr>
            <a:endParaRPr lang="en-US"/>
          </a:p>
        </c:txPr>
        <c:crossAx val="2094734554"/>
        <c:crosses val="autoZero"/>
        <c:crossBetween val="between"/>
        <c:majorUnit val="15"/>
      </c:valAx>
      <c:spPr>
        <a:noFill/>
        <a:ln>
          <a:noFill/>
        </a:ln>
        <a:effectLst/>
      </c:spPr>
    </c:plotArea>
    <c:legend>
      <c:legendPos val="b"/>
      <c:overlay val="0"/>
      <c:txPr>
        <a:bodyPr/>
        <a:lstStyle/>
        <a:p>
          <a:pPr>
            <a:defRPr sz="1200">
              <a:solidFill>
                <a:srgbClr val="0B1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A2E"/>
                </a:solidFill>
                <a:latin typeface="+mn-lt"/>
              </a:defRPr>
            </a:pPr>
            <a:r>
              <a:rPr sz="1400" b="0" i="0" u="none" strike="noStrike">
                <a:solidFill>
                  <a:srgbClr val="0B1A2E"/>
                </a:solidFill>
                <a:latin typeface="+mn-lt"/>
              </a:rPr>
              <a:t>Parcela do encargo por fonte (%)</a:t>
            </a:r>
          </a:p>
        </c:rich>
      </c:tx>
      <c:layout/>
      <c:overlay val="0"/>
    </c:title>
    <c:autoTitleDeleted val="0"/>
    <c:plotArea>
      <c:layout/>
      <c:barChart>
        <c:barDir val="col"/>
        <c:grouping val="clustered"/>
        <c:varyColors val="0"/>
        <c:ser>
          <c:idx val="0"/>
          <c:order val="0"/>
          <c:tx>
            <c:strRef>
              <c:f>Sheet1!$B$1</c:f>
              <c:strCache>
                <c:ptCount val="1"/>
                <c:pt idx="0">
                  <c:v>A: hidro e térmicas em P1</c:v>
                </c:pt>
              </c:strCache>
            </c:strRef>
          </c:tx>
          <c:spPr>
            <a:solidFill>
              <a:srgbClr val="2F6FDE"/>
            </a:solidFill>
            <a:effectLst/>
          </c:spPr>
          <c:invertIfNegative val="0"/>
          <c:dLbls>
            <c:numFmt formatCode="0.0" sourceLinked="0"/>
            <c:txPr>
              <a:bodyPr/>
              <a:lstStyle/>
              <a:p>
                <a:pPr>
                  <a:defRPr b="0" i="0" strike="noStrike" sz="1100" u="none">
                    <a:solidFill>
                      <a:srgbClr val="0B1A2E"/>
                    </a:solidFill>
                    <a:latin typeface="+mn-lt"/>
                  </a:defRPr>
                </a:pPr>
              </a:p>
            </c:txPr>
            <c:showLegendKey val="0"/>
            <c:showVal val="1"/>
            <c:showCatName val="0"/>
            <c:showSerName val="0"/>
            <c:showPercent val="0"/>
            <c:showBubbleSize val="0"/>
            <c:showLeaderLines val="0"/>
          </c:dLbls>
          <c:cat>
            <c:multiLvlStrRef>
              <c:f>Sheet1!$A$2:$A$5</c:f>
              <c:multiLvlStrCache>
                <c:ptCount val="4"/>
                <c:lvl>
                  <c:pt idx="0">
                    <c:v>Hidrelétricas</c:v>
                  </c:pt>
                  <c:pt idx="1">
                    <c:v>Eólicas</c:v>
                  </c:pt>
                  <c:pt idx="2">
                    <c:v>Solares</c:v>
                  </c:pt>
                  <c:pt idx="3">
                    <c:v>Térmicas e biomassa</c:v>
                  </c:pt>
                </c:lvl>
              </c:multiLvlStrCache>
            </c:multiLvlStrRef>
          </c:cat>
          <c:val>
            <c:numRef>
              <c:f>Sheet1!$B$2:$B$5</c:f>
              <c:numCache>
                <c:formatCode>General</c:formatCode>
                <c:ptCount val="4"/>
                <c:pt idx="0">
                  <c:v>62.3</c:v>
                </c:pt>
                <c:pt idx="1">
                  <c:v>17.9</c:v>
                </c:pt>
                <c:pt idx="2">
                  <c:v>5.3</c:v>
                </c:pt>
                <c:pt idx="3">
                  <c:v>14.5</c:v>
                </c:pt>
              </c:numCache>
            </c:numRef>
          </c:val>
        </c:ser>
        <c:ser>
          <c:idx val="1"/>
          <c:order val="1"/>
          <c:tx>
            <c:strRef>
              <c:f>Sheet1!$C$1</c:f>
              <c:strCache>
                <c:ptCount val="1"/>
                <c:pt idx="0">
                  <c:v>B: distribuídas entre P1 e P4</c:v>
                </c:pt>
              </c:strCache>
            </c:strRef>
          </c:tx>
          <c:spPr>
            <a:solidFill>
              <a:srgbClr val="F5A524"/>
            </a:solidFill>
            <a:effectLst/>
          </c:spPr>
          <c:invertIfNegative val="0"/>
          <c:dLbls>
            <c:numFmt formatCode="0.0" sourceLinked="0"/>
            <c:txPr>
              <a:bodyPr/>
              <a:lstStyle/>
              <a:p>
                <a:pPr>
                  <a:defRPr b="0" i="0" strike="noStrike" sz="1100" u="none">
                    <a:solidFill>
                      <a:srgbClr val="0B1A2E"/>
                    </a:solidFill>
                    <a:latin typeface="+mn-lt"/>
                  </a:defRPr>
                </a:pPr>
              </a:p>
            </c:txPr>
            <c:showLegendKey val="0"/>
            <c:showVal val="1"/>
            <c:showCatName val="0"/>
            <c:showSerName val="0"/>
            <c:showPercent val="0"/>
            <c:showBubbleSize val="0"/>
            <c:showLeaderLines val="0"/>
          </c:dLbls>
          <c:cat>
            <c:multiLvlStrRef>
              <c:f>Sheet1!$A$2:$A$5</c:f>
              <c:multiLvlStrCache>
                <c:ptCount val="4"/>
                <c:lvl>
                  <c:pt idx="0">
                    <c:v>Hidrelétricas</c:v>
                  </c:pt>
                  <c:pt idx="1">
                    <c:v>Eólicas</c:v>
                  </c:pt>
                  <c:pt idx="2">
                    <c:v>Solares</c:v>
                  </c:pt>
                  <c:pt idx="3">
                    <c:v>Térmicas e biomassa</c:v>
                  </c:pt>
                </c:lvl>
              </c:multiLvlStrCache>
            </c:multiLvlStrRef>
          </c:cat>
          <c:val>
            <c:numRef>
              <c:f>Sheet1!$C$2:$C$5</c:f>
              <c:numCache>
                <c:formatCode>General</c:formatCode>
                <c:ptCount val="4"/>
                <c:pt idx="0">
                  <c:v>54.6</c:v>
                </c:pt>
                <c:pt idx="1">
                  <c:v>25.2</c:v>
                </c:pt>
                <c:pt idx="2">
                  <c:v>7.5</c:v>
                </c:pt>
                <c:pt idx="3">
                  <c:v>12.7</c:v>
                </c:pt>
              </c:numCache>
            </c:numRef>
          </c:val>
        </c:ser>
        <c:ser>
          <c:idx val="2"/>
          <c:order val="2"/>
          <c:tx>
            <c:strRef>
              <c:f>Sheet1!$D$1</c:f>
              <c:strCache>
                <c:ptCount val="1"/>
                <c:pt idx="0">
                  <c:v>C: hidro e térmicas em P4</c:v>
                </c:pt>
              </c:strCache>
            </c:strRef>
          </c:tx>
          <c:spPr>
            <a:solidFill>
              <a:srgbClr val="1FB5A8"/>
            </a:solidFill>
            <a:effectLst/>
          </c:spPr>
          <c:invertIfNegative val="0"/>
          <c:dLbls>
            <c:numFmt formatCode="0.0" sourceLinked="0"/>
            <c:txPr>
              <a:bodyPr/>
              <a:lstStyle/>
              <a:p>
                <a:pPr>
                  <a:defRPr b="0" i="0" strike="noStrike" sz="1100" u="none">
                    <a:solidFill>
                      <a:srgbClr val="0B1A2E"/>
                    </a:solidFill>
                    <a:latin typeface="+mn-lt"/>
                  </a:defRPr>
                </a:pPr>
              </a:p>
            </c:txPr>
            <c:showLegendKey val="0"/>
            <c:showVal val="1"/>
            <c:showCatName val="0"/>
            <c:showSerName val="0"/>
            <c:showPercent val="0"/>
            <c:showBubbleSize val="0"/>
            <c:showLeaderLines val="0"/>
          </c:dLbls>
          <c:cat>
            <c:multiLvlStrRef>
              <c:f>Sheet1!$A$2:$A$5</c:f>
              <c:multiLvlStrCache>
                <c:ptCount val="4"/>
                <c:lvl>
                  <c:pt idx="0">
                    <c:v>Hidrelétricas</c:v>
                  </c:pt>
                  <c:pt idx="1">
                    <c:v>Eólicas</c:v>
                  </c:pt>
                  <c:pt idx="2">
                    <c:v>Solares</c:v>
                  </c:pt>
                  <c:pt idx="3">
                    <c:v>Térmicas e biomassa</c:v>
                  </c:pt>
                </c:lvl>
              </c:multiLvlStrCache>
            </c:multiLvlStrRef>
          </c:cat>
          <c:val>
            <c:numRef>
              <c:f>Sheet1!$D$2:$D$5</c:f>
              <c:numCache>
                <c:formatCode>General</c:formatCode>
                <c:ptCount val="4"/>
                <c:pt idx="0">
                  <c:v>36.7</c:v>
                </c:pt>
                <c:pt idx="1">
                  <c:v>42.2</c:v>
                </c:pt>
                <c:pt idx="2">
                  <c:v>12.5</c:v>
                </c:pt>
                <c:pt idx="3">
                  <c:v>8.6</c:v>
                </c:pt>
              </c:numCache>
            </c:numRef>
          </c:val>
        </c:ser>
        <c:dLbls>
          <c:numFmt formatCode="0.0" sourceLinked="0"/>
          <c:txPr>
            <a:bodyPr/>
            <a:lstStyle/>
            <a:p>
              <a:pPr>
                <a:defRPr b="0" i="0" strike="noStrike" sz="1100" u="none">
                  <a:solidFill>
                    <a:srgbClr val="0B1A2E"/>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B1A2E"/>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D5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B1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A2E"/>
                </a:solidFill>
                <a:latin typeface="+mn-lt"/>
              </a:defRPr>
            </a:pPr>
            <a:r>
              <a:rPr sz="1400" b="0" i="0" u="none" strike="noStrike">
                <a:solidFill>
                  <a:srgbClr val="0B1A2E"/>
                </a:solidFill>
                <a:latin typeface="+mn-lt"/>
              </a:rPr>
              <a:t>Benefício anual estimado (R$ bilhões)</a:t>
            </a:r>
          </a:p>
        </c:rich>
      </c:tx>
      <c:layout/>
      <c:overlay val="0"/>
    </c:title>
    <c:autoTitleDeleted val="0"/>
    <c:plotArea>
      <c:layout/>
      <c:barChart>
        <c:barDir val="col"/>
        <c:grouping val="clustered"/>
        <c:varyColors val="0"/>
        <c:ser>
          <c:idx val="0"/>
          <c:order val="0"/>
          <c:tx>
            <c:strRef>
              <c:f>Sheet1!$B$1</c:f>
              <c:strCache>
                <c:ptCount val="1"/>
                <c:pt idx="0">
                  <c:v>Benefício estimado (R$ bi/ano)</c:v>
                </c:pt>
              </c:strCache>
            </c:strRef>
          </c:tx>
          <c:spPr>
            <a:solidFill>
              <a:srgbClr val="1FB5A8"/>
            </a:solidFill>
            <a:effectLst/>
          </c:spPr>
          <c:invertIfNegative val="0"/>
          <c:dLbls>
            <c:numFmt formatCode="0.0" sourceLinked="0"/>
            <c:txPr>
              <a:bodyPr/>
              <a:lstStyle/>
              <a:p>
                <a:pPr>
                  <a:defRPr b="0" i="0" strike="noStrike" sz="1400" u="none">
                    <a:solidFill>
                      <a:srgbClr val="0B1A2E"/>
                    </a:solidFill>
                    <a:latin typeface="+mn-lt"/>
                  </a:defRPr>
                </a:pPr>
              </a:p>
            </c:txPr>
            <c:showLegendKey val="0"/>
            <c:showVal val="1"/>
            <c:showCatName val="0"/>
            <c:showSerName val="0"/>
            <c:showPercent val="0"/>
            <c:showBubbleSize val="0"/>
            <c:showLeaderLines val="0"/>
          </c:dLbls>
          <c:cat>
            <c:multiLvlStrRef>
              <c:f>Sheet1!$A$2:$A$4</c:f>
              <c:multiLvlStrCache>
                <c:ptCount val="3"/>
                <c:lvl>
                  <c:pt idx="0">
                    <c:v>4,5 GW (Volt Robotics e ABSAE)</c:v>
                  </c:pt>
                  <c:pt idx="1">
                    <c:v>Até 6 GW (ABSAE e Volt Robotics)</c:v>
                  </c:pt>
                  <c:pt idx="2">
                    <c:v>2 GW (ABSAE)</c:v>
                  </c:pt>
                </c:lvl>
              </c:multiLvlStrCache>
            </c:multiLvlStrRef>
          </c:cat>
          <c:val>
            <c:numRef>
              <c:f>Sheet1!$B$2:$B$4</c:f>
              <c:numCache>
                <c:formatCode>General</c:formatCode>
                <c:ptCount val="3"/>
                <c:pt idx="0">
                  <c:v>8.9</c:v>
                </c:pt>
                <c:pt idx="1">
                  <c:v>6</c:v>
                </c:pt>
                <c:pt idx="2">
                  <c:v>3.2</c:v>
                </c:pt>
              </c:numCache>
            </c:numRef>
          </c:val>
        </c:ser>
        <c:dLbls>
          <c:numFmt formatCode="0.0" sourceLinked="0"/>
          <c:txPr>
            <a:bodyPr/>
            <a:lstStyle/>
            <a:p>
              <a:pPr>
                <a:defRPr b="0" i="0" strike="noStrike" sz="1400" u="none">
                  <a:solidFill>
                    <a:srgbClr val="0B1A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B1A2E"/>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6350" cap="flat">
              <a:solidFill>
                <a:srgbClr val="D5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Abertura: tema, disciplina e identificação. A pergunta central é, para cada fonte (eólicas, solares e UHEs), se o ganho com menos cortes compensa o encargo das baterias.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números mostram a escala do problema. Os valores de curtailment e perdas vêm de fontes setoriais e variam por metodologia; a faixa de MMGD é a do caderno do PDE 2034.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Cadeia causal: MMGD solar reduz a carga líquida ao meio-dia, hidrelétricas e térmicas já estão no mínimo, o excedente força o corte de eólicas e UFVs, e ao pôr do sol há rampa. A bateria desloca a energia do excedente para a ponta.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Curva real do SIN em 10/08/2025, um domingo e o dia do episódio de excedente citado pelo setor. Dados abertos do ONS em base horária: a carga vem do balanço de energia nos subsistemas (linha SIN), e a MMGD é a modalidade 'Pequenas Usinas (MMGD)' do conjunto de geração por usina, que é uma estimativa do ONS. A soma de MMGD e solar centralizada reproduz a geração solar do balanço, e a geração total reproduz a carga, o que indica que a carga do ONS é a carga bruta, incluindo a parcela atendida pela MMGD. Carga líquida = carga bruta menos MMGD, menos geração eólica e menos solar centralizada; o gráfico calcula as quatro curvas a partir da mesma base, e a identidade fecha com erro máximo de 0,02 GW por arredondamento. Não são descontadas outras fontes não despacháveis, como PCHs, biomassa e térmicas inflexíveis. Atenção: a eólica e a solar centralizada usadas são as efetivamente geradas, já com os cortes; no dia 10/08 elas somaram apenas 1,1 GW às 12h, contra 14,3 GW na média de agosto, então parte da barriga da carga líquida estaria ainda mais profunda sem os cortes. Resultados do dia: MMGD de 23,2 GW às 12h, equivalente a 39,4% da carga de 59,0 GW; carga líquida mínima de 34,5 GW às 13h e máxima de 67,2 GW às 18h; rampa de 29,9 GW entre 15h e 18h. A média de agosto/2025 (31 dias) tem o mesmo formato: carga líquida de 37,7 GW às 12h e 70,7 GW às 18h.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justificativa combina perda econômica já observada, uma janela de decisão regulatória (leilão de baterias) e uma lacuna analítica: ninguém mostrou, fonte a fonte, se o ganho com menos cortes compensa o encargo.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pergunta agora é fonte a fonte: para eólicas, solares e UHEs, o ganho com menos cortes supera o encargo que cada uma pagará pelas baterias? A hipótese H1 vale para cada fonte i. Os percentuais de corte são do 3º trimestre de 2025 (BTG); o dado da Abrage cobre 2022 a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objetivo geral responde à pergunta de pesquisa: para cada fonte, o ganho com menos cortes (receita adicional) supera o encargo da receita fixa das baterias?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objetivos formam uma cadeia, sempre fonte a fonte: geração evitada de corte (OE1), ganho (OE2), encargo (OE3), comparação (OE4) e sensibilidade (OE5).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escopo agora se limita às três fontes da pergunta: eólicas, UFVs centralizadas e UHEs. As térmicas e a biomassa também pagam encargo, mas só são reportadas. As premissas ainda a definir incluem a receita fixa, que depende do deságio do leilão.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Fluxo em serpentina: a etapa 1 gera a linha de base sem baterias; a etapa 2 repete as simulações com baterias em níveis crescentes de MMGD; a etapa 3 mede a geração evitada de corte de cada fonte, valora o ganho, estima o encargo pela regra de rateio e calcula o saldo de cada fonte.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Matriz 3 x 2, avaliada sob três regras de rateio (R1 a R3). A faixa de 47 a 71 GW com referência de 59 GW é a do caderno de MMGD do PDE 2034 e serve de ordem de grandeza; os valores finais dependem do ano-horizonte escolhido.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objetivo específico tem uma variável, uma unidade e um critério de comparação definidos, sempre por fonte.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cada fonte i, compara-se o ganho (geração evitada de corte vezes preço) com o encargo (receita fixa vezes a parcela da fonte). A razão ganho sobre encargo maior ou igual a 1 indica vantagem. O ponto de equilíbrio é a geração evitada de corte mínima para pagar o encargo: encargo dividido pelo preço. Como o rateio usa a energia associada, quem gera mais paga mais, e isso entra no cálculo.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Entregas, contribuição e limitações do estudo. A receita fixa depende do deságio do leilão de dezembro de 2026, e o ressarcimento de cortes da Lei 15.269 pode reduzir o ganho incremental.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Pela Lei 15.269/2025, o custo das baterias é rateado só entre geradores; a ANEEL regulamenta a divisão. A regra ainda está em consulta pública e há projetos de lei para incluir os consumidores. A data da Portaria 136/2026 varia entre as fontes (início de junho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vencedor recebe receita fixa, e o conjunto de receitas mais a energia de recarga forma o encargo Ercap-SAE, que a lei manda ratear entre os geradores. As penalidades são as da minuta em consulta.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quatro patamares (100%, 75%, 50% e 25%) são da proposta da área técnica em consulta pública; podem mudar. Segundo resumos da nota técnica, valem para todas as classes de geração, e eólicas e solares entram inicialmente no P1. Os critérios de cada patamar não foram localizados. Os cenários de rateio R1 a R3 alimentam a análise de sensibilidade do OE4 e do OE5.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parcela de cada fonte é o peso dela (geração x coeficiente) dividido pela soma dos pesos. Eólicas e solares ficam em P1. Hidrelétricas e térmicas recebem o mesmo k em cada cenário, porque não há classificação por usina. A base é a geração centralizada de 2025 (CCEE/EPE), que separa eólicas e solares.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Tabela completa do cálculo, com eólicas e solares separadas. No cenário A todos os coeficientes são 1, então as parcelas coincidem com a participação na geração. Nos cenários B e C, reduzir k das hidrelétricas e térmicas diminui a soma dos pesos e aumenta a parcela de eólicas e solares, que ficam em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colunas A, B e C somam R$ 1.000 milhões em cada cenário. A conversão é direta: parcela em % multiplicada por 10 dá o valor em R$ milhões por R$ 1 bilhão de receita fixa. As limitações indicam por que o resultado é só uma ordem de grandeza.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Exercício ilustrativo, não é a regra oficial. Parcela da fonte = geração x coeficiente, dividida pela soma dos pesos. Eólicas e solares ficam em P1 (100%), como na proposta. Hidrelétricas e térmicas recebem o mesmo coeficiente k em cada cenário. A: k = 100%, equivalente ao rateio universal. B: k = 62,5%, média simples dos quatro patamares. C: k = 25%, todas em P4. Os pesos e somas de cada cenário estão nos slides de memória de cálculo. Limitações: os critérios de cada patamar não foram localizados; 'térmicas e biomassa' agrupa fontes com flexibilidades diferentes.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números são de estudos do setor (ABSAE e Volt Robotics) e variam entre R$ 3 e R$ 9 bilhões por ano conforme a potência e as premissas. Não são resultados do nosso trabalho; servem de ordem de grandeza para comparar com o encargo.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tabela organiza as hipóteses por fonte. Eólicas e solares partem do patamar mais alto, mas têm o maior corte a evitar. As UHEs dependem do patamar em que forem classificadas e ganham em menos corte e mais água armazenada. As térmicas e a biomassa só são reportadas.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Fechamento: problema, pergunta, método e resposta esperada, em uma linha 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Algumas fontes são imprensa e consultorias setoriais; vale conferir os dados nas fontes primárias (ONS, EPE, ANEEL) antes da apresentação.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IS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2.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3.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ell 1"/>
          <p:cNvSpPr/>
          <p:nvPr/>
        </p:nvSpPr>
        <p:spPr>
          <a:xfrm>
            <a:off x="8503920" y="1737360"/>
            <a:ext cx="640080" cy="3291840"/>
          </a:xfrm>
          <a:prstGeom prst="roundRect">
            <a:avLst>
              <a:gd name="adj" fmla="val 14286"/>
            </a:avLst>
          </a:prstGeom>
          <a:solidFill>
            <a:schemeClr val="tx2"/>
          </a:solidFill>
          <a:ln w="12700">
            <a:solidFill>
              <a:schemeClr val="tx2"/>
            </a:solidFill>
            <a:prstDash val="solid"/>
          </a:ln>
        </p:spPr>
      </p:sp>
      <p:sp>
        <p:nvSpPr>
          <p:cNvPr id="3" name="Cell level 1"/>
          <p:cNvSpPr/>
          <p:nvPr/>
        </p:nvSpPr>
        <p:spPr>
          <a:xfrm>
            <a:off x="8503920" y="3877056"/>
            <a:ext cx="640080" cy="1152144"/>
          </a:xfrm>
          <a:prstGeom prst="roundRect">
            <a:avLst>
              <a:gd name="adj" fmla="val 14286"/>
            </a:avLst>
          </a:prstGeom>
          <a:solidFill>
            <a:schemeClr val="accent2"/>
          </a:solidFill>
          <a:ln w="12700">
            <a:solidFill>
              <a:schemeClr val="tx2"/>
            </a:solidFill>
            <a:prstDash val="solid"/>
          </a:ln>
        </p:spPr>
      </p:sp>
      <p:sp>
        <p:nvSpPr>
          <p:cNvPr id="4" name="Cell 2"/>
          <p:cNvSpPr/>
          <p:nvPr/>
        </p:nvSpPr>
        <p:spPr>
          <a:xfrm>
            <a:off x="9326880" y="1737360"/>
            <a:ext cx="640080" cy="3291840"/>
          </a:xfrm>
          <a:prstGeom prst="roundRect">
            <a:avLst>
              <a:gd name="adj" fmla="val 14286"/>
            </a:avLst>
          </a:prstGeom>
          <a:solidFill>
            <a:schemeClr val="tx2"/>
          </a:solidFill>
          <a:ln w="12700">
            <a:solidFill>
              <a:schemeClr val="tx2"/>
            </a:solidFill>
            <a:prstDash val="solid"/>
          </a:ln>
        </p:spPr>
      </p:sp>
      <p:sp>
        <p:nvSpPr>
          <p:cNvPr id="5" name="Cell level 2"/>
          <p:cNvSpPr/>
          <p:nvPr/>
        </p:nvSpPr>
        <p:spPr>
          <a:xfrm>
            <a:off x="9326880" y="3218688"/>
            <a:ext cx="640080" cy="1810512"/>
          </a:xfrm>
          <a:prstGeom prst="roundRect">
            <a:avLst>
              <a:gd name="adj" fmla="val 14286"/>
            </a:avLst>
          </a:prstGeom>
          <a:solidFill>
            <a:schemeClr val="accent2"/>
          </a:solidFill>
          <a:ln w="12700">
            <a:solidFill>
              <a:schemeClr val="tx2"/>
            </a:solidFill>
            <a:prstDash val="solid"/>
          </a:ln>
        </p:spPr>
      </p:sp>
      <p:sp>
        <p:nvSpPr>
          <p:cNvPr id="6" name="Cell 3"/>
          <p:cNvSpPr/>
          <p:nvPr/>
        </p:nvSpPr>
        <p:spPr>
          <a:xfrm>
            <a:off x="10149840" y="1737360"/>
            <a:ext cx="640080" cy="3291840"/>
          </a:xfrm>
          <a:prstGeom prst="roundRect">
            <a:avLst>
              <a:gd name="adj" fmla="val 14286"/>
            </a:avLst>
          </a:prstGeom>
          <a:solidFill>
            <a:schemeClr val="tx2"/>
          </a:solidFill>
          <a:ln w="12700">
            <a:solidFill>
              <a:schemeClr val="tx2"/>
            </a:solidFill>
            <a:prstDash val="solid"/>
          </a:ln>
        </p:spPr>
      </p:sp>
      <p:sp>
        <p:nvSpPr>
          <p:cNvPr id="7" name="Cell level 3"/>
          <p:cNvSpPr/>
          <p:nvPr/>
        </p:nvSpPr>
        <p:spPr>
          <a:xfrm>
            <a:off x="10149840" y="2560320"/>
            <a:ext cx="640080" cy="2468880"/>
          </a:xfrm>
          <a:prstGeom prst="roundRect">
            <a:avLst>
              <a:gd name="adj" fmla="val 14286"/>
            </a:avLst>
          </a:prstGeom>
          <a:solidFill>
            <a:schemeClr val="accent2"/>
          </a:solidFill>
          <a:ln w="12700">
            <a:solidFill>
              <a:schemeClr val="tx2"/>
            </a:solidFill>
            <a:prstDash val="solid"/>
          </a:ln>
        </p:spPr>
      </p:sp>
      <p:sp>
        <p:nvSpPr>
          <p:cNvPr id="8" name="Cell 4"/>
          <p:cNvSpPr/>
          <p:nvPr/>
        </p:nvSpPr>
        <p:spPr>
          <a:xfrm>
            <a:off x="10972800" y="1737360"/>
            <a:ext cx="640080" cy="3291840"/>
          </a:xfrm>
          <a:prstGeom prst="roundRect">
            <a:avLst>
              <a:gd name="adj" fmla="val 14286"/>
            </a:avLst>
          </a:prstGeom>
          <a:solidFill>
            <a:schemeClr val="tx2"/>
          </a:solidFill>
          <a:ln w="12700">
            <a:solidFill>
              <a:schemeClr val="tx2"/>
            </a:solidFill>
            <a:prstDash val="solid"/>
          </a:ln>
        </p:spPr>
      </p:sp>
      <p:sp>
        <p:nvSpPr>
          <p:cNvPr id="9" name="Cell level 4"/>
          <p:cNvSpPr/>
          <p:nvPr/>
        </p:nvSpPr>
        <p:spPr>
          <a:xfrm>
            <a:off x="10972800" y="1901952"/>
            <a:ext cx="640080" cy="3127248"/>
          </a:xfrm>
          <a:prstGeom prst="roundRect">
            <a:avLst>
              <a:gd name="adj" fmla="val 14286"/>
            </a:avLst>
          </a:prstGeom>
          <a:solidFill>
            <a:schemeClr val="accent1"/>
          </a:solidFill>
          <a:ln w="12700">
            <a:solidFill>
              <a:schemeClr val="tx2"/>
            </a:solidFill>
            <a:prstDash val="solid"/>
          </a:ln>
        </p:spPr>
      </p:sp>
      <p:sp>
        <p:nvSpPr>
          <p:cNvPr id="10" name="Text 8"/>
          <p:cNvSpPr txBox="1"/>
          <p:nvPr/>
        </p:nvSpPr>
        <p:spPr>
          <a:xfrm>
            <a:off x="548640" y="914400"/>
            <a:ext cx="7315200" cy="365760"/>
          </a:xfrm>
          <a:prstGeom prst="rect">
            <a:avLst/>
          </a:prstGeom>
          <a:noFill/>
          <a:ln/>
        </p:spPr>
        <p:txBody>
          <a:bodyPr wrap="square" lIns="0" tIns="0" rIns="0" bIns="0" rtlCol="0" anchor="t"/>
          <a:lstStyle/>
          <a:p>
            <a:pPr indent="0" marL="0">
              <a:buNone/>
            </a:pPr>
            <a:r>
              <a:rPr lang="en-US" sz="1600" b="1" dirty="0">
                <a:solidFill>
                  <a:schemeClr val="accent2"/>
                </a:solidFill>
              </a:rPr>
              <a:t>Economia do Setor Elétrico I</a:t>
            </a:r>
            <a:endParaRPr lang="en-US" sz="1600" dirty="0"/>
          </a:p>
        </p:txBody>
      </p:sp>
      <p:sp>
        <p:nvSpPr>
          <p:cNvPr id="11" name="Text 9"/>
          <p:cNvSpPr txBox="1"/>
          <p:nvPr/>
        </p:nvSpPr>
        <p:spPr>
          <a:xfrm>
            <a:off x="548640" y="1737360"/>
            <a:ext cx="7589520" cy="1828800"/>
          </a:xfrm>
          <a:prstGeom prst="rect">
            <a:avLst/>
          </a:prstGeom>
          <a:noFill/>
          <a:ln/>
        </p:spPr>
        <p:txBody>
          <a:bodyPr wrap="square" lIns="0" tIns="0" rIns="0" bIns="0" rtlCol="0" anchor="t"/>
          <a:lstStyle/>
          <a:p>
            <a:pPr indent="0" marL="0">
              <a:buNone/>
            </a:pPr>
            <a:r>
              <a:rPr lang="en-US" sz="4200" b="1" dirty="0">
                <a:solidFill>
                  <a:schemeClr val="bg1"/>
                </a:solidFill>
                <a:latin typeface="Cambria" pitchFamily="34" charset="0"/>
                <a:ea typeface="Cambria" pitchFamily="34" charset="-122"/>
                <a:cs typeface="Cambria" pitchFamily="34" charset="-120"/>
              </a:rPr>
              <a:t>Transição Energética e a Contribuição das Baterias</a:t>
            </a:r>
            <a:endParaRPr lang="en-US" sz="4200" dirty="0"/>
          </a:p>
        </p:txBody>
      </p:sp>
      <p:sp>
        <p:nvSpPr>
          <p:cNvPr id="12" name="Text 10"/>
          <p:cNvSpPr txBox="1"/>
          <p:nvPr/>
        </p:nvSpPr>
        <p:spPr>
          <a:xfrm>
            <a:off x="548640" y="3749040"/>
            <a:ext cx="7589520" cy="640080"/>
          </a:xfrm>
          <a:prstGeom prst="rect">
            <a:avLst/>
          </a:prstGeom>
          <a:noFill/>
          <a:ln/>
        </p:spPr>
        <p:txBody>
          <a:bodyPr wrap="square" lIns="0" tIns="0" rIns="0" bIns="0" rtlCol="0" anchor="t"/>
          <a:lstStyle/>
          <a:p>
            <a:pPr indent="0" marL="0">
              <a:buNone/>
            </a:pPr>
            <a:r>
              <a:rPr lang="en-US" sz="2800" i="1" dirty="0">
                <a:solidFill>
                  <a:schemeClr val="accent1"/>
                </a:solidFill>
                <a:latin typeface="Cambria" pitchFamily="34" charset="0"/>
                <a:ea typeface="Cambria" pitchFamily="34" charset="-122"/>
                <a:cs typeface="Cambria" pitchFamily="34" charset="-120"/>
              </a:rPr>
              <a:t>As fontes ganham mais do que pagam?</a:t>
            </a:r>
            <a:endParaRPr lang="en-US" sz="2800" dirty="0"/>
          </a:p>
        </p:txBody>
      </p:sp>
      <p:sp>
        <p:nvSpPr>
          <p:cNvPr id="13" name="Text 11"/>
          <p:cNvSpPr txBox="1"/>
          <p:nvPr/>
        </p:nvSpPr>
        <p:spPr>
          <a:xfrm>
            <a:off x="548640" y="5029200"/>
            <a:ext cx="7315200" cy="822960"/>
          </a:xfrm>
          <a:prstGeom prst="rect">
            <a:avLst/>
          </a:prstGeom>
          <a:noFill/>
          <a:ln/>
        </p:spPr>
        <p:txBody>
          <a:bodyPr wrap="square" lIns="0" tIns="0" rIns="0" bIns="0" rtlCol="0" anchor="t"/>
          <a:lstStyle/>
          <a:p>
            <a:pPr indent="0" marL="0">
              <a:spcAft>
                <a:spcPts val="400"/>
              </a:spcAft>
              <a:buNone/>
            </a:pPr>
            <a:r>
              <a:rPr lang="en-US" sz="1600" b="1" dirty="0">
                <a:solidFill>
                  <a:schemeClr val="accent2"/>
                </a:solidFill>
              </a:rPr>
              <a:t>Aluno: </a:t>
            </a:r>
            <a:pPr indent="0" marL="0">
              <a:spcAft>
                <a:spcPts val="400"/>
              </a:spcAft>
              <a:buNone/>
            </a:pPr>
            <a:r>
              <a:rPr lang="en-US" sz="1600" dirty="0">
                <a:solidFill>
                  <a:schemeClr val="bg1"/>
                </a:solidFill>
              </a:rPr>
              <a:t>Ronaldo Antonio de Souza</a:t>
            </a:r>
            <a:endParaRPr lang="en-US" sz="1600" dirty="0"/>
          </a:p>
          <a:p>
            <a:pPr indent="0" marL="0">
              <a:spcAft>
                <a:spcPts val="400"/>
              </a:spcAft>
              <a:buNone/>
            </a:pPr>
            <a:r>
              <a:rPr lang="en-US" sz="1600" b="1" dirty="0">
                <a:solidFill>
                  <a:schemeClr val="accent2"/>
                </a:solidFill>
              </a:rPr>
              <a:t>Professor: </a:t>
            </a:r>
            <a:pPr indent="0" marL="0">
              <a:spcAft>
                <a:spcPts val="400"/>
              </a:spcAft>
              <a:buNone/>
            </a:pPr>
            <a:r>
              <a:rPr lang="en-US" sz="1600" dirty="0">
                <a:solidFill>
                  <a:schemeClr val="bg1"/>
                </a:solidFill>
              </a:rPr>
              <a:t>Nivalde de Castro</a:t>
            </a:r>
            <a:endParaRPr lang="en-US" sz="1600" dirty="0"/>
          </a:p>
        </p:txBody>
      </p:sp>
      <p:sp>
        <p:nvSpPr>
          <p:cNvPr id="15"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endParaRPr lang="en-US" sz="3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Contexto: o SIN já corta energia renovável</a:t>
            </a:r>
            <a:endParaRPr lang="en-US" sz="3200" dirty="0"/>
          </a:p>
        </p:txBody>
      </p:sp>
      <p:sp>
        <p:nvSpPr>
          <p:cNvPr id="3" name="Text 1"/>
          <p:cNvSpPr txBox="1"/>
          <p:nvPr/>
        </p:nvSpPr>
        <p:spPr>
          <a:xfrm>
            <a:off x="548640" y="1234440"/>
            <a:ext cx="10607040" cy="640080"/>
          </a:xfrm>
          <a:prstGeom prst="rect">
            <a:avLst/>
          </a:prstGeom>
          <a:noFill/>
          <a:ln/>
        </p:spPr>
        <p:txBody>
          <a:bodyPr wrap="square" lIns="0" tIns="0" rIns="0" bIns="0" rtlCol="0" anchor="t"/>
          <a:lstStyle/>
          <a:p>
            <a:pPr indent="0" marL="0">
              <a:buNone/>
            </a:pPr>
            <a:r>
              <a:rPr lang="en-US" sz="1600" dirty="0">
                <a:solidFill>
                  <a:schemeClr val="tx2"/>
                </a:solidFill>
              </a:rPr>
              <a:t>A micro e minigeração distribuída (MMGD) cresce, a carga líquida do meio do dia cai e a geração centralizada precisa ser cortada.</a:t>
            </a:r>
            <a:endParaRPr lang="en-US" sz="1600" dirty="0"/>
          </a:p>
        </p:txBody>
      </p:sp>
      <p:sp>
        <p:nvSpPr>
          <p:cNvPr id="4" name="Stat card 1"/>
          <p:cNvSpPr/>
          <p:nvPr/>
        </p:nvSpPr>
        <p:spPr>
          <a:xfrm>
            <a:off x="548640" y="2148840"/>
            <a:ext cx="2560320" cy="3291840"/>
          </a:xfrm>
          <a:prstGeom prst="roundRect">
            <a:avLst>
              <a:gd name="adj" fmla="val 4286"/>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5" name="Icon circle"/>
          <p:cNvSpPr/>
          <p:nvPr/>
        </p:nvSpPr>
        <p:spPr>
          <a:xfrm>
            <a:off x="822960" y="2423160"/>
            <a:ext cx="566928" cy="566928"/>
          </a:xfrm>
          <a:prstGeom prst="ellipse">
            <a:avLst/>
          </a:prstGeom>
          <a:solidFill>
            <a:schemeClr val="accent4"/>
          </a:solidFill>
          <a:ln w="12700">
            <a:solidFill>
              <a:schemeClr val="accent4"/>
            </a:solidFill>
            <a:prstDash val="solid"/>
          </a:ln>
        </p:spPr>
      </p:sp>
      <p:pic>
        <p:nvPicPr>
          <p:cNvPr id="6" name="Image 0" descr="FaCut">    </p:cNvPr>
          <p:cNvPicPr>
            <a:picLocks noChangeAspect="1"/>
          </p:cNvPicPr>
          <p:nvPr/>
        </p:nvPicPr>
        <p:blipFill>
          <a:blip r:embed="rId1"/>
          <a:stretch>
            <a:fillRect/>
          </a:stretch>
        </p:blipFill>
        <p:spPr>
          <a:xfrm>
            <a:off x="964692" y="2564892"/>
            <a:ext cx="283464" cy="283464"/>
          </a:xfrm>
          <a:prstGeom prst="rect">
            <a:avLst/>
          </a:prstGeom>
        </p:spPr>
      </p:pic>
      <p:sp>
        <p:nvSpPr>
          <p:cNvPr id="7" name="Text 4"/>
          <p:cNvSpPr txBox="1"/>
          <p:nvPr/>
        </p:nvSpPr>
        <p:spPr>
          <a:xfrm>
            <a:off x="822960" y="3200400"/>
            <a:ext cx="2103120" cy="822960"/>
          </a:xfrm>
          <a:prstGeom prst="rect">
            <a:avLst/>
          </a:prstGeom>
          <a:noFill/>
          <a:ln/>
        </p:spPr>
        <p:txBody>
          <a:bodyPr wrap="square" lIns="0" tIns="0" rIns="0" bIns="0" rtlCol="0" anchor="ctr">
            <a:normAutofit/>
          </a:bodyPr>
          <a:lstStyle/>
          <a:p>
            <a:pPr indent="0" marL="0">
              <a:buNone/>
            </a:pPr>
            <a:r>
              <a:rPr lang="en-US" sz="3600" b="1" dirty="0">
                <a:solidFill>
                  <a:schemeClr val="tx2"/>
                </a:solidFill>
                <a:latin typeface="Cambria" pitchFamily="34" charset="0"/>
                <a:ea typeface="Cambria" pitchFamily="34" charset="-122"/>
                <a:cs typeface="Cambria" pitchFamily="34" charset="-120"/>
              </a:rPr>
              <a:t>20,6%</a:t>
            </a:r>
            <a:endParaRPr lang="en-US" sz="3600" dirty="0"/>
          </a:p>
        </p:txBody>
      </p:sp>
      <p:sp>
        <p:nvSpPr>
          <p:cNvPr id="8" name="Text 5"/>
          <p:cNvSpPr txBox="1"/>
          <p:nvPr/>
        </p:nvSpPr>
        <p:spPr>
          <a:xfrm>
            <a:off x="822960" y="4114800"/>
            <a:ext cx="2057400" cy="1463040"/>
          </a:xfrm>
          <a:prstGeom prst="rect">
            <a:avLst/>
          </a:prstGeom>
          <a:noFill/>
          <a:ln/>
        </p:spPr>
        <p:txBody>
          <a:bodyPr wrap="square" lIns="0" tIns="0" rIns="0" bIns="0" rtlCol="0" anchor="t"/>
          <a:lstStyle/>
          <a:p>
            <a:pPr indent="0" marL="0">
              <a:buNone/>
            </a:pPr>
            <a:r>
              <a:rPr lang="en-US" sz="1400" dirty="0">
                <a:solidFill>
                  <a:schemeClr val="tx1"/>
                </a:solidFill>
              </a:rPr>
              <a:t>da geração eólica e solar disponível não foi aproveitada em 2025</a:t>
            </a:r>
            <a:endParaRPr lang="en-US" sz="1400" dirty="0"/>
          </a:p>
        </p:txBody>
      </p:sp>
      <p:sp>
        <p:nvSpPr>
          <p:cNvPr id="9" name="Stat card 2"/>
          <p:cNvSpPr/>
          <p:nvPr/>
        </p:nvSpPr>
        <p:spPr>
          <a:xfrm>
            <a:off x="3383280" y="2148840"/>
            <a:ext cx="2560320" cy="3291840"/>
          </a:xfrm>
          <a:prstGeom prst="roundRect">
            <a:avLst>
              <a:gd name="adj" fmla="val 4286"/>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0" name="Icon circle"/>
          <p:cNvSpPr/>
          <p:nvPr/>
        </p:nvSpPr>
        <p:spPr>
          <a:xfrm>
            <a:off x="3657600" y="2423160"/>
            <a:ext cx="566928" cy="566928"/>
          </a:xfrm>
          <a:prstGeom prst="ellipse">
            <a:avLst/>
          </a:prstGeom>
          <a:solidFill>
            <a:schemeClr val="accent1"/>
          </a:solidFill>
          <a:ln w="12700">
            <a:solidFill>
              <a:schemeClr val="accent1"/>
            </a:solidFill>
            <a:prstDash val="solid"/>
          </a:ln>
        </p:spPr>
      </p:sp>
      <p:pic>
        <p:nvPicPr>
          <p:cNvPr id="11" name="Image 1" descr="FaCoins">    </p:cNvPr>
          <p:cNvPicPr>
            <a:picLocks noChangeAspect="1"/>
          </p:cNvPicPr>
          <p:nvPr/>
        </p:nvPicPr>
        <p:blipFill>
          <a:blip r:embed="rId2"/>
          <a:stretch>
            <a:fillRect/>
          </a:stretch>
        </p:blipFill>
        <p:spPr>
          <a:xfrm>
            <a:off x="3799332" y="2564892"/>
            <a:ext cx="283464" cy="283464"/>
          </a:xfrm>
          <a:prstGeom prst="rect">
            <a:avLst/>
          </a:prstGeom>
        </p:spPr>
      </p:pic>
      <p:sp>
        <p:nvSpPr>
          <p:cNvPr id="12" name="Text 8"/>
          <p:cNvSpPr txBox="1"/>
          <p:nvPr/>
        </p:nvSpPr>
        <p:spPr>
          <a:xfrm>
            <a:off x="3657600" y="3200400"/>
            <a:ext cx="2103120" cy="822960"/>
          </a:xfrm>
          <a:prstGeom prst="rect">
            <a:avLst/>
          </a:prstGeom>
          <a:noFill/>
          <a:ln/>
        </p:spPr>
        <p:txBody>
          <a:bodyPr wrap="square" lIns="0" tIns="0" rIns="0" bIns="0" rtlCol="0" anchor="ctr">
            <a:normAutofit/>
          </a:bodyPr>
          <a:lstStyle/>
          <a:p>
            <a:pPr indent="0" marL="0">
              <a:buNone/>
            </a:pPr>
            <a:r>
              <a:rPr lang="en-US" sz="3600" b="1" dirty="0">
                <a:solidFill>
                  <a:schemeClr val="tx2"/>
                </a:solidFill>
                <a:latin typeface="Cambria" pitchFamily="34" charset="0"/>
                <a:ea typeface="Cambria" pitchFamily="34" charset="-122"/>
                <a:cs typeface="Cambria" pitchFamily="34" charset="-120"/>
              </a:rPr>
              <a:t>R$ 6 bi+</a:t>
            </a:r>
            <a:endParaRPr lang="en-US" sz="3600" dirty="0"/>
          </a:p>
        </p:txBody>
      </p:sp>
      <p:sp>
        <p:nvSpPr>
          <p:cNvPr id="13" name="Text 9"/>
          <p:cNvSpPr txBox="1"/>
          <p:nvPr/>
        </p:nvSpPr>
        <p:spPr>
          <a:xfrm>
            <a:off x="3657600" y="4114800"/>
            <a:ext cx="2057400" cy="1463040"/>
          </a:xfrm>
          <a:prstGeom prst="rect">
            <a:avLst/>
          </a:prstGeom>
          <a:noFill/>
          <a:ln/>
        </p:spPr>
        <p:txBody>
          <a:bodyPr wrap="square" lIns="0" tIns="0" rIns="0" bIns="0" rtlCol="0" anchor="t"/>
          <a:lstStyle/>
          <a:p>
            <a:pPr indent="0" marL="0">
              <a:buNone/>
            </a:pPr>
            <a:r>
              <a:rPr lang="en-US" sz="1400" dirty="0">
                <a:solidFill>
                  <a:schemeClr val="tx1"/>
                </a:solidFill>
              </a:rPr>
              <a:t>de perdas estimadas dos geradores eólicos e solares com cortes em 2025</a:t>
            </a:r>
            <a:endParaRPr lang="en-US" sz="1400" dirty="0"/>
          </a:p>
        </p:txBody>
      </p:sp>
      <p:sp>
        <p:nvSpPr>
          <p:cNvPr id="14" name="Stat card 3"/>
          <p:cNvSpPr/>
          <p:nvPr/>
        </p:nvSpPr>
        <p:spPr>
          <a:xfrm>
            <a:off x="6217920" y="2148840"/>
            <a:ext cx="2560320" cy="3291840"/>
          </a:xfrm>
          <a:prstGeom prst="roundRect">
            <a:avLst>
              <a:gd name="adj" fmla="val 4286"/>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5" name="Icon circle"/>
          <p:cNvSpPr/>
          <p:nvPr/>
        </p:nvSpPr>
        <p:spPr>
          <a:xfrm>
            <a:off x="6492240" y="2423160"/>
            <a:ext cx="566928" cy="566928"/>
          </a:xfrm>
          <a:prstGeom prst="ellipse">
            <a:avLst/>
          </a:prstGeom>
          <a:solidFill>
            <a:schemeClr val="accent2"/>
          </a:solidFill>
          <a:ln w="12700">
            <a:solidFill>
              <a:schemeClr val="accent2"/>
            </a:solidFill>
            <a:prstDash val="solid"/>
          </a:ln>
        </p:spPr>
      </p:sp>
      <p:pic>
        <p:nvPicPr>
          <p:cNvPr id="16" name="Image 2" descr="FaSolarPanel">    </p:cNvPr>
          <p:cNvPicPr>
            <a:picLocks noChangeAspect="1"/>
          </p:cNvPicPr>
          <p:nvPr/>
        </p:nvPicPr>
        <p:blipFill>
          <a:blip r:embed="rId3"/>
          <a:stretch>
            <a:fillRect/>
          </a:stretch>
        </p:blipFill>
        <p:spPr>
          <a:xfrm>
            <a:off x="6633972" y="2564892"/>
            <a:ext cx="283464" cy="283464"/>
          </a:xfrm>
          <a:prstGeom prst="rect">
            <a:avLst/>
          </a:prstGeom>
        </p:spPr>
      </p:pic>
      <p:sp>
        <p:nvSpPr>
          <p:cNvPr id="17" name="Text 12"/>
          <p:cNvSpPr txBox="1"/>
          <p:nvPr/>
        </p:nvSpPr>
        <p:spPr>
          <a:xfrm>
            <a:off x="6492240" y="3200400"/>
            <a:ext cx="2103120" cy="822960"/>
          </a:xfrm>
          <a:prstGeom prst="rect">
            <a:avLst/>
          </a:prstGeom>
          <a:noFill/>
          <a:ln/>
        </p:spPr>
        <p:txBody>
          <a:bodyPr wrap="square" lIns="0" tIns="0" rIns="0" bIns="0" rtlCol="0" anchor="ctr">
            <a:normAutofit/>
          </a:bodyPr>
          <a:lstStyle/>
          <a:p>
            <a:pPr indent="0" marL="0">
              <a:buNone/>
            </a:pPr>
            <a:r>
              <a:rPr lang="en-US" sz="3600" b="1" dirty="0">
                <a:solidFill>
                  <a:schemeClr val="tx2"/>
                </a:solidFill>
                <a:latin typeface="Cambria" pitchFamily="34" charset="0"/>
                <a:ea typeface="Cambria" pitchFamily="34" charset="-122"/>
                <a:cs typeface="Cambria" pitchFamily="34" charset="-120"/>
              </a:rPr>
              <a:t>~40%</a:t>
            </a:r>
            <a:endParaRPr lang="en-US" sz="3600" dirty="0"/>
          </a:p>
        </p:txBody>
      </p:sp>
      <p:sp>
        <p:nvSpPr>
          <p:cNvPr id="18" name="Text 13"/>
          <p:cNvSpPr txBox="1"/>
          <p:nvPr/>
        </p:nvSpPr>
        <p:spPr>
          <a:xfrm>
            <a:off x="6492240" y="4114800"/>
            <a:ext cx="2057400" cy="1463040"/>
          </a:xfrm>
          <a:prstGeom prst="rect">
            <a:avLst/>
          </a:prstGeom>
          <a:noFill/>
          <a:ln/>
        </p:spPr>
        <p:txBody>
          <a:bodyPr wrap="square" lIns="0" tIns="0" rIns="0" bIns="0" rtlCol="0" anchor="t"/>
          <a:lstStyle/>
          <a:p>
            <a:pPr indent="0" marL="0">
              <a:buNone/>
            </a:pPr>
            <a:r>
              <a:rPr lang="en-US" sz="1400" dirty="0">
                <a:solidFill>
                  <a:schemeClr val="tx1"/>
                </a:solidFill>
              </a:rPr>
              <a:t>da carga atendida pela MMGD em 10/08/2025, com UHEs e UTEs no mínimo técnico</a:t>
            </a:r>
            <a:endParaRPr lang="en-US" sz="1400" dirty="0"/>
          </a:p>
        </p:txBody>
      </p:sp>
      <p:sp>
        <p:nvSpPr>
          <p:cNvPr id="19" name="Stat card 4"/>
          <p:cNvSpPr/>
          <p:nvPr/>
        </p:nvSpPr>
        <p:spPr>
          <a:xfrm>
            <a:off x="9052560" y="2148840"/>
            <a:ext cx="2560320" cy="3291840"/>
          </a:xfrm>
          <a:prstGeom prst="roundRect">
            <a:avLst>
              <a:gd name="adj" fmla="val 4286"/>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20" name="Icon circle"/>
          <p:cNvSpPr/>
          <p:nvPr/>
        </p:nvSpPr>
        <p:spPr>
          <a:xfrm>
            <a:off x="9326880" y="2423160"/>
            <a:ext cx="566928" cy="566928"/>
          </a:xfrm>
          <a:prstGeom prst="ellipse">
            <a:avLst/>
          </a:prstGeom>
          <a:solidFill>
            <a:schemeClr val="accent3"/>
          </a:solidFill>
          <a:ln w="12700">
            <a:solidFill>
              <a:schemeClr val="accent3"/>
            </a:solidFill>
            <a:prstDash val="solid"/>
          </a:ln>
        </p:spPr>
      </p:sp>
      <p:pic>
        <p:nvPicPr>
          <p:cNvPr id="21" name="Image 3" descr="FaChartLine">    </p:cNvPr>
          <p:cNvPicPr>
            <a:picLocks noChangeAspect="1"/>
          </p:cNvPicPr>
          <p:nvPr/>
        </p:nvPicPr>
        <p:blipFill>
          <a:blip r:embed="rId4"/>
          <a:stretch>
            <a:fillRect/>
          </a:stretch>
        </p:blipFill>
        <p:spPr>
          <a:xfrm>
            <a:off x="9468612" y="2564892"/>
            <a:ext cx="283464" cy="283464"/>
          </a:xfrm>
          <a:prstGeom prst="rect">
            <a:avLst/>
          </a:prstGeom>
        </p:spPr>
      </p:pic>
      <p:sp>
        <p:nvSpPr>
          <p:cNvPr id="22" name="Text 16"/>
          <p:cNvSpPr txBox="1"/>
          <p:nvPr/>
        </p:nvSpPr>
        <p:spPr>
          <a:xfrm>
            <a:off x="9326880" y="3200400"/>
            <a:ext cx="2103120" cy="822960"/>
          </a:xfrm>
          <a:prstGeom prst="rect">
            <a:avLst/>
          </a:prstGeom>
          <a:noFill/>
          <a:ln/>
        </p:spPr>
        <p:txBody>
          <a:bodyPr wrap="square" lIns="0" tIns="0" rIns="0" bIns="0" rtlCol="0" anchor="ctr">
            <a:normAutofit/>
          </a:bodyPr>
          <a:lstStyle/>
          <a:p>
            <a:pPr indent="0" marL="0">
              <a:buNone/>
            </a:pPr>
            <a:r>
              <a:rPr lang="en-US" sz="3600" b="1" dirty="0">
                <a:solidFill>
                  <a:schemeClr val="tx2"/>
                </a:solidFill>
                <a:latin typeface="Cambria" pitchFamily="34" charset="0"/>
                <a:ea typeface="Cambria" pitchFamily="34" charset="-122"/>
                <a:cs typeface="Cambria" pitchFamily="34" charset="-120"/>
              </a:rPr>
              <a:t>47–71 GW</a:t>
            </a:r>
            <a:endParaRPr lang="en-US" sz="3600" dirty="0"/>
          </a:p>
        </p:txBody>
      </p:sp>
      <p:sp>
        <p:nvSpPr>
          <p:cNvPr id="23" name="Text 17"/>
          <p:cNvSpPr txBox="1"/>
          <p:nvPr/>
        </p:nvSpPr>
        <p:spPr>
          <a:xfrm>
            <a:off x="9326880" y="4114800"/>
            <a:ext cx="2057400" cy="1463040"/>
          </a:xfrm>
          <a:prstGeom prst="rect">
            <a:avLst/>
          </a:prstGeom>
          <a:noFill/>
          <a:ln/>
        </p:spPr>
        <p:txBody>
          <a:bodyPr wrap="square" lIns="0" tIns="0" rIns="0" bIns="0" rtlCol="0" anchor="t"/>
          <a:lstStyle/>
          <a:p>
            <a:pPr indent="0" marL="0">
              <a:buNone/>
            </a:pPr>
            <a:r>
              <a:rPr lang="en-US" sz="1400" dirty="0">
                <a:solidFill>
                  <a:schemeClr val="tx1"/>
                </a:solidFill>
              </a:rPr>
              <a:t>de MMGD projetados pela EPE para 2034 (referência: 59 GW)</a:t>
            </a:r>
            <a:endParaRPr lang="en-US" sz="1400" dirty="0"/>
          </a:p>
        </p:txBody>
      </p:sp>
      <p:sp>
        <p:nvSpPr>
          <p:cNvPr id="24" name="Text 18"/>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Fontes: ONS (2025); Acende Brasil (2025); Volts Robotics via Agência Infra (2025); EPE/MME, PDE 2034, Caderno MMGD e Baterias (2024). Estimativas de cortes variam conforme a metodologia.</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Como a MMGD leva ao curtailment</a:t>
            </a:r>
            <a:endParaRPr lang="en-US" sz="3200" dirty="0"/>
          </a:p>
        </p:txBody>
      </p:sp>
      <p:sp>
        <p:nvSpPr>
          <p:cNvPr id="3" name="Chain step 1"/>
          <p:cNvSpPr/>
          <p:nvPr/>
        </p:nvSpPr>
        <p:spPr>
          <a:xfrm>
            <a:off x="548640" y="1554480"/>
            <a:ext cx="1965960" cy="2331720"/>
          </a:xfrm>
          <a:prstGeom prst="roundRect">
            <a:avLst>
              <a:gd name="adj" fmla="val 5581"/>
            </a:avLst>
          </a:prstGeom>
          <a:solidFill>
            <a:schemeClr val="bg2"/>
          </a:solidFill>
          <a:ln w="12700">
            <a:solidFill>
              <a:schemeClr val="bg2"/>
            </a:solidFill>
            <a:prstDash val="solid"/>
          </a:ln>
        </p:spPr>
      </p:sp>
      <p:sp>
        <p:nvSpPr>
          <p:cNvPr id="4" name="Icon circle"/>
          <p:cNvSpPr/>
          <p:nvPr/>
        </p:nvSpPr>
        <p:spPr>
          <a:xfrm>
            <a:off x="777240" y="1783080"/>
            <a:ext cx="548640" cy="548640"/>
          </a:xfrm>
          <a:prstGeom prst="ellipse">
            <a:avLst/>
          </a:prstGeom>
          <a:solidFill>
            <a:schemeClr val="tx2"/>
          </a:solidFill>
          <a:ln w="12700">
            <a:solidFill>
              <a:schemeClr val="tx2"/>
            </a:solidFill>
            <a:prstDash val="solid"/>
          </a:ln>
        </p:spPr>
      </p:sp>
      <p:pic>
        <p:nvPicPr>
          <p:cNvPr id="5" name="Image 0" descr="FaSun">    </p:cNvPr>
          <p:cNvPicPr>
            <a:picLocks noChangeAspect="1"/>
          </p:cNvPicPr>
          <p:nvPr/>
        </p:nvPicPr>
        <p:blipFill>
          <a:blip r:embed="rId1"/>
          <a:stretch>
            <a:fillRect/>
          </a:stretch>
        </p:blipFill>
        <p:spPr>
          <a:xfrm>
            <a:off x="914400" y="1920240"/>
            <a:ext cx="274320" cy="274320"/>
          </a:xfrm>
          <a:prstGeom prst="rect">
            <a:avLst/>
          </a:prstGeom>
        </p:spPr>
      </p:pic>
      <p:sp>
        <p:nvSpPr>
          <p:cNvPr id="6" name="Text 3"/>
          <p:cNvSpPr txBox="1"/>
          <p:nvPr/>
        </p:nvSpPr>
        <p:spPr>
          <a:xfrm>
            <a:off x="1920240" y="1737360"/>
            <a:ext cx="365760" cy="365760"/>
          </a:xfrm>
          <a:prstGeom prst="rect">
            <a:avLst/>
          </a:prstGeom>
          <a:noFill/>
          <a:ln/>
        </p:spPr>
        <p:txBody>
          <a:bodyPr wrap="square" lIns="0" tIns="0" rIns="0" bIns="0" rtlCol="0" anchor="t"/>
          <a:lstStyle/>
          <a:p>
            <a:pPr algn="r" indent="0" marL="0">
              <a:buNone/>
            </a:pPr>
            <a:r>
              <a:rPr lang="en-US" sz="1400" b="1" dirty="0">
                <a:solidFill>
                  <a:schemeClr val="tx2"/>
                </a:solidFill>
              </a:rPr>
              <a:t>1</a:t>
            </a:r>
            <a:endParaRPr lang="en-US" sz="1400" dirty="0"/>
          </a:p>
        </p:txBody>
      </p:sp>
      <p:sp>
        <p:nvSpPr>
          <p:cNvPr id="7" name="Text 4"/>
          <p:cNvSpPr txBox="1"/>
          <p:nvPr/>
        </p:nvSpPr>
        <p:spPr>
          <a:xfrm>
            <a:off x="777240" y="2468880"/>
            <a:ext cx="1554480" cy="594360"/>
          </a:xfrm>
          <a:prstGeom prst="rect">
            <a:avLst/>
          </a:prstGeom>
          <a:noFill/>
          <a:ln/>
        </p:spPr>
        <p:txBody>
          <a:bodyPr wrap="square" lIns="0" tIns="0" rIns="0" bIns="0" rtlCol="0" anchor="t"/>
          <a:lstStyle/>
          <a:p>
            <a:pPr indent="0" marL="0">
              <a:buNone/>
            </a:pPr>
            <a:r>
              <a:rPr lang="en-US" sz="1600" b="1" dirty="0">
                <a:solidFill>
                  <a:schemeClr val="tx1"/>
                </a:solidFill>
              </a:rPr>
              <a:t>MMGD solar cresce</a:t>
            </a:r>
            <a:endParaRPr lang="en-US" sz="1600" dirty="0"/>
          </a:p>
        </p:txBody>
      </p:sp>
      <p:sp>
        <p:nvSpPr>
          <p:cNvPr id="8" name="Text 5"/>
          <p:cNvSpPr txBox="1"/>
          <p:nvPr/>
        </p:nvSpPr>
        <p:spPr>
          <a:xfrm>
            <a:off x="777240" y="3108960"/>
            <a:ext cx="1554480" cy="731520"/>
          </a:xfrm>
          <a:prstGeom prst="rect">
            <a:avLst/>
          </a:prstGeom>
          <a:noFill/>
          <a:ln/>
        </p:spPr>
        <p:txBody>
          <a:bodyPr wrap="square" lIns="0" tIns="0" rIns="0" bIns="0" rtlCol="0" anchor="t"/>
          <a:lstStyle/>
          <a:p>
            <a:pPr indent="0" marL="0">
              <a:buNone/>
            </a:pPr>
            <a:r>
              <a:rPr lang="en-US" sz="1400" dirty="0">
                <a:solidFill>
                  <a:schemeClr val="tx2"/>
                </a:solidFill>
              </a:rPr>
              <a:t>Geração distribuída fora do controle do ONS</a:t>
            </a:r>
            <a:endParaRPr lang="en-US" sz="1400" dirty="0"/>
          </a:p>
        </p:txBody>
      </p:sp>
      <p:sp>
        <p:nvSpPr>
          <p:cNvPr id="9" name="Arrow"/>
          <p:cNvSpPr/>
          <p:nvPr/>
        </p:nvSpPr>
        <p:spPr>
          <a:xfrm>
            <a:off x="2551176" y="2720340"/>
            <a:ext cx="237744" cy="0"/>
          </a:xfrm>
          <a:prstGeom prst="line">
            <a:avLst/>
          </a:prstGeom>
          <a:noFill/>
          <a:ln w="25400">
            <a:solidFill>
              <a:srgbClr val="5B6B80"/>
            </a:solidFill>
            <a:prstDash val="solid"/>
            <a:tailEnd type="triangle"/>
          </a:ln>
        </p:spPr>
      </p:sp>
      <p:sp>
        <p:nvSpPr>
          <p:cNvPr id="10" name="Chain step 2"/>
          <p:cNvSpPr/>
          <p:nvPr/>
        </p:nvSpPr>
        <p:spPr>
          <a:xfrm>
            <a:off x="2825496" y="1554480"/>
            <a:ext cx="1965960" cy="2331720"/>
          </a:xfrm>
          <a:prstGeom prst="roundRect">
            <a:avLst>
              <a:gd name="adj" fmla="val 5581"/>
            </a:avLst>
          </a:prstGeom>
          <a:solidFill>
            <a:schemeClr val="bg2"/>
          </a:solidFill>
          <a:ln w="12700">
            <a:solidFill>
              <a:schemeClr val="bg2"/>
            </a:solidFill>
            <a:prstDash val="solid"/>
          </a:ln>
        </p:spPr>
      </p:sp>
      <p:sp>
        <p:nvSpPr>
          <p:cNvPr id="11" name="Icon circle"/>
          <p:cNvSpPr/>
          <p:nvPr/>
        </p:nvSpPr>
        <p:spPr>
          <a:xfrm>
            <a:off x="3054096" y="1783080"/>
            <a:ext cx="548640" cy="548640"/>
          </a:xfrm>
          <a:prstGeom prst="ellipse">
            <a:avLst/>
          </a:prstGeom>
          <a:solidFill>
            <a:schemeClr val="tx2"/>
          </a:solidFill>
          <a:ln w="12700">
            <a:solidFill>
              <a:schemeClr val="tx2"/>
            </a:solidFill>
            <a:prstDash val="solid"/>
          </a:ln>
        </p:spPr>
      </p:sp>
      <p:pic>
        <p:nvPicPr>
          <p:cNvPr id="12" name="Image 1" descr="FaChartLine">    </p:cNvPr>
          <p:cNvPicPr>
            <a:picLocks noChangeAspect="1"/>
          </p:cNvPicPr>
          <p:nvPr/>
        </p:nvPicPr>
        <p:blipFill>
          <a:blip r:embed="rId2"/>
          <a:stretch>
            <a:fillRect/>
          </a:stretch>
        </p:blipFill>
        <p:spPr>
          <a:xfrm>
            <a:off x="3191256" y="1920240"/>
            <a:ext cx="274320" cy="274320"/>
          </a:xfrm>
          <a:prstGeom prst="rect">
            <a:avLst/>
          </a:prstGeom>
        </p:spPr>
      </p:pic>
      <p:sp>
        <p:nvSpPr>
          <p:cNvPr id="13" name="Text 9"/>
          <p:cNvSpPr txBox="1"/>
          <p:nvPr/>
        </p:nvSpPr>
        <p:spPr>
          <a:xfrm>
            <a:off x="4197096" y="1737360"/>
            <a:ext cx="365760" cy="365760"/>
          </a:xfrm>
          <a:prstGeom prst="rect">
            <a:avLst/>
          </a:prstGeom>
          <a:noFill/>
          <a:ln/>
        </p:spPr>
        <p:txBody>
          <a:bodyPr wrap="square" lIns="0" tIns="0" rIns="0" bIns="0" rtlCol="0" anchor="t"/>
          <a:lstStyle/>
          <a:p>
            <a:pPr algn="r" indent="0" marL="0">
              <a:buNone/>
            </a:pPr>
            <a:r>
              <a:rPr lang="en-US" sz="1400" b="1" dirty="0">
                <a:solidFill>
                  <a:schemeClr val="tx2"/>
                </a:solidFill>
              </a:rPr>
              <a:t>2</a:t>
            </a:r>
            <a:endParaRPr lang="en-US" sz="1400" dirty="0"/>
          </a:p>
        </p:txBody>
      </p:sp>
      <p:sp>
        <p:nvSpPr>
          <p:cNvPr id="14" name="Text 10"/>
          <p:cNvSpPr txBox="1"/>
          <p:nvPr/>
        </p:nvSpPr>
        <p:spPr>
          <a:xfrm>
            <a:off x="3054096" y="2468880"/>
            <a:ext cx="1554480" cy="594360"/>
          </a:xfrm>
          <a:prstGeom prst="rect">
            <a:avLst/>
          </a:prstGeom>
          <a:noFill/>
          <a:ln/>
        </p:spPr>
        <p:txBody>
          <a:bodyPr wrap="square" lIns="0" tIns="0" rIns="0" bIns="0" rtlCol="0" anchor="t"/>
          <a:lstStyle/>
          <a:p>
            <a:pPr indent="0" marL="0">
              <a:buNone/>
            </a:pPr>
            <a:r>
              <a:rPr lang="en-US" sz="1600" b="1" dirty="0">
                <a:solidFill>
                  <a:schemeClr val="tx1"/>
                </a:solidFill>
              </a:rPr>
              <a:t>Carga líquida cai ao meio-dia</a:t>
            </a:r>
            <a:endParaRPr lang="en-US" sz="1600" dirty="0"/>
          </a:p>
        </p:txBody>
      </p:sp>
      <p:sp>
        <p:nvSpPr>
          <p:cNvPr id="15" name="Text 11"/>
          <p:cNvSpPr txBox="1"/>
          <p:nvPr/>
        </p:nvSpPr>
        <p:spPr>
          <a:xfrm>
            <a:off x="3054096" y="3108960"/>
            <a:ext cx="1554480" cy="731520"/>
          </a:xfrm>
          <a:prstGeom prst="rect">
            <a:avLst/>
          </a:prstGeom>
          <a:noFill/>
          <a:ln/>
        </p:spPr>
        <p:txBody>
          <a:bodyPr wrap="square" lIns="0" tIns="0" rIns="0" bIns="0" rtlCol="0" anchor="t"/>
          <a:lstStyle/>
          <a:p>
            <a:pPr indent="0" marL="0">
              <a:buNone/>
            </a:pPr>
            <a:r>
              <a:rPr lang="en-US" sz="1400" dirty="0">
                <a:solidFill>
                  <a:schemeClr val="tx2"/>
                </a:solidFill>
              </a:rPr>
              <a:t>Demanda a ser atendida pela rede diminui</a:t>
            </a:r>
            <a:endParaRPr lang="en-US" sz="1400" dirty="0"/>
          </a:p>
        </p:txBody>
      </p:sp>
      <p:sp>
        <p:nvSpPr>
          <p:cNvPr id="16" name="Arrow"/>
          <p:cNvSpPr/>
          <p:nvPr/>
        </p:nvSpPr>
        <p:spPr>
          <a:xfrm>
            <a:off x="4828032" y="2720340"/>
            <a:ext cx="237744" cy="0"/>
          </a:xfrm>
          <a:prstGeom prst="line">
            <a:avLst/>
          </a:prstGeom>
          <a:noFill/>
          <a:ln w="25400">
            <a:solidFill>
              <a:srgbClr val="5B6B80"/>
            </a:solidFill>
            <a:prstDash val="solid"/>
            <a:tailEnd type="triangle"/>
          </a:ln>
        </p:spPr>
      </p:sp>
      <p:sp>
        <p:nvSpPr>
          <p:cNvPr id="17" name="Chain step 3"/>
          <p:cNvSpPr/>
          <p:nvPr/>
        </p:nvSpPr>
        <p:spPr>
          <a:xfrm>
            <a:off x="5102352" y="1554480"/>
            <a:ext cx="1965960" cy="2331720"/>
          </a:xfrm>
          <a:prstGeom prst="roundRect">
            <a:avLst>
              <a:gd name="adj" fmla="val 5581"/>
            </a:avLst>
          </a:prstGeom>
          <a:solidFill>
            <a:schemeClr val="bg2"/>
          </a:solidFill>
          <a:ln w="12700">
            <a:solidFill>
              <a:schemeClr val="bg2"/>
            </a:solidFill>
            <a:prstDash val="solid"/>
          </a:ln>
        </p:spPr>
      </p:sp>
      <p:sp>
        <p:nvSpPr>
          <p:cNvPr id="18" name="Icon circle"/>
          <p:cNvSpPr/>
          <p:nvPr/>
        </p:nvSpPr>
        <p:spPr>
          <a:xfrm>
            <a:off x="5330952" y="1783080"/>
            <a:ext cx="548640" cy="548640"/>
          </a:xfrm>
          <a:prstGeom prst="ellipse">
            <a:avLst/>
          </a:prstGeom>
          <a:solidFill>
            <a:schemeClr val="tx2"/>
          </a:solidFill>
          <a:ln w="12700">
            <a:solidFill>
              <a:schemeClr val="tx2"/>
            </a:solidFill>
            <a:prstDash val="solid"/>
          </a:ln>
        </p:spPr>
      </p:sp>
      <p:pic>
        <p:nvPicPr>
          <p:cNvPr id="19" name="Image 2" descr="FaWater">    </p:cNvPr>
          <p:cNvPicPr>
            <a:picLocks noChangeAspect="1"/>
          </p:cNvPicPr>
          <p:nvPr/>
        </p:nvPicPr>
        <p:blipFill>
          <a:blip r:embed="rId3"/>
          <a:stretch>
            <a:fillRect/>
          </a:stretch>
        </p:blipFill>
        <p:spPr>
          <a:xfrm>
            <a:off x="5468112" y="1920240"/>
            <a:ext cx="274320" cy="274320"/>
          </a:xfrm>
          <a:prstGeom prst="rect">
            <a:avLst/>
          </a:prstGeom>
        </p:spPr>
      </p:pic>
      <p:sp>
        <p:nvSpPr>
          <p:cNvPr id="20" name="Text 15"/>
          <p:cNvSpPr txBox="1"/>
          <p:nvPr/>
        </p:nvSpPr>
        <p:spPr>
          <a:xfrm>
            <a:off x="6473952" y="1737360"/>
            <a:ext cx="365760" cy="365760"/>
          </a:xfrm>
          <a:prstGeom prst="rect">
            <a:avLst/>
          </a:prstGeom>
          <a:noFill/>
          <a:ln/>
        </p:spPr>
        <p:txBody>
          <a:bodyPr wrap="square" lIns="0" tIns="0" rIns="0" bIns="0" rtlCol="0" anchor="t"/>
          <a:lstStyle/>
          <a:p>
            <a:pPr algn="r" indent="0" marL="0">
              <a:buNone/>
            </a:pPr>
            <a:r>
              <a:rPr lang="en-US" sz="1400" b="1" dirty="0">
                <a:solidFill>
                  <a:schemeClr val="tx2"/>
                </a:solidFill>
              </a:rPr>
              <a:t>3</a:t>
            </a:r>
            <a:endParaRPr lang="en-US" sz="1400" dirty="0"/>
          </a:p>
        </p:txBody>
      </p:sp>
      <p:sp>
        <p:nvSpPr>
          <p:cNvPr id="21" name="Text 16"/>
          <p:cNvSpPr txBox="1"/>
          <p:nvPr/>
        </p:nvSpPr>
        <p:spPr>
          <a:xfrm>
            <a:off x="5330952" y="2468880"/>
            <a:ext cx="1554480" cy="594360"/>
          </a:xfrm>
          <a:prstGeom prst="rect">
            <a:avLst/>
          </a:prstGeom>
          <a:noFill/>
          <a:ln/>
        </p:spPr>
        <p:txBody>
          <a:bodyPr wrap="square" lIns="0" tIns="0" rIns="0" bIns="0" rtlCol="0" anchor="t"/>
          <a:lstStyle/>
          <a:p>
            <a:pPr indent="0" marL="0">
              <a:buNone/>
            </a:pPr>
            <a:r>
              <a:rPr lang="en-US" sz="1600" b="1" dirty="0">
                <a:solidFill>
                  <a:schemeClr val="tx1"/>
                </a:solidFill>
              </a:rPr>
              <a:t>UHEs e UTEs no mínimo</a:t>
            </a:r>
            <a:endParaRPr lang="en-US" sz="1600" dirty="0"/>
          </a:p>
        </p:txBody>
      </p:sp>
      <p:sp>
        <p:nvSpPr>
          <p:cNvPr id="22" name="Text 17"/>
          <p:cNvSpPr txBox="1"/>
          <p:nvPr/>
        </p:nvSpPr>
        <p:spPr>
          <a:xfrm>
            <a:off x="5330952" y="3108960"/>
            <a:ext cx="1554480" cy="731520"/>
          </a:xfrm>
          <a:prstGeom prst="rect">
            <a:avLst/>
          </a:prstGeom>
          <a:noFill/>
          <a:ln/>
        </p:spPr>
        <p:txBody>
          <a:bodyPr wrap="square" lIns="0" tIns="0" rIns="0" bIns="0" rtlCol="0" anchor="t"/>
          <a:lstStyle/>
          <a:p>
            <a:pPr indent="0" marL="0">
              <a:buNone/>
            </a:pPr>
            <a:r>
              <a:rPr lang="en-US" sz="1400" dirty="0">
                <a:solidFill>
                  <a:schemeClr val="tx2"/>
                </a:solidFill>
              </a:rPr>
              <a:t>Sem margem para reduzir a geração despachável</a:t>
            </a:r>
            <a:endParaRPr lang="en-US" sz="1400" dirty="0"/>
          </a:p>
        </p:txBody>
      </p:sp>
      <p:sp>
        <p:nvSpPr>
          <p:cNvPr id="23" name="Arrow"/>
          <p:cNvSpPr/>
          <p:nvPr/>
        </p:nvSpPr>
        <p:spPr>
          <a:xfrm>
            <a:off x="7104888" y="2720340"/>
            <a:ext cx="237744" cy="0"/>
          </a:xfrm>
          <a:prstGeom prst="line">
            <a:avLst/>
          </a:prstGeom>
          <a:noFill/>
          <a:ln w="25400">
            <a:solidFill>
              <a:srgbClr val="5B6B80"/>
            </a:solidFill>
            <a:prstDash val="solid"/>
            <a:tailEnd type="triangle"/>
          </a:ln>
        </p:spPr>
      </p:sp>
      <p:sp>
        <p:nvSpPr>
          <p:cNvPr id="24" name="Chain step 4"/>
          <p:cNvSpPr/>
          <p:nvPr/>
        </p:nvSpPr>
        <p:spPr>
          <a:xfrm>
            <a:off x="7379208" y="1554480"/>
            <a:ext cx="1965960" cy="2331720"/>
          </a:xfrm>
          <a:prstGeom prst="roundRect">
            <a:avLst>
              <a:gd name="adj" fmla="val 5581"/>
            </a:avLst>
          </a:prstGeom>
          <a:solidFill>
            <a:schemeClr val="bg2"/>
          </a:solidFill>
          <a:ln w="12700">
            <a:solidFill>
              <a:schemeClr val="bg2"/>
            </a:solidFill>
            <a:prstDash val="solid"/>
          </a:ln>
        </p:spPr>
      </p:sp>
      <p:sp>
        <p:nvSpPr>
          <p:cNvPr id="25" name="Icon circle"/>
          <p:cNvSpPr/>
          <p:nvPr/>
        </p:nvSpPr>
        <p:spPr>
          <a:xfrm>
            <a:off x="7607808" y="1783080"/>
            <a:ext cx="548640" cy="548640"/>
          </a:xfrm>
          <a:prstGeom prst="ellipse">
            <a:avLst/>
          </a:prstGeom>
          <a:solidFill>
            <a:schemeClr val="tx2"/>
          </a:solidFill>
          <a:ln w="12700">
            <a:solidFill>
              <a:schemeClr val="tx2"/>
            </a:solidFill>
            <a:prstDash val="solid"/>
          </a:ln>
        </p:spPr>
      </p:sp>
      <p:pic>
        <p:nvPicPr>
          <p:cNvPr id="26" name="Image 3" descr="FaCut">    </p:cNvPr>
          <p:cNvPicPr>
            <a:picLocks noChangeAspect="1"/>
          </p:cNvPicPr>
          <p:nvPr/>
        </p:nvPicPr>
        <p:blipFill>
          <a:blip r:embed="rId4"/>
          <a:stretch>
            <a:fillRect/>
          </a:stretch>
        </p:blipFill>
        <p:spPr>
          <a:xfrm>
            <a:off x="7744968" y="1920240"/>
            <a:ext cx="274320" cy="274320"/>
          </a:xfrm>
          <a:prstGeom prst="rect">
            <a:avLst/>
          </a:prstGeom>
        </p:spPr>
      </p:pic>
      <p:sp>
        <p:nvSpPr>
          <p:cNvPr id="27" name="Text 21"/>
          <p:cNvSpPr txBox="1"/>
          <p:nvPr/>
        </p:nvSpPr>
        <p:spPr>
          <a:xfrm>
            <a:off x="8750808" y="1737360"/>
            <a:ext cx="365760" cy="365760"/>
          </a:xfrm>
          <a:prstGeom prst="rect">
            <a:avLst/>
          </a:prstGeom>
          <a:noFill/>
          <a:ln/>
        </p:spPr>
        <p:txBody>
          <a:bodyPr wrap="square" lIns="0" tIns="0" rIns="0" bIns="0" rtlCol="0" anchor="t"/>
          <a:lstStyle/>
          <a:p>
            <a:pPr algn="r" indent="0" marL="0">
              <a:buNone/>
            </a:pPr>
            <a:r>
              <a:rPr lang="en-US" sz="1400" b="1" dirty="0">
                <a:solidFill>
                  <a:schemeClr val="tx2"/>
                </a:solidFill>
              </a:rPr>
              <a:t>4</a:t>
            </a:r>
            <a:endParaRPr lang="en-US" sz="1400" dirty="0"/>
          </a:p>
        </p:txBody>
      </p:sp>
      <p:sp>
        <p:nvSpPr>
          <p:cNvPr id="28" name="Text 22"/>
          <p:cNvSpPr txBox="1"/>
          <p:nvPr/>
        </p:nvSpPr>
        <p:spPr>
          <a:xfrm>
            <a:off x="7607808" y="2468880"/>
            <a:ext cx="1554480" cy="594360"/>
          </a:xfrm>
          <a:prstGeom prst="rect">
            <a:avLst/>
          </a:prstGeom>
          <a:noFill/>
          <a:ln/>
        </p:spPr>
        <p:txBody>
          <a:bodyPr wrap="square" lIns="0" tIns="0" rIns="0" bIns="0" rtlCol="0" anchor="t"/>
          <a:lstStyle/>
          <a:p>
            <a:pPr indent="0" marL="0">
              <a:buNone/>
            </a:pPr>
            <a:r>
              <a:rPr lang="en-US" sz="1600" b="1" dirty="0">
                <a:solidFill>
                  <a:schemeClr val="tx1"/>
                </a:solidFill>
              </a:rPr>
              <a:t>Corte de eólicas e UFVs</a:t>
            </a:r>
            <a:endParaRPr lang="en-US" sz="1600" dirty="0"/>
          </a:p>
        </p:txBody>
      </p:sp>
      <p:sp>
        <p:nvSpPr>
          <p:cNvPr id="29" name="Text 23"/>
          <p:cNvSpPr txBox="1"/>
          <p:nvPr/>
        </p:nvSpPr>
        <p:spPr>
          <a:xfrm>
            <a:off x="7607808" y="3108960"/>
            <a:ext cx="1554480" cy="731520"/>
          </a:xfrm>
          <a:prstGeom prst="rect">
            <a:avLst/>
          </a:prstGeom>
          <a:noFill/>
          <a:ln/>
        </p:spPr>
        <p:txBody>
          <a:bodyPr wrap="square" lIns="0" tIns="0" rIns="0" bIns="0" rtlCol="0" anchor="t"/>
          <a:lstStyle/>
          <a:p>
            <a:pPr indent="0" marL="0">
              <a:buNone/>
            </a:pPr>
            <a:r>
              <a:rPr lang="en-US" sz="1400" dirty="0">
                <a:solidFill>
                  <a:schemeClr val="tx2"/>
                </a:solidFill>
              </a:rPr>
              <a:t>Curtailment: energia disponível e desperdiçada</a:t>
            </a:r>
            <a:endParaRPr lang="en-US" sz="1400" dirty="0"/>
          </a:p>
        </p:txBody>
      </p:sp>
      <p:sp>
        <p:nvSpPr>
          <p:cNvPr id="30" name="Arrow"/>
          <p:cNvSpPr/>
          <p:nvPr/>
        </p:nvSpPr>
        <p:spPr>
          <a:xfrm>
            <a:off x="9381744" y="2720340"/>
            <a:ext cx="237744" cy="0"/>
          </a:xfrm>
          <a:prstGeom prst="line">
            <a:avLst/>
          </a:prstGeom>
          <a:noFill/>
          <a:ln w="25400">
            <a:solidFill>
              <a:srgbClr val="5B6B80"/>
            </a:solidFill>
            <a:prstDash val="solid"/>
            <a:tailEnd type="triangle"/>
          </a:ln>
        </p:spPr>
      </p:sp>
      <p:sp>
        <p:nvSpPr>
          <p:cNvPr id="31" name="Chain step 5"/>
          <p:cNvSpPr/>
          <p:nvPr/>
        </p:nvSpPr>
        <p:spPr>
          <a:xfrm>
            <a:off x="9656064" y="1554480"/>
            <a:ext cx="1965960" cy="2331720"/>
          </a:xfrm>
          <a:prstGeom prst="roundRect">
            <a:avLst>
              <a:gd name="adj" fmla="val 5581"/>
            </a:avLst>
          </a:prstGeom>
          <a:solidFill>
            <a:schemeClr val="bg2"/>
          </a:solidFill>
          <a:ln w="12700">
            <a:solidFill>
              <a:schemeClr val="bg2"/>
            </a:solidFill>
            <a:prstDash val="solid"/>
          </a:ln>
        </p:spPr>
      </p:sp>
      <p:sp>
        <p:nvSpPr>
          <p:cNvPr id="32" name="Icon circle"/>
          <p:cNvSpPr/>
          <p:nvPr/>
        </p:nvSpPr>
        <p:spPr>
          <a:xfrm>
            <a:off x="9884664" y="1783080"/>
            <a:ext cx="548640" cy="548640"/>
          </a:xfrm>
          <a:prstGeom prst="ellipse">
            <a:avLst/>
          </a:prstGeom>
          <a:solidFill>
            <a:schemeClr val="tx2"/>
          </a:solidFill>
          <a:ln w="12700">
            <a:solidFill>
              <a:schemeClr val="tx2"/>
            </a:solidFill>
            <a:prstDash val="solid"/>
          </a:ln>
        </p:spPr>
      </p:sp>
      <p:pic>
        <p:nvPicPr>
          <p:cNvPr id="33" name="Image 4" descr="FaFire">    </p:cNvPr>
          <p:cNvPicPr>
            <a:picLocks noChangeAspect="1"/>
          </p:cNvPicPr>
          <p:nvPr/>
        </p:nvPicPr>
        <p:blipFill>
          <a:blip r:embed="rId5"/>
          <a:stretch>
            <a:fillRect/>
          </a:stretch>
        </p:blipFill>
        <p:spPr>
          <a:xfrm>
            <a:off x="10021824" y="1920240"/>
            <a:ext cx="274320" cy="274320"/>
          </a:xfrm>
          <a:prstGeom prst="rect">
            <a:avLst/>
          </a:prstGeom>
        </p:spPr>
      </p:pic>
      <p:sp>
        <p:nvSpPr>
          <p:cNvPr id="34" name="Text 27"/>
          <p:cNvSpPr txBox="1"/>
          <p:nvPr/>
        </p:nvSpPr>
        <p:spPr>
          <a:xfrm>
            <a:off x="11027664" y="1737360"/>
            <a:ext cx="365760" cy="365760"/>
          </a:xfrm>
          <a:prstGeom prst="rect">
            <a:avLst/>
          </a:prstGeom>
          <a:noFill/>
          <a:ln/>
        </p:spPr>
        <p:txBody>
          <a:bodyPr wrap="square" lIns="0" tIns="0" rIns="0" bIns="0" rtlCol="0" anchor="t"/>
          <a:lstStyle/>
          <a:p>
            <a:pPr algn="r" indent="0" marL="0">
              <a:buNone/>
            </a:pPr>
            <a:r>
              <a:rPr lang="en-US" sz="1400" b="1" dirty="0">
                <a:solidFill>
                  <a:schemeClr val="tx2"/>
                </a:solidFill>
              </a:rPr>
              <a:t>5</a:t>
            </a:r>
            <a:endParaRPr lang="en-US" sz="1400" dirty="0"/>
          </a:p>
        </p:txBody>
      </p:sp>
      <p:sp>
        <p:nvSpPr>
          <p:cNvPr id="35" name="Text 28"/>
          <p:cNvSpPr txBox="1"/>
          <p:nvPr/>
        </p:nvSpPr>
        <p:spPr>
          <a:xfrm>
            <a:off x="9884664" y="2468880"/>
            <a:ext cx="1554480" cy="594360"/>
          </a:xfrm>
          <a:prstGeom prst="rect">
            <a:avLst/>
          </a:prstGeom>
          <a:noFill/>
          <a:ln/>
        </p:spPr>
        <p:txBody>
          <a:bodyPr wrap="square" lIns="0" tIns="0" rIns="0" bIns="0" rtlCol="0" anchor="t"/>
          <a:lstStyle/>
          <a:p>
            <a:pPr indent="0" marL="0">
              <a:buNone/>
            </a:pPr>
            <a:r>
              <a:rPr lang="en-US" sz="1600" b="1" dirty="0">
                <a:solidFill>
                  <a:schemeClr val="tx1"/>
                </a:solidFill>
              </a:rPr>
              <a:t>Rampa no fim da tarde</a:t>
            </a:r>
            <a:endParaRPr lang="en-US" sz="1600" dirty="0"/>
          </a:p>
        </p:txBody>
      </p:sp>
      <p:sp>
        <p:nvSpPr>
          <p:cNvPr id="36" name="Text 29"/>
          <p:cNvSpPr txBox="1"/>
          <p:nvPr/>
        </p:nvSpPr>
        <p:spPr>
          <a:xfrm>
            <a:off x="9884664" y="3108960"/>
            <a:ext cx="1554480" cy="731520"/>
          </a:xfrm>
          <a:prstGeom prst="rect">
            <a:avLst/>
          </a:prstGeom>
          <a:noFill/>
          <a:ln/>
        </p:spPr>
        <p:txBody>
          <a:bodyPr wrap="square" lIns="0" tIns="0" rIns="0" bIns="0" rtlCol="0" anchor="t"/>
          <a:lstStyle/>
          <a:p>
            <a:pPr indent="0" marL="0">
              <a:buNone/>
            </a:pPr>
            <a:r>
              <a:rPr lang="en-US" sz="1400" dirty="0">
                <a:solidFill>
                  <a:schemeClr val="tx2"/>
                </a:solidFill>
              </a:rPr>
              <a:t>Sol se põe e térmicas são acionadas</a:t>
            </a:r>
            <a:endParaRPr lang="en-US" sz="1400" dirty="0"/>
          </a:p>
        </p:txBody>
      </p:sp>
      <p:sp>
        <p:nvSpPr>
          <p:cNvPr id="37" name="BESS panel"/>
          <p:cNvSpPr/>
          <p:nvPr/>
        </p:nvSpPr>
        <p:spPr>
          <a:xfrm>
            <a:off x="548640" y="4251960"/>
            <a:ext cx="11094415" cy="1920240"/>
          </a:xfrm>
          <a:prstGeom prst="roundRect">
            <a:avLst>
              <a:gd name="adj" fmla="val 5714"/>
            </a:avLst>
          </a:prstGeom>
          <a:solidFill>
            <a:schemeClr val="tx2"/>
          </a:solidFill>
          <a:ln w="12700">
            <a:solidFill>
              <a:schemeClr val="tx2"/>
            </a:solidFill>
            <a:prstDash val="solid"/>
          </a:ln>
        </p:spPr>
      </p:sp>
      <p:sp>
        <p:nvSpPr>
          <p:cNvPr id="38" name="Icon circle"/>
          <p:cNvSpPr/>
          <p:nvPr/>
        </p:nvSpPr>
        <p:spPr>
          <a:xfrm>
            <a:off x="914400" y="4937760"/>
            <a:ext cx="731520" cy="731520"/>
          </a:xfrm>
          <a:prstGeom prst="ellipse">
            <a:avLst/>
          </a:prstGeom>
          <a:solidFill>
            <a:schemeClr val="accent2"/>
          </a:solidFill>
          <a:ln w="12700">
            <a:solidFill>
              <a:schemeClr val="accent2"/>
            </a:solidFill>
            <a:prstDash val="solid"/>
          </a:ln>
        </p:spPr>
      </p:sp>
      <p:pic>
        <p:nvPicPr>
          <p:cNvPr id="39" name="Image 5" descr="FaBatteryFull">    </p:cNvPr>
          <p:cNvPicPr>
            <a:picLocks noChangeAspect="1"/>
          </p:cNvPicPr>
          <p:nvPr/>
        </p:nvPicPr>
        <p:blipFill>
          <a:blip r:embed="rId6"/>
          <a:stretch>
            <a:fillRect/>
          </a:stretch>
        </p:blipFill>
        <p:spPr>
          <a:xfrm>
            <a:off x="1097280" y="5120640"/>
            <a:ext cx="365760" cy="365760"/>
          </a:xfrm>
          <a:prstGeom prst="rect">
            <a:avLst/>
          </a:prstGeom>
        </p:spPr>
      </p:pic>
      <p:sp>
        <p:nvSpPr>
          <p:cNvPr id="40" name="Text 32"/>
          <p:cNvSpPr txBox="1"/>
          <p:nvPr/>
        </p:nvSpPr>
        <p:spPr>
          <a:xfrm>
            <a:off x="1920240" y="4526280"/>
            <a:ext cx="566928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 bateria (BESS) quebra a cadeia no passo 3</a:t>
            </a:r>
            <a:endParaRPr lang="en-US" sz="2000" dirty="0"/>
          </a:p>
        </p:txBody>
      </p:sp>
      <p:sp>
        <p:nvSpPr>
          <p:cNvPr id="41" name="Text 33"/>
          <p:cNvSpPr txBox="1"/>
          <p:nvPr/>
        </p:nvSpPr>
        <p:spPr>
          <a:xfrm>
            <a:off x="1920240" y="5074920"/>
            <a:ext cx="5120640" cy="822960"/>
          </a:xfrm>
          <a:prstGeom prst="rect">
            <a:avLst/>
          </a:prstGeom>
          <a:noFill/>
          <a:ln/>
        </p:spPr>
        <p:txBody>
          <a:bodyPr wrap="square" lIns="0" tIns="0" rIns="0" bIns="0" rtlCol="0" anchor="t"/>
          <a:lstStyle/>
          <a:p>
            <a:pPr indent="0" marL="0">
              <a:buNone/>
            </a:pPr>
            <a:r>
              <a:rPr lang="en-US" sz="1600" dirty="0">
                <a:solidFill>
                  <a:schemeClr val="bg1"/>
                </a:solidFill>
              </a:rPr>
              <a:t>Absorve o excedente do meio-dia e devolve a energia na ponta do início da noite.</a:t>
            </a:r>
            <a:endParaRPr lang="en-US" sz="1600" dirty="0"/>
          </a:p>
        </p:txBody>
      </p:sp>
      <p:sp>
        <p:nvSpPr>
          <p:cNvPr id="42" name="Effect circle"/>
          <p:cNvSpPr/>
          <p:nvPr/>
        </p:nvSpPr>
        <p:spPr>
          <a:xfrm>
            <a:off x="7772400" y="4572000"/>
            <a:ext cx="594360" cy="594360"/>
          </a:xfrm>
          <a:prstGeom prst="ellipse">
            <a:avLst/>
          </a:prstGeom>
          <a:solidFill>
            <a:schemeClr val="accent1"/>
          </a:solidFill>
          <a:ln w="12700">
            <a:solidFill>
              <a:schemeClr val="accent1"/>
            </a:solidFill>
            <a:prstDash val="solid"/>
          </a:ln>
        </p:spPr>
      </p:sp>
      <p:pic>
        <p:nvPicPr>
          <p:cNvPr id="43" name="Image 6" descr="Menos curtailment">    </p:cNvPr>
          <p:cNvPicPr>
            <a:picLocks noChangeAspect="1"/>
          </p:cNvPicPr>
          <p:nvPr/>
        </p:nvPicPr>
        <p:blipFill>
          <a:blip r:embed="rId7"/>
          <a:stretch>
            <a:fillRect/>
          </a:stretch>
        </p:blipFill>
        <p:spPr>
          <a:xfrm>
            <a:off x="7932420" y="4732020"/>
            <a:ext cx="274320" cy="274320"/>
          </a:xfrm>
          <a:prstGeom prst="rect">
            <a:avLst/>
          </a:prstGeom>
        </p:spPr>
      </p:pic>
      <p:sp>
        <p:nvSpPr>
          <p:cNvPr id="44" name="Text 35"/>
          <p:cNvSpPr txBox="1"/>
          <p:nvPr/>
        </p:nvSpPr>
        <p:spPr>
          <a:xfrm>
            <a:off x="7498080" y="5303520"/>
            <a:ext cx="1143000" cy="731520"/>
          </a:xfrm>
          <a:prstGeom prst="rect">
            <a:avLst/>
          </a:prstGeom>
          <a:noFill/>
          <a:ln/>
        </p:spPr>
        <p:txBody>
          <a:bodyPr wrap="square" lIns="0" tIns="0" rIns="0" bIns="0" rtlCol="0" anchor="t"/>
          <a:lstStyle/>
          <a:p>
            <a:pPr algn="ctr" indent="0" marL="0">
              <a:buNone/>
            </a:pPr>
            <a:r>
              <a:rPr lang="en-US" sz="1300" dirty="0">
                <a:solidFill>
                  <a:schemeClr val="bg1"/>
                </a:solidFill>
              </a:rPr>
              <a:t>Menos curtailment</a:t>
            </a:r>
            <a:endParaRPr lang="en-US" sz="1300" dirty="0"/>
          </a:p>
        </p:txBody>
      </p:sp>
      <p:sp>
        <p:nvSpPr>
          <p:cNvPr id="45" name="Effect circle"/>
          <p:cNvSpPr/>
          <p:nvPr/>
        </p:nvSpPr>
        <p:spPr>
          <a:xfrm>
            <a:off x="9144000" y="4572000"/>
            <a:ext cx="594360" cy="594360"/>
          </a:xfrm>
          <a:prstGeom prst="ellipse">
            <a:avLst/>
          </a:prstGeom>
          <a:solidFill>
            <a:schemeClr val="accent1"/>
          </a:solidFill>
          <a:ln w="12700">
            <a:solidFill>
              <a:schemeClr val="accent1"/>
            </a:solidFill>
            <a:prstDash val="solid"/>
          </a:ln>
        </p:spPr>
      </p:sp>
      <p:pic>
        <p:nvPicPr>
          <p:cNvPr id="46" name="Image 7" descr="Menos térmica na rampa">    </p:cNvPr>
          <p:cNvPicPr>
            <a:picLocks noChangeAspect="1"/>
          </p:cNvPicPr>
          <p:nvPr/>
        </p:nvPicPr>
        <p:blipFill>
          <a:blip r:embed="rId8"/>
          <a:stretch>
            <a:fillRect/>
          </a:stretch>
        </p:blipFill>
        <p:spPr>
          <a:xfrm>
            <a:off x="9304020" y="4732020"/>
            <a:ext cx="274320" cy="274320"/>
          </a:xfrm>
          <a:prstGeom prst="rect">
            <a:avLst/>
          </a:prstGeom>
        </p:spPr>
      </p:pic>
      <p:sp>
        <p:nvSpPr>
          <p:cNvPr id="47" name="Text 37"/>
          <p:cNvSpPr txBox="1"/>
          <p:nvPr/>
        </p:nvSpPr>
        <p:spPr>
          <a:xfrm>
            <a:off x="8869680" y="5303520"/>
            <a:ext cx="1143000" cy="731520"/>
          </a:xfrm>
          <a:prstGeom prst="rect">
            <a:avLst/>
          </a:prstGeom>
          <a:noFill/>
          <a:ln/>
        </p:spPr>
        <p:txBody>
          <a:bodyPr wrap="square" lIns="0" tIns="0" rIns="0" bIns="0" rtlCol="0" anchor="t"/>
          <a:lstStyle/>
          <a:p>
            <a:pPr algn="ctr" indent="0" marL="0">
              <a:buNone/>
            </a:pPr>
            <a:r>
              <a:rPr lang="en-US" sz="1300" dirty="0">
                <a:solidFill>
                  <a:schemeClr val="bg1"/>
                </a:solidFill>
              </a:rPr>
              <a:t>Menos térmica na rampa</a:t>
            </a:r>
            <a:endParaRPr lang="en-US" sz="1300" dirty="0"/>
          </a:p>
        </p:txBody>
      </p:sp>
      <p:sp>
        <p:nvSpPr>
          <p:cNvPr id="48" name="Effect circle"/>
          <p:cNvSpPr/>
          <p:nvPr/>
        </p:nvSpPr>
        <p:spPr>
          <a:xfrm>
            <a:off x="10515600" y="4572000"/>
            <a:ext cx="594360" cy="594360"/>
          </a:xfrm>
          <a:prstGeom prst="ellipse">
            <a:avLst/>
          </a:prstGeom>
          <a:solidFill>
            <a:schemeClr val="accent1"/>
          </a:solidFill>
          <a:ln w="12700">
            <a:solidFill>
              <a:schemeClr val="accent1"/>
            </a:solidFill>
            <a:prstDash val="solid"/>
          </a:ln>
        </p:spPr>
      </p:sp>
      <p:pic>
        <p:nvPicPr>
          <p:cNvPr id="49" name="Image 8" descr="Mais água nos reservatórios">    </p:cNvPr>
          <p:cNvPicPr>
            <a:picLocks noChangeAspect="1"/>
          </p:cNvPicPr>
          <p:nvPr/>
        </p:nvPicPr>
        <p:blipFill>
          <a:blip r:embed="rId9"/>
          <a:stretch>
            <a:fillRect/>
          </a:stretch>
        </p:blipFill>
        <p:spPr>
          <a:xfrm>
            <a:off x="10675620" y="4732020"/>
            <a:ext cx="274320" cy="274320"/>
          </a:xfrm>
          <a:prstGeom prst="rect">
            <a:avLst/>
          </a:prstGeom>
        </p:spPr>
      </p:pic>
      <p:sp>
        <p:nvSpPr>
          <p:cNvPr id="50" name="Text 39"/>
          <p:cNvSpPr txBox="1"/>
          <p:nvPr/>
        </p:nvSpPr>
        <p:spPr>
          <a:xfrm>
            <a:off x="10241280" y="5303520"/>
            <a:ext cx="1143000" cy="731520"/>
          </a:xfrm>
          <a:prstGeom prst="rect">
            <a:avLst/>
          </a:prstGeom>
          <a:noFill/>
          <a:ln/>
        </p:spPr>
        <p:txBody>
          <a:bodyPr wrap="square" lIns="0" tIns="0" rIns="0" bIns="0" rtlCol="0" anchor="t"/>
          <a:lstStyle/>
          <a:p>
            <a:pPr algn="ctr" indent="0" marL="0">
              <a:buNone/>
            </a:pPr>
            <a:r>
              <a:rPr lang="en-US" sz="1300" dirty="0">
                <a:solidFill>
                  <a:schemeClr val="bg1"/>
                </a:solidFill>
              </a:rPr>
              <a:t>Mais água nos reservatórios</a:t>
            </a:r>
            <a:endParaRPr lang="en-US" sz="1300" dirty="0"/>
          </a:p>
        </p:txBody>
      </p:sp>
      <p:sp>
        <p:nvSpPr>
          <p:cNvPr id="51" name="Text 40"/>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Fontes: ONS, RT DGL-ONS 0189/2025; Acende Brasil (2025).</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A curva do pato no SIN: domingo, 10/08/2025</a:t>
            </a:r>
            <a:endParaRPr lang="en-US" sz="3200" dirty="0"/>
          </a:p>
        </p:txBody>
      </p:sp>
      <p:sp>
        <p:nvSpPr>
          <p:cNvPr id="3" name="Duck chart card"/>
          <p:cNvSpPr/>
          <p:nvPr/>
        </p:nvSpPr>
        <p:spPr>
          <a:xfrm>
            <a:off x="548640" y="1371600"/>
            <a:ext cx="6675120" cy="4023360"/>
          </a:xfrm>
          <a:prstGeom prst="roundRect">
            <a:avLst>
              <a:gd name="adj" fmla="val 2727"/>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graphicFrame>
        <p:nvGraphicFramePr>
          <p:cNvPr id="4" name="Chart 0" descr=""/>
          <p:cNvGraphicFramePr/>
          <p:nvPr/>
        </p:nvGraphicFramePr>
        <p:xfrm>
          <a:off x="685800" y="1463040"/>
          <a:ext cx="6400800" cy="3840480"/>
        </p:xfrm>
        <a:graphic xmlns:a="http://schemas.openxmlformats.org/drawingml/2006/main">
          <a:graphicData uri="http://schemas.openxmlformats.org/drawingml/2006/chart">
            <c:chart xmlns:c="http://schemas.openxmlformats.org/drawingml/2006/chart" r:id="rId1"/>
          </a:graphicData>
        </a:graphic>
      </p:graphicFrame>
      <p:sp>
        <p:nvSpPr>
          <p:cNvPr id="5" name="Duck stat 1"/>
          <p:cNvSpPr/>
          <p:nvPr/>
        </p:nvSpPr>
        <p:spPr>
          <a:xfrm>
            <a:off x="7498080" y="1371600"/>
            <a:ext cx="4144975"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6" name="Duck stat tag 1"/>
          <p:cNvSpPr/>
          <p:nvPr/>
        </p:nvSpPr>
        <p:spPr>
          <a:xfrm>
            <a:off x="7680960" y="1600200"/>
            <a:ext cx="1417320" cy="777240"/>
          </a:xfrm>
          <a:prstGeom prst="roundRect">
            <a:avLst>
              <a:gd name="adj" fmla="val 11765"/>
            </a:avLst>
          </a:prstGeom>
          <a:solidFill>
            <a:schemeClr val="accent1"/>
          </a:solidFill>
          <a:ln w="12700">
            <a:solidFill>
              <a:schemeClr val="accent1"/>
            </a:solidFill>
            <a:prstDash val="solid"/>
          </a:ln>
        </p:spPr>
      </p:sp>
      <p:sp>
        <p:nvSpPr>
          <p:cNvPr id="7" name="Text 4"/>
          <p:cNvSpPr txBox="1"/>
          <p:nvPr/>
        </p:nvSpPr>
        <p:spPr>
          <a:xfrm>
            <a:off x="7680960" y="1600200"/>
            <a:ext cx="1417320" cy="77724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latin typeface="Cambria" pitchFamily="34" charset="0"/>
                <a:ea typeface="Cambria" pitchFamily="34" charset="-122"/>
                <a:cs typeface="Cambria" pitchFamily="34" charset="-120"/>
              </a:rPr>
              <a:t>39%</a:t>
            </a:r>
            <a:endParaRPr lang="en-US" sz="2200" dirty="0"/>
          </a:p>
        </p:txBody>
      </p:sp>
      <p:sp>
        <p:nvSpPr>
          <p:cNvPr id="8" name="Text 5"/>
          <p:cNvSpPr txBox="1"/>
          <p:nvPr/>
        </p:nvSpPr>
        <p:spPr>
          <a:xfrm>
            <a:off x="9281160" y="1463040"/>
            <a:ext cx="2179015" cy="1051560"/>
          </a:xfrm>
          <a:prstGeom prst="rect">
            <a:avLst/>
          </a:prstGeom>
          <a:noFill/>
          <a:ln/>
        </p:spPr>
        <p:txBody>
          <a:bodyPr wrap="square" lIns="0" tIns="0" rIns="0" bIns="0" rtlCol="0" anchor="ctr"/>
          <a:lstStyle/>
          <a:p>
            <a:pPr indent="0" marL="0">
              <a:buNone/>
            </a:pPr>
            <a:r>
              <a:rPr lang="en-US" sz="1300" dirty="0">
                <a:solidFill>
                  <a:schemeClr val="tx1"/>
                </a:solidFill>
              </a:rPr>
              <a:t>da carga às 12h foi atendida pela MMGD: 23,2 de 59,0 GW.</a:t>
            </a:r>
            <a:endParaRPr lang="en-US" sz="1300" dirty="0"/>
          </a:p>
        </p:txBody>
      </p:sp>
      <p:sp>
        <p:nvSpPr>
          <p:cNvPr id="9" name="Duck stat 2"/>
          <p:cNvSpPr/>
          <p:nvPr/>
        </p:nvSpPr>
        <p:spPr>
          <a:xfrm>
            <a:off x="7498080" y="2743200"/>
            <a:ext cx="4144975"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0" name="Duck stat tag 2"/>
          <p:cNvSpPr/>
          <p:nvPr/>
        </p:nvSpPr>
        <p:spPr>
          <a:xfrm>
            <a:off x="7680960" y="2971800"/>
            <a:ext cx="1417320" cy="777240"/>
          </a:xfrm>
          <a:prstGeom prst="roundRect">
            <a:avLst>
              <a:gd name="adj" fmla="val 11765"/>
            </a:avLst>
          </a:prstGeom>
          <a:solidFill>
            <a:schemeClr val="accent4"/>
          </a:solidFill>
          <a:ln w="12700">
            <a:solidFill>
              <a:schemeClr val="accent4"/>
            </a:solidFill>
            <a:prstDash val="solid"/>
          </a:ln>
        </p:spPr>
      </p:sp>
      <p:sp>
        <p:nvSpPr>
          <p:cNvPr id="11" name="Text 8"/>
          <p:cNvSpPr txBox="1"/>
          <p:nvPr/>
        </p:nvSpPr>
        <p:spPr>
          <a:xfrm>
            <a:off x="7680960" y="2971800"/>
            <a:ext cx="1417320" cy="777240"/>
          </a:xfrm>
          <a:prstGeom prst="rect">
            <a:avLst/>
          </a:prstGeom>
          <a:noFill/>
          <a:ln/>
        </p:spPr>
        <p:txBody>
          <a:bodyPr wrap="square" lIns="0" tIns="0" rIns="0" bIns="0" rtlCol="0" anchor="ctr">
            <a:normAutofit/>
          </a:bodyPr>
          <a:lstStyle/>
          <a:p>
            <a:pPr algn="ctr" indent="0" marL="0">
              <a:buNone/>
            </a:pPr>
            <a:r>
              <a:rPr lang="en-US" sz="2200" b="1" dirty="0">
                <a:solidFill>
                  <a:schemeClr val="bg1"/>
                </a:solidFill>
                <a:latin typeface="Cambria" pitchFamily="34" charset="0"/>
                <a:ea typeface="Cambria" pitchFamily="34" charset="-122"/>
                <a:cs typeface="Cambria" pitchFamily="34" charset="-120"/>
              </a:rPr>
              <a:t>+30 GW</a:t>
            </a:r>
            <a:endParaRPr lang="en-US" sz="2200" dirty="0"/>
          </a:p>
        </p:txBody>
      </p:sp>
      <p:sp>
        <p:nvSpPr>
          <p:cNvPr id="12" name="Text 9"/>
          <p:cNvSpPr txBox="1"/>
          <p:nvPr/>
        </p:nvSpPr>
        <p:spPr>
          <a:xfrm>
            <a:off x="9281160" y="2834640"/>
            <a:ext cx="2179015" cy="1051560"/>
          </a:xfrm>
          <a:prstGeom prst="rect">
            <a:avLst/>
          </a:prstGeom>
          <a:noFill/>
          <a:ln/>
        </p:spPr>
        <p:txBody>
          <a:bodyPr wrap="square" lIns="0" tIns="0" rIns="0" bIns="0" rtlCol="0" anchor="ctr"/>
          <a:lstStyle/>
          <a:p>
            <a:pPr indent="0" marL="0">
              <a:buNone/>
            </a:pPr>
            <a:r>
              <a:rPr lang="en-US" sz="1300" dirty="0">
                <a:solidFill>
                  <a:schemeClr val="tx1"/>
                </a:solidFill>
              </a:rPr>
              <a:t>de rampa da carga líquida em 3 h, das 15h às 18h (de 37,3 para 67,2 GW).</a:t>
            </a:r>
            <a:endParaRPr lang="en-US" sz="1300" dirty="0"/>
          </a:p>
        </p:txBody>
      </p:sp>
      <p:sp>
        <p:nvSpPr>
          <p:cNvPr id="13" name="Duck stat 3"/>
          <p:cNvSpPr/>
          <p:nvPr/>
        </p:nvSpPr>
        <p:spPr>
          <a:xfrm>
            <a:off x="7498080" y="4114800"/>
            <a:ext cx="4144975"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4" name="Duck stat tag 3"/>
          <p:cNvSpPr/>
          <p:nvPr/>
        </p:nvSpPr>
        <p:spPr>
          <a:xfrm>
            <a:off x="7680960" y="4343400"/>
            <a:ext cx="1417320" cy="777240"/>
          </a:xfrm>
          <a:prstGeom prst="roundRect">
            <a:avLst>
              <a:gd name="adj" fmla="val 11765"/>
            </a:avLst>
          </a:prstGeom>
          <a:solidFill>
            <a:schemeClr val="accent2"/>
          </a:solidFill>
          <a:ln w="12700">
            <a:solidFill>
              <a:schemeClr val="accent2"/>
            </a:solidFill>
            <a:prstDash val="solid"/>
          </a:ln>
        </p:spPr>
      </p:sp>
      <p:sp>
        <p:nvSpPr>
          <p:cNvPr id="15" name="Text 12"/>
          <p:cNvSpPr txBox="1"/>
          <p:nvPr/>
        </p:nvSpPr>
        <p:spPr>
          <a:xfrm>
            <a:off x="7680960" y="4343400"/>
            <a:ext cx="1417320" cy="77724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latin typeface="Cambria" pitchFamily="34" charset="0"/>
                <a:ea typeface="Cambria" pitchFamily="34" charset="-122"/>
                <a:cs typeface="Cambria" pitchFamily="34" charset="-120"/>
              </a:rPr>
              <a:t>1,1 GW</a:t>
            </a:r>
            <a:endParaRPr lang="en-US" sz="2200" dirty="0"/>
          </a:p>
        </p:txBody>
      </p:sp>
      <p:sp>
        <p:nvSpPr>
          <p:cNvPr id="16" name="Text 13"/>
          <p:cNvSpPr txBox="1"/>
          <p:nvPr/>
        </p:nvSpPr>
        <p:spPr>
          <a:xfrm>
            <a:off x="9281160" y="4206240"/>
            <a:ext cx="2179015" cy="1051560"/>
          </a:xfrm>
          <a:prstGeom prst="rect">
            <a:avLst/>
          </a:prstGeom>
          <a:noFill/>
          <a:ln/>
        </p:spPr>
        <p:txBody>
          <a:bodyPr wrap="square" lIns="0" tIns="0" rIns="0" bIns="0" rtlCol="0" anchor="ctr"/>
          <a:lstStyle/>
          <a:p>
            <a:pPr indent="0" marL="0">
              <a:buNone/>
            </a:pPr>
            <a:r>
              <a:rPr lang="en-US" sz="1300" dirty="0">
                <a:solidFill>
                  <a:schemeClr val="tx1"/>
                </a:solidFill>
              </a:rPr>
              <a:t>geraram eólicas e solares centralizadas às 12h, contra 14,3 GW na média de agosto: o excedente forçou cortes.</a:t>
            </a:r>
            <a:endParaRPr lang="en-US" sz="1300" dirty="0"/>
          </a:p>
        </p:txBody>
      </p:sp>
      <p:sp>
        <p:nvSpPr>
          <p:cNvPr id="17" name="Duck formula banner"/>
          <p:cNvSpPr/>
          <p:nvPr/>
        </p:nvSpPr>
        <p:spPr>
          <a:xfrm>
            <a:off x="548640" y="5532120"/>
            <a:ext cx="11094415" cy="777240"/>
          </a:xfrm>
          <a:prstGeom prst="roundRect">
            <a:avLst>
              <a:gd name="adj" fmla="val 14118"/>
            </a:avLst>
          </a:prstGeom>
          <a:solidFill>
            <a:schemeClr val="tx2"/>
          </a:solidFill>
          <a:ln w="12700">
            <a:solidFill>
              <a:schemeClr val="tx2"/>
            </a:solidFill>
            <a:prstDash val="solid"/>
          </a:ln>
        </p:spPr>
      </p:sp>
      <p:sp>
        <p:nvSpPr>
          <p:cNvPr id="18" name="Text 15"/>
          <p:cNvSpPr txBox="1"/>
          <p:nvPr/>
        </p:nvSpPr>
        <p:spPr>
          <a:xfrm>
            <a:off x="822960" y="5532120"/>
            <a:ext cx="10545775" cy="777240"/>
          </a:xfrm>
          <a:prstGeom prst="rect">
            <a:avLst/>
          </a:prstGeom>
          <a:noFill/>
          <a:ln/>
        </p:spPr>
        <p:txBody>
          <a:bodyPr wrap="square" lIns="0" tIns="0" rIns="0" bIns="0" rtlCol="0" anchor="ctr"/>
          <a:lstStyle/>
          <a:p>
            <a:pPr indent="0" marL="0">
              <a:buNone/>
            </a:pPr>
            <a:r>
              <a:rPr lang="en-US" sz="1400" b="1" dirty="0">
                <a:solidFill>
                  <a:schemeClr val="accent1"/>
                </a:solidFill>
              </a:rPr>
              <a:t>Carga líquida = carga bruta − MMGD − eólica − solar centralizada. </a:t>
            </a:r>
            <a:pPr indent="0" marL="0">
              <a:buNone/>
            </a:pPr>
            <a:r>
              <a:rPr lang="en-US" sz="1400" dirty="0">
                <a:solidFill>
                  <a:schemeClr val="bg1"/>
                </a:solidFill>
              </a:rPr>
              <a:t>No dia 10/08, caiu a 34,7 GW às 12h (59% da carga bruta) e chegou a 67,2 GW às 18h. Média de agosto/2025: de 37,7 GW (12h) a 70,7 GW (18h).</a:t>
            </a:r>
            <a:endParaRPr lang="en-US" sz="1400" dirty="0"/>
          </a:p>
        </p:txBody>
      </p:sp>
      <p:sp>
        <p:nvSpPr>
          <p:cNvPr id="19" name="Text 16"/>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Fonte: elaboração própria com dados abertos do ONS (balanço de energia e geração por usina, base horária, 2025); MMGD estimada pelo ONS. Termo popularizado pelo CAISO (2013).</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Justificativa: por que estudar agora</a:t>
            </a:r>
            <a:endParaRPr lang="en-US" sz="3200" dirty="0"/>
          </a:p>
        </p:txBody>
      </p:sp>
      <p:sp>
        <p:nvSpPr>
          <p:cNvPr id="3" name="Justification card 1"/>
          <p:cNvSpPr/>
          <p:nvPr/>
        </p:nvSpPr>
        <p:spPr>
          <a:xfrm>
            <a:off x="548640" y="1463040"/>
            <a:ext cx="5440680" cy="1874520"/>
          </a:xfrm>
          <a:prstGeom prst="roundRect">
            <a:avLst>
              <a:gd name="adj" fmla="val 5854"/>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4" name="Icon circle"/>
          <p:cNvSpPr/>
          <p:nvPr/>
        </p:nvSpPr>
        <p:spPr>
          <a:xfrm>
            <a:off x="822960" y="1737360"/>
            <a:ext cx="640080" cy="640080"/>
          </a:xfrm>
          <a:prstGeom prst="ellipse">
            <a:avLst/>
          </a:prstGeom>
          <a:solidFill>
            <a:schemeClr val="accent1"/>
          </a:solidFill>
          <a:ln w="12700">
            <a:solidFill>
              <a:schemeClr val="accent1"/>
            </a:solidFill>
            <a:prstDash val="solid"/>
          </a:ln>
        </p:spPr>
      </p:sp>
      <p:pic>
        <p:nvPicPr>
          <p:cNvPr id="5" name="Image 0" descr="FaCoins">    </p:cNvPr>
          <p:cNvPicPr>
            <a:picLocks noChangeAspect="1"/>
          </p:cNvPicPr>
          <p:nvPr/>
        </p:nvPicPr>
        <p:blipFill>
          <a:blip r:embed="rId1"/>
          <a:stretch>
            <a:fillRect/>
          </a:stretch>
        </p:blipFill>
        <p:spPr>
          <a:xfrm>
            <a:off x="982980" y="1897380"/>
            <a:ext cx="320040" cy="320040"/>
          </a:xfrm>
          <a:prstGeom prst="rect">
            <a:avLst/>
          </a:prstGeom>
        </p:spPr>
      </p:pic>
      <p:sp>
        <p:nvSpPr>
          <p:cNvPr id="6" name="Text 3"/>
          <p:cNvSpPr txBox="1"/>
          <p:nvPr/>
        </p:nvSpPr>
        <p:spPr>
          <a:xfrm>
            <a:off x="1691640" y="1719072"/>
            <a:ext cx="406908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Perda econômica real</a:t>
            </a:r>
            <a:endParaRPr lang="en-US" sz="2000" dirty="0"/>
          </a:p>
        </p:txBody>
      </p:sp>
      <p:sp>
        <p:nvSpPr>
          <p:cNvPr id="7" name="Text 4"/>
          <p:cNvSpPr txBox="1"/>
          <p:nvPr/>
        </p:nvSpPr>
        <p:spPr>
          <a:xfrm>
            <a:off x="1691640" y="2240280"/>
            <a:ext cx="4069080" cy="1005840"/>
          </a:xfrm>
          <a:prstGeom prst="rect">
            <a:avLst/>
          </a:prstGeom>
          <a:noFill/>
          <a:ln/>
        </p:spPr>
        <p:txBody>
          <a:bodyPr wrap="square" lIns="0" tIns="0" rIns="0" bIns="0" rtlCol="0" anchor="t"/>
          <a:lstStyle/>
          <a:p>
            <a:pPr indent="0" marL="0">
              <a:buNone/>
            </a:pPr>
            <a:r>
              <a:rPr lang="en-US" sz="1400" dirty="0">
                <a:solidFill>
                  <a:schemeClr val="tx2"/>
                </a:solidFill>
              </a:rPr>
              <a:t>Cortes custaram mais de R$ 6 bi a eólicas e solares em 2025, e o debate de ressarcimento segue aberto.</a:t>
            </a:r>
            <a:endParaRPr lang="en-US" sz="1400" dirty="0"/>
          </a:p>
        </p:txBody>
      </p:sp>
      <p:sp>
        <p:nvSpPr>
          <p:cNvPr id="8" name="Justification card 2"/>
          <p:cNvSpPr/>
          <p:nvPr/>
        </p:nvSpPr>
        <p:spPr>
          <a:xfrm>
            <a:off x="6263640" y="1463040"/>
            <a:ext cx="5440680" cy="1874520"/>
          </a:xfrm>
          <a:prstGeom prst="roundRect">
            <a:avLst>
              <a:gd name="adj" fmla="val 5854"/>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9" name="Icon circle"/>
          <p:cNvSpPr/>
          <p:nvPr/>
        </p:nvSpPr>
        <p:spPr>
          <a:xfrm>
            <a:off x="6537960" y="1737360"/>
            <a:ext cx="640080" cy="640080"/>
          </a:xfrm>
          <a:prstGeom prst="ellipse">
            <a:avLst/>
          </a:prstGeom>
          <a:solidFill>
            <a:schemeClr val="accent2"/>
          </a:solidFill>
          <a:ln w="12700">
            <a:solidFill>
              <a:schemeClr val="accent2"/>
            </a:solidFill>
            <a:prstDash val="solid"/>
          </a:ln>
        </p:spPr>
      </p:sp>
      <p:pic>
        <p:nvPicPr>
          <p:cNvPr id="10" name="Image 1" descr="FaGavel">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406640" y="1719072"/>
            <a:ext cx="406908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Janela de política pública</a:t>
            </a:r>
            <a:endParaRPr lang="en-US" sz="2000" dirty="0"/>
          </a:p>
        </p:txBody>
      </p:sp>
      <p:sp>
        <p:nvSpPr>
          <p:cNvPr id="12" name="Text 8"/>
          <p:cNvSpPr txBox="1"/>
          <p:nvPr/>
        </p:nvSpPr>
        <p:spPr>
          <a:xfrm>
            <a:off x="7406640" y="2240280"/>
            <a:ext cx="4069080" cy="1005840"/>
          </a:xfrm>
          <a:prstGeom prst="rect">
            <a:avLst/>
          </a:prstGeom>
          <a:noFill/>
          <a:ln/>
        </p:spPr>
        <p:txBody>
          <a:bodyPr wrap="square" lIns="0" tIns="0" rIns="0" bIns="0" rtlCol="0" anchor="t"/>
          <a:lstStyle/>
          <a:p>
            <a:pPr indent="0" marL="0">
              <a:buNone/>
            </a:pPr>
            <a:r>
              <a:rPr lang="en-US" sz="1400" dirty="0">
                <a:solidFill>
                  <a:schemeClr val="tx2"/>
                </a:solidFill>
              </a:rPr>
              <a:t>Primeiro leilão de armazenamento (LRCAP) em dez/2026, com início de suprimento em ago/2028.</a:t>
            </a:r>
            <a:endParaRPr lang="en-US" sz="1400" dirty="0"/>
          </a:p>
        </p:txBody>
      </p:sp>
      <p:sp>
        <p:nvSpPr>
          <p:cNvPr id="13" name="Justification card 3"/>
          <p:cNvSpPr/>
          <p:nvPr/>
        </p:nvSpPr>
        <p:spPr>
          <a:xfrm>
            <a:off x="548640" y="3566160"/>
            <a:ext cx="5440680" cy="1874520"/>
          </a:xfrm>
          <a:prstGeom prst="roundRect">
            <a:avLst>
              <a:gd name="adj" fmla="val 5854"/>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4" name="Icon circle"/>
          <p:cNvSpPr/>
          <p:nvPr/>
        </p:nvSpPr>
        <p:spPr>
          <a:xfrm>
            <a:off x="822960" y="3840480"/>
            <a:ext cx="640080" cy="640080"/>
          </a:xfrm>
          <a:prstGeom prst="ellipse">
            <a:avLst/>
          </a:prstGeom>
          <a:solidFill>
            <a:schemeClr val="accent3"/>
          </a:solidFill>
          <a:ln w="12700">
            <a:solidFill>
              <a:schemeClr val="accent3"/>
            </a:solidFill>
            <a:prstDash val="solid"/>
          </a:ln>
        </p:spPr>
      </p:sp>
      <p:pic>
        <p:nvPicPr>
          <p:cNvPr id="15" name="Image 2" descr="FaBalanceScale">    </p:cNvPr>
          <p:cNvPicPr>
            <a:picLocks noChangeAspect="1"/>
          </p:cNvPicPr>
          <p:nvPr/>
        </p:nvPicPr>
        <p:blipFill>
          <a:blip r:embed="rId3"/>
          <a:stretch>
            <a:fillRect/>
          </a:stretch>
        </p:blipFill>
        <p:spPr>
          <a:xfrm>
            <a:off x="982980" y="4000500"/>
            <a:ext cx="320040" cy="320040"/>
          </a:xfrm>
          <a:prstGeom prst="rect">
            <a:avLst/>
          </a:prstGeom>
        </p:spPr>
      </p:pic>
      <p:sp>
        <p:nvSpPr>
          <p:cNvPr id="16" name="Text 11"/>
          <p:cNvSpPr txBox="1"/>
          <p:nvPr/>
        </p:nvSpPr>
        <p:spPr>
          <a:xfrm>
            <a:off x="1691640" y="3822192"/>
            <a:ext cx="406908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Quem paga as baterias?</a:t>
            </a:r>
            <a:endParaRPr lang="en-US" sz="2000" dirty="0"/>
          </a:p>
        </p:txBody>
      </p:sp>
      <p:sp>
        <p:nvSpPr>
          <p:cNvPr id="17" name="Text 12"/>
          <p:cNvSpPr txBox="1"/>
          <p:nvPr/>
        </p:nvSpPr>
        <p:spPr>
          <a:xfrm>
            <a:off x="1691640" y="4343400"/>
            <a:ext cx="4069080" cy="1005840"/>
          </a:xfrm>
          <a:prstGeom prst="rect">
            <a:avLst/>
          </a:prstGeom>
          <a:noFill/>
          <a:ln/>
        </p:spPr>
        <p:txBody>
          <a:bodyPr wrap="square" lIns="0" tIns="0" rIns="0" bIns="0" rtlCol="0" anchor="t"/>
          <a:lstStyle/>
          <a:p>
            <a:pPr indent="0" marL="0">
              <a:buNone/>
            </a:pPr>
            <a:r>
              <a:rPr lang="en-US" sz="1400" dirty="0">
                <a:solidFill>
                  <a:schemeClr val="tx2"/>
                </a:solidFill>
              </a:rPr>
              <a:t>A Lei 15.269/2025 prevê rateio do custo entre geradores. O PL 3.716/2026 propõe mudar a regra.</a:t>
            </a:r>
            <a:endParaRPr lang="en-US" sz="1400" dirty="0"/>
          </a:p>
        </p:txBody>
      </p:sp>
      <p:sp>
        <p:nvSpPr>
          <p:cNvPr id="18" name="Justification card 4"/>
          <p:cNvSpPr/>
          <p:nvPr/>
        </p:nvSpPr>
        <p:spPr>
          <a:xfrm>
            <a:off x="6263640" y="3566160"/>
            <a:ext cx="5440680" cy="1874520"/>
          </a:xfrm>
          <a:prstGeom prst="roundRect">
            <a:avLst>
              <a:gd name="adj" fmla="val 5854"/>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9" name="Icon circle"/>
          <p:cNvSpPr/>
          <p:nvPr/>
        </p:nvSpPr>
        <p:spPr>
          <a:xfrm>
            <a:off x="6537960" y="3840480"/>
            <a:ext cx="640080" cy="640080"/>
          </a:xfrm>
          <a:prstGeom prst="ellipse">
            <a:avLst/>
          </a:prstGeom>
          <a:solidFill>
            <a:schemeClr val="accent4"/>
          </a:solidFill>
          <a:ln w="12700">
            <a:solidFill>
              <a:schemeClr val="accent4"/>
            </a:solidFill>
            <a:prstDash val="solid"/>
          </a:ln>
        </p:spPr>
      </p:sp>
      <p:pic>
        <p:nvPicPr>
          <p:cNvPr id="20" name="Image 3" descr="FaBolt">    </p:cNvPr>
          <p:cNvPicPr>
            <a:picLocks noChangeAspect="1"/>
          </p:cNvPicPr>
          <p:nvPr/>
        </p:nvPicPr>
        <p:blipFill>
          <a:blip r:embed="rId4"/>
          <a:stretch>
            <a:fillRect/>
          </a:stretch>
        </p:blipFill>
        <p:spPr>
          <a:xfrm>
            <a:off x="6697980" y="4000500"/>
            <a:ext cx="320040" cy="320040"/>
          </a:xfrm>
          <a:prstGeom prst="rect">
            <a:avLst/>
          </a:prstGeom>
        </p:spPr>
      </p:pic>
      <p:sp>
        <p:nvSpPr>
          <p:cNvPr id="21" name="Text 15"/>
          <p:cNvSpPr txBox="1"/>
          <p:nvPr/>
        </p:nvSpPr>
        <p:spPr>
          <a:xfrm>
            <a:off x="7406640" y="3822192"/>
            <a:ext cx="406908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Flexibilidade operativa</a:t>
            </a:r>
            <a:endParaRPr lang="en-US" sz="2000" dirty="0"/>
          </a:p>
        </p:txBody>
      </p:sp>
      <p:sp>
        <p:nvSpPr>
          <p:cNvPr id="22" name="Text 16"/>
          <p:cNvSpPr txBox="1"/>
          <p:nvPr/>
        </p:nvSpPr>
        <p:spPr>
          <a:xfrm>
            <a:off x="7406640" y="4343400"/>
            <a:ext cx="4069080" cy="1005840"/>
          </a:xfrm>
          <a:prstGeom prst="rect">
            <a:avLst/>
          </a:prstGeom>
          <a:noFill/>
          <a:ln/>
        </p:spPr>
        <p:txBody>
          <a:bodyPr wrap="square" lIns="0" tIns="0" rIns="0" bIns="0" rtlCol="0" anchor="t"/>
          <a:lstStyle/>
          <a:p>
            <a:pPr indent="0" marL="0">
              <a:buNone/>
            </a:pPr>
            <a:r>
              <a:rPr lang="en-US" sz="1400" dirty="0">
                <a:solidFill>
                  <a:schemeClr val="tx2"/>
                </a:solidFill>
              </a:rPr>
              <a:t>BESS desloca energia para a ponta, pode reduzir o despacho térmico e preservar água nos reservatórios.</a:t>
            </a:r>
            <a:endParaRPr lang="en-US" sz="1400" dirty="0"/>
          </a:p>
        </p:txBody>
      </p:sp>
      <p:sp>
        <p:nvSpPr>
          <p:cNvPr id="23" name="Gap banner"/>
          <p:cNvSpPr/>
          <p:nvPr/>
        </p:nvSpPr>
        <p:spPr>
          <a:xfrm>
            <a:off x="548640" y="5577840"/>
            <a:ext cx="11094415" cy="640080"/>
          </a:xfrm>
          <a:prstGeom prst="roundRect">
            <a:avLst>
              <a:gd name="adj" fmla="val 17143"/>
            </a:avLst>
          </a:prstGeom>
          <a:solidFill>
            <a:schemeClr val="tx2"/>
          </a:solidFill>
          <a:ln w="12700">
            <a:solidFill>
              <a:schemeClr val="tx2"/>
            </a:solidFill>
            <a:prstDash val="solid"/>
          </a:ln>
        </p:spPr>
      </p:sp>
      <p:sp>
        <p:nvSpPr>
          <p:cNvPr id="24" name="Text 18"/>
          <p:cNvSpPr txBox="1"/>
          <p:nvPr/>
        </p:nvSpPr>
        <p:spPr>
          <a:xfrm>
            <a:off x="868680" y="5577840"/>
            <a:ext cx="10454335" cy="640080"/>
          </a:xfrm>
          <a:prstGeom prst="rect">
            <a:avLst/>
          </a:prstGeom>
          <a:noFill/>
          <a:ln/>
        </p:spPr>
        <p:txBody>
          <a:bodyPr wrap="square" lIns="0" tIns="0" rIns="0" bIns="0" rtlCol="0" anchor="ctr"/>
          <a:lstStyle/>
          <a:p>
            <a:pPr indent="0" marL="0">
              <a:buNone/>
            </a:pPr>
            <a:r>
              <a:rPr lang="en-US" sz="1600" b="1" dirty="0">
                <a:solidFill>
                  <a:schemeClr val="accent1"/>
                </a:solidFill>
              </a:rPr>
              <a:t>Lacuna: </a:t>
            </a:r>
            <a:pPr indent="0" marL="0">
              <a:buNone/>
            </a:pPr>
            <a:r>
              <a:rPr lang="en-US" sz="1600" dirty="0">
                <a:solidFill>
                  <a:schemeClr val="bg1"/>
                </a:solidFill>
              </a:rPr>
              <a:t>falta saber, fonte a fonte, se o ganho com menos cortes compensa o encargo das baterias.</a:t>
            </a:r>
            <a:endParaRPr lang="en-US" sz="1600" dirty="0"/>
          </a:p>
        </p:txBody>
      </p:sp>
      <p:sp>
        <p:nvSpPr>
          <p:cNvPr id="25" name="Text 19"/>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Fontes: Agência Infra (2025); ePowerBay (2026) sobre o LRCAP; TAGD Law (2026) sobre a Lei 15.269/2025 e o PL 3.716/2026.</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Problema de pesquisa e hipóteses</a:t>
            </a:r>
            <a:endParaRPr lang="en-US" sz="3200" dirty="0"/>
          </a:p>
        </p:txBody>
      </p:sp>
      <p:sp>
        <p:nvSpPr>
          <p:cNvPr id="3" name="Question card"/>
          <p:cNvSpPr/>
          <p:nvPr/>
        </p:nvSpPr>
        <p:spPr>
          <a:xfrm>
            <a:off x="548640" y="1463040"/>
            <a:ext cx="4754880" cy="4663440"/>
          </a:xfrm>
          <a:prstGeom prst="roundRect">
            <a:avLst>
              <a:gd name="adj" fmla="val 2353"/>
            </a:avLst>
          </a:prstGeom>
          <a:solidFill>
            <a:schemeClr val="tx2"/>
          </a:solidFill>
          <a:ln w="12700">
            <a:solidFill>
              <a:schemeClr val="tx2"/>
            </a:solidFill>
            <a:prstDash val="solid"/>
          </a:ln>
        </p:spPr>
      </p:sp>
      <p:sp>
        <p:nvSpPr>
          <p:cNvPr id="4" name="Icon circle"/>
          <p:cNvSpPr/>
          <p:nvPr/>
        </p:nvSpPr>
        <p:spPr>
          <a:xfrm>
            <a:off x="914400" y="1737360"/>
            <a:ext cx="640080" cy="640080"/>
          </a:xfrm>
          <a:prstGeom prst="ellipse">
            <a:avLst/>
          </a:prstGeom>
          <a:solidFill>
            <a:schemeClr val="accent1"/>
          </a:solidFill>
          <a:ln w="12700">
            <a:solidFill>
              <a:schemeClr val="accent1"/>
            </a:solidFill>
            <a:prstDash val="solid"/>
          </a:ln>
        </p:spPr>
      </p:sp>
      <p:pic>
        <p:nvPicPr>
          <p:cNvPr id="5" name="Image 0" descr="FaQuestion">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828800"/>
            <a:ext cx="3200400" cy="457200"/>
          </a:xfrm>
          <a:prstGeom prst="rect">
            <a:avLst/>
          </a:prstGeom>
          <a:noFill/>
          <a:ln/>
        </p:spPr>
        <p:txBody>
          <a:bodyPr wrap="square" lIns="0" tIns="0" rIns="0" bIns="0" rtlCol="0" anchor="ctr"/>
          <a:lstStyle/>
          <a:p>
            <a:pPr indent="0" marL="0">
              <a:buNone/>
            </a:pPr>
            <a:r>
              <a:rPr lang="en-US" sz="1600" b="1" spc="200" kern="0" dirty="0">
                <a:solidFill>
                  <a:schemeClr val="accent1"/>
                </a:solidFill>
              </a:rPr>
              <a:t>PERGUNTA</a:t>
            </a:r>
            <a:endParaRPr lang="en-US" sz="1600" dirty="0"/>
          </a:p>
        </p:txBody>
      </p:sp>
      <p:sp>
        <p:nvSpPr>
          <p:cNvPr id="7" name="Text 4"/>
          <p:cNvSpPr txBox="1"/>
          <p:nvPr/>
        </p:nvSpPr>
        <p:spPr>
          <a:xfrm>
            <a:off x="914400" y="2606040"/>
            <a:ext cx="4023360" cy="2651760"/>
          </a:xfrm>
          <a:prstGeom prst="rect">
            <a:avLst/>
          </a:prstGeom>
          <a:noFill/>
          <a:ln/>
        </p:spPr>
        <p:txBody>
          <a:bodyPr wrap="square" lIns="0" tIns="0" rIns="0" bIns="0" rtlCol="0" anchor="t"/>
          <a:lstStyle/>
          <a:p>
            <a:pPr indent="0" marL="0">
              <a:buNone/>
            </a:pPr>
            <a:r>
              <a:rPr lang="en-US" sz="2200" dirty="0">
                <a:solidFill>
                  <a:schemeClr val="bg1"/>
                </a:solidFill>
                <a:latin typeface="Cambria" pitchFamily="34" charset="0"/>
                <a:ea typeface="Cambria" pitchFamily="34" charset="-122"/>
                <a:cs typeface="Cambria" pitchFamily="34" charset="-120"/>
              </a:rPr>
              <a:t>Para cada fonte (eólicas, solares e UHEs), o ganho com o aumento de geração, por deixar de ser cortada, é maior que o encargo que ela pagará pelas baterias?</a:t>
            </a:r>
            <a:endParaRPr lang="en-US" sz="2200" dirty="0"/>
          </a:p>
        </p:txBody>
      </p:sp>
      <p:sp>
        <p:nvSpPr>
          <p:cNvPr id="8" name="Text 5"/>
          <p:cNvSpPr txBox="1"/>
          <p:nvPr/>
        </p:nvSpPr>
        <p:spPr>
          <a:xfrm>
            <a:off x="914400" y="5257800"/>
            <a:ext cx="4023360" cy="731520"/>
          </a:xfrm>
          <a:prstGeom prst="rect">
            <a:avLst/>
          </a:prstGeom>
          <a:noFill/>
          <a:ln/>
        </p:spPr>
        <p:txBody>
          <a:bodyPr wrap="square" lIns="0" tIns="0" rIns="0" bIns="0" rtlCol="0" anchor="t"/>
          <a:lstStyle/>
          <a:p>
            <a:pPr indent="0" marL="0">
              <a:buNone/>
            </a:pPr>
            <a:r>
              <a:rPr lang="en-US" sz="1400" i="1" dirty="0">
                <a:solidFill>
                  <a:schemeClr val="accent6"/>
                </a:solidFill>
              </a:rPr>
              <a:t>Ganho = receita da energia que deixa de ser cortada. Encargo = parcela da receita fixa das baterias.</a:t>
            </a:r>
            <a:endParaRPr lang="en-US" sz="1400" dirty="0"/>
          </a:p>
        </p:txBody>
      </p:sp>
      <p:sp>
        <p:nvSpPr>
          <p:cNvPr id="9" name="Source card 1"/>
          <p:cNvSpPr/>
          <p:nvPr/>
        </p:nvSpPr>
        <p:spPr>
          <a:xfrm>
            <a:off x="5577840" y="1463040"/>
            <a:ext cx="6065215" cy="1188720"/>
          </a:xfrm>
          <a:prstGeom prst="roundRect">
            <a:avLst>
              <a:gd name="adj" fmla="val 9231"/>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0" name="Icon circle"/>
          <p:cNvSpPr/>
          <p:nvPr/>
        </p:nvSpPr>
        <p:spPr>
          <a:xfrm>
            <a:off x="5852160" y="1764792"/>
            <a:ext cx="585216" cy="585216"/>
          </a:xfrm>
          <a:prstGeom prst="ellipse">
            <a:avLst/>
          </a:prstGeom>
          <a:solidFill>
            <a:schemeClr val="accent2"/>
          </a:solidFill>
          <a:ln w="12700">
            <a:solidFill>
              <a:schemeClr val="accent2"/>
            </a:solidFill>
            <a:prstDash val="solid"/>
          </a:ln>
        </p:spPr>
      </p:sp>
      <p:pic>
        <p:nvPicPr>
          <p:cNvPr id="11" name="Image 1" descr="FaWind">    </p:cNvPr>
          <p:cNvPicPr>
            <a:picLocks noChangeAspect="1"/>
          </p:cNvPicPr>
          <p:nvPr/>
        </p:nvPicPr>
        <p:blipFill>
          <a:blip r:embed="rId2"/>
          <a:stretch>
            <a:fillRect/>
          </a:stretch>
        </p:blipFill>
        <p:spPr>
          <a:xfrm>
            <a:off x="5998464" y="1911096"/>
            <a:ext cx="292608" cy="292608"/>
          </a:xfrm>
          <a:prstGeom prst="rect">
            <a:avLst/>
          </a:prstGeom>
        </p:spPr>
      </p:pic>
      <p:sp>
        <p:nvSpPr>
          <p:cNvPr id="12" name="Text 8"/>
          <p:cNvSpPr txBox="1"/>
          <p:nvPr/>
        </p:nvSpPr>
        <p:spPr>
          <a:xfrm>
            <a:off x="6675120" y="1554480"/>
            <a:ext cx="4785055"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Eólicas</a:t>
            </a:r>
            <a:endParaRPr lang="en-US" sz="1800" dirty="0"/>
          </a:p>
        </p:txBody>
      </p:sp>
      <p:sp>
        <p:nvSpPr>
          <p:cNvPr id="13" name="Text 9"/>
          <p:cNvSpPr txBox="1"/>
          <p:nvPr/>
        </p:nvSpPr>
        <p:spPr>
          <a:xfrm>
            <a:off x="6675120" y="1965960"/>
            <a:ext cx="4785055" cy="640080"/>
          </a:xfrm>
          <a:prstGeom prst="rect">
            <a:avLst/>
          </a:prstGeom>
          <a:noFill/>
          <a:ln/>
        </p:spPr>
        <p:txBody>
          <a:bodyPr wrap="square" lIns="0" tIns="0" rIns="0" bIns="0" rtlCol="0" anchor="t"/>
          <a:lstStyle/>
          <a:p>
            <a:pPr indent="0" marL="0">
              <a:buNone/>
            </a:pPr>
            <a:r>
              <a:rPr lang="en-US" sz="1400" dirty="0">
                <a:solidFill>
                  <a:schemeClr val="tx2"/>
                </a:solidFill>
              </a:rPr>
              <a:t>Cortes de 20,4% no 3º trimestre de 2025. O encargo parte do patamar P1 (100%).</a:t>
            </a:r>
            <a:endParaRPr lang="en-US" sz="1400" dirty="0"/>
          </a:p>
        </p:txBody>
      </p:sp>
      <p:sp>
        <p:nvSpPr>
          <p:cNvPr id="14" name="Source card 2"/>
          <p:cNvSpPr/>
          <p:nvPr/>
        </p:nvSpPr>
        <p:spPr>
          <a:xfrm>
            <a:off x="5577840" y="2788920"/>
            <a:ext cx="6065215" cy="1188720"/>
          </a:xfrm>
          <a:prstGeom prst="roundRect">
            <a:avLst>
              <a:gd name="adj" fmla="val 9231"/>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5" name="Icon circle"/>
          <p:cNvSpPr/>
          <p:nvPr/>
        </p:nvSpPr>
        <p:spPr>
          <a:xfrm>
            <a:off x="5852160" y="3090672"/>
            <a:ext cx="585216" cy="585216"/>
          </a:xfrm>
          <a:prstGeom prst="ellipse">
            <a:avLst/>
          </a:prstGeom>
          <a:solidFill>
            <a:schemeClr val="accent1"/>
          </a:solidFill>
          <a:ln w="12700">
            <a:solidFill>
              <a:schemeClr val="accent1"/>
            </a:solidFill>
            <a:prstDash val="solid"/>
          </a:ln>
        </p:spPr>
      </p:sp>
      <p:pic>
        <p:nvPicPr>
          <p:cNvPr id="16" name="Image 2" descr="FaSun">    </p:cNvPr>
          <p:cNvPicPr>
            <a:picLocks noChangeAspect="1"/>
          </p:cNvPicPr>
          <p:nvPr/>
        </p:nvPicPr>
        <p:blipFill>
          <a:blip r:embed="rId3"/>
          <a:stretch>
            <a:fillRect/>
          </a:stretch>
        </p:blipFill>
        <p:spPr>
          <a:xfrm>
            <a:off x="5998464" y="3236976"/>
            <a:ext cx="292608" cy="292608"/>
          </a:xfrm>
          <a:prstGeom prst="rect">
            <a:avLst/>
          </a:prstGeom>
        </p:spPr>
      </p:pic>
      <p:sp>
        <p:nvSpPr>
          <p:cNvPr id="17" name="Text 12"/>
          <p:cNvSpPr txBox="1"/>
          <p:nvPr/>
        </p:nvSpPr>
        <p:spPr>
          <a:xfrm>
            <a:off x="6675120" y="2880360"/>
            <a:ext cx="4785055"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Solares</a:t>
            </a:r>
            <a:endParaRPr lang="en-US" sz="1800" dirty="0"/>
          </a:p>
        </p:txBody>
      </p:sp>
      <p:sp>
        <p:nvSpPr>
          <p:cNvPr id="18" name="Text 13"/>
          <p:cNvSpPr txBox="1"/>
          <p:nvPr/>
        </p:nvSpPr>
        <p:spPr>
          <a:xfrm>
            <a:off x="6675120" y="3291840"/>
            <a:ext cx="4785055" cy="640080"/>
          </a:xfrm>
          <a:prstGeom prst="rect">
            <a:avLst/>
          </a:prstGeom>
          <a:noFill/>
          <a:ln/>
        </p:spPr>
        <p:txBody>
          <a:bodyPr wrap="square" lIns="0" tIns="0" rIns="0" bIns="0" rtlCol="0" anchor="t"/>
          <a:lstStyle/>
          <a:p>
            <a:pPr indent="0" marL="0">
              <a:buNone/>
            </a:pPr>
            <a:r>
              <a:rPr lang="en-US" sz="1400" dirty="0">
                <a:solidFill>
                  <a:schemeClr val="tx2"/>
                </a:solidFill>
              </a:rPr>
              <a:t>Maior corte: 34,1% no 3º trimestre de 2025, com peso de 5,3% na geração. O encargo parte do P1.</a:t>
            </a:r>
            <a:endParaRPr lang="en-US" sz="1400" dirty="0"/>
          </a:p>
        </p:txBody>
      </p:sp>
      <p:sp>
        <p:nvSpPr>
          <p:cNvPr id="19" name="Source card 3"/>
          <p:cNvSpPr/>
          <p:nvPr/>
        </p:nvSpPr>
        <p:spPr>
          <a:xfrm>
            <a:off x="5577840" y="4114800"/>
            <a:ext cx="6065215" cy="1188720"/>
          </a:xfrm>
          <a:prstGeom prst="roundRect">
            <a:avLst>
              <a:gd name="adj" fmla="val 9231"/>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20" name="Icon circle"/>
          <p:cNvSpPr/>
          <p:nvPr/>
        </p:nvSpPr>
        <p:spPr>
          <a:xfrm>
            <a:off x="5852160" y="4416552"/>
            <a:ext cx="585216" cy="585216"/>
          </a:xfrm>
          <a:prstGeom prst="ellipse">
            <a:avLst/>
          </a:prstGeom>
          <a:solidFill>
            <a:schemeClr val="accent3"/>
          </a:solidFill>
          <a:ln w="12700">
            <a:solidFill>
              <a:schemeClr val="accent3"/>
            </a:solidFill>
            <a:prstDash val="solid"/>
          </a:ln>
        </p:spPr>
      </p:sp>
      <p:pic>
        <p:nvPicPr>
          <p:cNvPr id="21" name="Image 3" descr="FaWater">    </p:cNvPr>
          <p:cNvPicPr>
            <a:picLocks noChangeAspect="1"/>
          </p:cNvPicPr>
          <p:nvPr/>
        </p:nvPicPr>
        <p:blipFill>
          <a:blip r:embed="rId4"/>
          <a:stretch>
            <a:fillRect/>
          </a:stretch>
        </p:blipFill>
        <p:spPr>
          <a:xfrm>
            <a:off x="5998464" y="4562856"/>
            <a:ext cx="292608" cy="292608"/>
          </a:xfrm>
          <a:prstGeom prst="rect">
            <a:avLst/>
          </a:prstGeom>
        </p:spPr>
      </p:pic>
      <p:sp>
        <p:nvSpPr>
          <p:cNvPr id="22" name="Text 16"/>
          <p:cNvSpPr txBox="1"/>
          <p:nvPr/>
        </p:nvSpPr>
        <p:spPr>
          <a:xfrm>
            <a:off x="6675120" y="4206240"/>
            <a:ext cx="4785055"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UHEs</a:t>
            </a:r>
            <a:endParaRPr lang="en-US" sz="1800" dirty="0"/>
          </a:p>
        </p:txBody>
      </p:sp>
      <p:sp>
        <p:nvSpPr>
          <p:cNvPr id="23" name="Text 17"/>
          <p:cNvSpPr txBox="1"/>
          <p:nvPr/>
        </p:nvSpPr>
        <p:spPr>
          <a:xfrm>
            <a:off x="6675120" y="4617720"/>
            <a:ext cx="4785055" cy="640080"/>
          </a:xfrm>
          <a:prstGeom prst="rect">
            <a:avLst/>
          </a:prstGeom>
          <a:noFill/>
          <a:ln/>
        </p:spPr>
        <p:txBody>
          <a:bodyPr wrap="square" lIns="0" tIns="0" rIns="0" bIns="0" rtlCol="0" anchor="t"/>
          <a:lstStyle/>
          <a:p>
            <a:pPr indent="0" marL="0">
              <a:buNone/>
            </a:pPr>
            <a:r>
              <a:rPr lang="en-US" sz="1400" dirty="0">
                <a:solidFill>
                  <a:schemeClr val="tx2"/>
                </a:solidFill>
              </a:rPr>
              <a:t>Responderam por 86% dos cortes obrigatórios de 2022 a 2024. O encargo depende do patamar de flexibilidade.</a:t>
            </a:r>
            <a:endParaRPr lang="en-US" sz="1400" dirty="0"/>
          </a:p>
        </p:txBody>
      </p:sp>
      <p:sp>
        <p:nvSpPr>
          <p:cNvPr id="24" name="Hypothesis banner"/>
          <p:cNvSpPr/>
          <p:nvPr/>
        </p:nvSpPr>
        <p:spPr>
          <a:xfrm>
            <a:off x="5577840" y="5440680"/>
            <a:ext cx="6065215" cy="685800"/>
          </a:xfrm>
          <a:prstGeom prst="roundRect">
            <a:avLst>
              <a:gd name="adj" fmla="val 16000"/>
            </a:avLst>
          </a:prstGeom>
          <a:solidFill>
            <a:schemeClr val="bg1"/>
          </a:solidFill>
          <a:ln w="19050">
            <a:solidFill>
              <a:schemeClr val="accent2"/>
            </a:solidFill>
            <a:prstDash val="solid"/>
          </a:ln>
        </p:spPr>
      </p:sp>
      <p:sp>
        <p:nvSpPr>
          <p:cNvPr id="25" name="Text 19"/>
          <p:cNvSpPr txBox="1"/>
          <p:nvPr/>
        </p:nvSpPr>
        <p:spPr>
          <a:xfrm>
            <a:off x="5852160" y="5440680"/>
            <a:ext cx="5516575" cy="685800"/>
          </a:xfrm>
          <a:prstGeom prst="rect">
            <a:avLst/>
          </a:prstGeom>
          <a:noFill/>
          <a:ln/>
        </p:spPr>
        <p:txBody>
          <a:bodyPr wrap="square" lIns="0" tIns="0" rIns="0" bIns="0" rtlCol="0" anchor="ctr"/>
          <a:lstStyle/>
          <a:p>
            <a:pPr indent="0" marL="0">
              <a:buNone/>
            </a:pPr>
            <a:r>
              <a:rPr lang="en-US" sz="1600" b="1" dirty="0">
                <a:solidFill>
                  <a:schemeClr val="tx1"/>
                </a:solidFill>
              </a:rPr>
              <a:t>H1 (fonte i): </a:t>
            </a:r>
            <a:pPr indent="0" marL="0">
              <a:buNone/>
            </a:pPr>
            <a:r>
              <a:rPr lang="en-US" sz="1600" dirty="0">
                <a:solidFill>
                  <a:schemeClr val="tx1"/>
                </a:solidFill>
              </a:rPr>
              <a:t>ganho ≥ encargo.   </a:t>
            </a:r>
            <a:pPr indent="0" marL="0">
              <a:buNone/>
            </a:pPr>
            <a:r>
              <a:rPr lang="en-US" sz="1600" b="1" dirty="0">
                <a:solidFill>
                  <a:schemeClr val="tx1"/>
                </a:solidFill>
              </a:rPr>
              <a:t>H0: </a:t>
            </a:r>
            <a:pPr indent="0" marL="0">
              <a:buNone/>
            </a:pPr>
            <a:r>
              <a:rPr lang="en-US" sz="1600" dirty="0">
                <a:solidFill>
                  <a:schemeClr val="tx1"/>
                </a:solidFill>
              </a:rPr>
              <a:t>ganho &lt; encargo.</a:t>
            </a:r>
            <a:endParaRPr lang="en-US" sz="1600" dirty="0"/>
          </a:p>
        </p:txBody>
      </p:sp>
      <p:sp>
        <p:nvSpPr>
          <p:cNvPr id="26" name="Text 20"/>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Fontes: BTG Pactual via NeoFeed (2025); CCEE/EPE (2026); Abrage (2025); NT 101/2026 da ANEEL.</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bg1"/>
                </a:solidFill>
              </a:rPr>
              <a:t>Objetivo geral</a:t>
            </a:r>
            <a:endParaRPr lang="en-US" sz="3200" dirty="0"/>
          </a:p>
        </p:txBody>
      </p:sp>
      <p:sp>
        <p:nvSpPr>
          <p:cNvPr id="3" name="General objective card"/>
          <p:cNvSpPr/>
          <p:nvPr/>
        </p:nvSpPr>
        <p:spPr>
          <a:xfrm>
            <a:off x="548640" y="1417320"/>
            <a:ext cx="11094415" cy="2148840"/>
          </a:xfrm>
          <a:prstGeom prst="roundRect">
            <a:avLst>
              <a:gd name="adj" fmla="val 5106"/>
            </a:avLst>
          </a:prstGeom>
          <a:solidFill>
            <a:schemeClr val="tx2"/>
          </a:solidFill>
          <a:ln w="12700">
            <a:solidFill>
              <a:schemeClr val="tx2"/>
            </a:solidFill>
            <a:prstDash val="solid"/>
          </a:ln>
        </p:spPr>
      </p:sp>
      <p:sp>
        <p:nvSpPr>
          <p:cNvPr id="4" name="Icon circle"/>
          <p:cNvSpPr/>
          <p:nvPr/>
        </p:nvSpPr>
        <p:spPr>
          <a:xfrm>
            <a:off x="914400" y="1965960"/>
            <a:ext cx="822960" cy="822960"/>
          </a:xfrm>
          <a:prstGeom prst="ellipse">
            <a:avLst/>
          </a:prstGeom>
          <a:solidFill>
            <a:schemeClr val="accent1"/>
          </a:solidFill>
          <a:ln w="12700">
            <a:solidFill>
              <a:schemeClr val="accent1"/>
            </a:solidFill>
            <a:prstDash val="solid"/>
          </a:ln>
        </p:spPr>
      </p:sp>
      <p:pic>
        <p:nvPicPr>
          <p:cNvPr id="5" name="Image 0" descr="FaBullseye">    </p:cNvPr>
          <p:cNvPicPr>
            <a:picLocks noChangeAspect="1"/>
          </p:cNvPicPr>
          <p:nvPr/>
        </p:nvPicPr>
        <p:blipFill>
          <a:blip r:embed="rId1"/>
          <a:stretch>
            <a:fillRect/>
          </a:stretch>
        </p:blipFill>
        <p:spPr>
          <a:xfrm>
            <a:off x="1120140" y="2171700"/>
            <a:ext cx="411480" cy="411480"/>
          </a:xfrm>
          <a:prstGeom prst="rect">
            <a:avLst/>
          </a:prstGeom>
        </p:spPr>
      </p:pic>
      <p:sp>
        <p:nvSpPr>
          <p:cNvPr id="6" name="Text 3"/>
          <p:cNvSpPr txBox="1"/>
          <p:nvPr/>
        </p:nvSpPr>
        <p:spPr>
          <a:xfrm>
            <a:off x="2011680" y="1508760"/>
            <a:ext cx="9265615" cy="1965960"/>
          </a:xfrm>
          <a:prstGeom prst="rect">
            <a:avLst/>
          </a:prstGeom>
          <a:noFill/>
          <a:ln/>
        </p:spPr>
        <p:txBody>
          <a:bodyPr wrap="square" lIns="0" tIns="0" rIns="0" bIns="0" rtlCol="0" anchor="ctr"/>
          <a:lstStyle/>
          <a:p>
            <a:pPr indent="0" marL="0">
              <a:buNone/>
            </a:pPr>
            <a:r>
              <a:rPr lang="en-US" sz="2100" dirty="0">
                <a:solidFill>
                  <a:schemeClr val="bg1"/>
                </a:solidFill>
                <a:latin typeface="Cambria" pitchFamily="34" charset="0"/>
                <a:ea typeface="Cambria" pitchFamily="34" charset="-122"/>
                <a:cs typeface="Cambria" pitchFamily="34" charset="-120"/>
              </a:rPr>
              <a:t>Verificar, para cada fonte (eólicas, UFVs centralizadas e UHEs), se a receita adicional obtida com a redução dos cortes de geração, após a inserção de baterias, é maior que o encargo que a fonte pagará pela receita fixa do LRCAP armazenamento.</a:t>
            </a:r>
            <a:endParaRPr lang="en-US" sz="2100" dirty="0"/>
          </a:p>
        </p:txBody>
      </p:sp>
      <p:sp>
        <p:nvSpPr>
          <p:cNvPr id="7" name="Objective breakdown 1"/>
          <p:cNvSpPr/>
          <p:nvPr/>
        </p:nvSpPr>
        <p:spPr>
          <a:xfrm>
            <a:off x="548640" y="3840480"/>
            <a:ext cx="3520440" cy="2331720"/>
          </a:xfrm>
          <a:prstGeom prst="roundRect">
            <a:avLst>
              <a:gd name="adj" fmla="val 4706"/>
            </a:avLst>
          </a:prstGeom>
          <a:solidFill>
            <a:schemeClr val="tx2"/>
          </a:solidFill>
          <a:ln w="12700">
            <a:solidFill>
              <a:schemeClr val="tx2"/>
            </a:solidFill>
            <a:prstDash val="solid"/>
          </a:ln>
        </p:spPr>
      </p:sp>
      <p:sp>
        <p:nvSpPr>
          <p:cNvPr id="8" name="Icon circle"/>
          <p:cNvSpPr/>
          <p:nvPr/>
        </p:nvSpPr>
        <p:spPr>
          <a:xfrm>
            <a:off x="822960" y="4069080"/>
            <a:ext cx="548640" cy="548640"/>
          </a:xfrm>
          <a:prstGeom prst="ellipse">
            <a:avLst/>
          </a:prstGeom>
          <a:solidFill>
            <a:schemeClr val="accent2"/>
          </a:solidFill>
          <a:ln w="12700">
            <a:solidFill>
              <a:schemeClr val="accent2"/>
            </a:solidFill>
            <a:prstDash val="solid"/>
          </a:ln>
        </p:spPr>
      </p:sp>
      <p:pic>
        <p:nvPicPr>
          <p:cNvPr id="9" name="Image 1" descr="FaSearch">    </p:cNvPr>
          <p:cNvPicPr>
            <a:picLocks noChangeAspect="1"/>
          </p:cNvPicPr>
          <p:nvPr/>
        </p:nvPicPr>
        <p:blipFill>
          <a:blip r:embed="rId2"/>
          <a:stretch>
            <a:fillRect/>
          </a:stretch>
        </p:blipFill>
        <p:spPr>
          <a:xfrm>
            <a:off x="960120" y="4206240"/>
            <a:ext cx="274320" cy="274320"/>
          </a:xfrm>
          <a:prstGeom prst="rect">
            <a:avLst/>
          </a:prstGeom>
        </p:spPr>
      </p:pic>
      <p:sp>
        <p:nvSpPr>
          <p:cNvPr id="10" name="Text 6"/>
          <p:cNvSpPr txBox="1"/>
          <p:nvPr/>
        </p:nvSpPr>
        <p:spPr>
          <a:xfrm>
            <a:off x="1554480" y="4069080"/>
            <a:ext cx="2331720" cy="548640"/>
          </a:xfrm>
          <a:prstGeom prst="rect">
            <a:avLst/>
          </a:prstGeom>
          <a:noFill/>
          <a:ln/>
        </p:spPr>
        <p:txBody>
          <a:bodyPr wrap="square" lIns="0" tIns="0" rIns="0" bIns="0" rtlCol="0" anchor="ctr"/>
          <a:lstStyle/>
          <a:p>
            <a:pPr indent="0" marL="0">
              <a:buNone/>
            </a:pPr>
            <a:r>
              <a:rPr lang="en-US" sz="1800" b="1" spc="200" kern="0" dirty="0">
                <a:solidFill>
                  <a:schemeClr val="accent1"/>
                </a:solidFill>
              </a:rPr>
              <a:t>O QUÊ</a:t>
            </a:r>
            <a:endParaRPr lang="en-US" sz="1800" dirty="0"/>
          </a:p>
        </p:txBody>
      </p:sp>
      <p:sp>
        <p:nvSpPr>
          <p:cNvPr id="11" name="Text 7"/>
          <p:cNvSpPr txBox="1"/>
          <p:nvPr/>
        </p:nvSpPr>
        <p:spPr>
          <a:xfrm>
            <a:off x="822960" y="4846320"/>
            <a:ext cx="2971800" cy="1234440"/>
          </a:xfrm>
          <a:prstGeom prst="rect">
            <a:avLst/>
          </a:prstGeom>
          <a:noFill/>
          <a:ln/>
        </p:spPr>
        <p:txBody>
          <a:bodyPr wrap="square" lIns="0" tIns="0" rIns="0" bIns="0" rtlCol="0" anchor="t"/>
          <a:lstStyle/>
          <a:p>
            <a:pPr indent="0" marL="0">
              <a:buNone/>
            </a:pPr>
            <a:r>
              <a:rPr lang="en-US" sz="1400" dirty="0">
                <a:solidFill>
                  <a:schemeClr val="bg1"/>
                </a:solidFill>
              </a:rPr>
              <a:t>Ganho com menos cortes em confronto com o encargo, fonte a fonte.</a:t>
            </a:r>
            <a:endParaRPr lang="en-US" sz="1400" dirty="0"/>
          </a:p>
        </p:txBody>
      </p:sp>
      <p:sp>
        <p:nvSpPr>
          <p:cNvPr id="12" name="Objective breakdown 2"/>
          <p:cNvSpPr/>
          <p:nvPr/>
        </p:nvSpPr>
        <p:spPr>
          <a:xfrm>
            <a:off x="4334256" y="3840480"/>
            <a:ext cx="3520440" cy="2331720"/>
          </a:xfrm>
          <a:prstGeom prst="roundRect">
            <a:avLst>
              <a:gd name="adj" fmla="val 4706"/>
            </a:avLst>
          </a:prstGeom>
          <a:solidFill>
            <a:schemeClr val="tx2"/>
          </a:solidFill>
          <a:ln w="12700">
            <a:solidFill>
              <a:schemeClr val="tx2"/>
            </a:solidFill>
            <a:prstDash val="solid"/>
          </a:ln>
        </p:spPr>
      </p:sp>
      <p:sp>
        <p:nvSpPr>
          <p:cNvPr id="13" name="Icon circle"/>
          <p:cNvSpPr/>
          <p:nvPr/>
        </p:nvSpPr>
        <p:spPr>
          <a:xfrm>
            <a:off x="4608576" y="4069080"/>
            <a:ext cx="548640" cy="548640"/>
          </a:xfrm>
          <a:prstGeom prst="ellipse">
            <a:avLst/>
          </a:prstGeom>
          <a:solidFill>
            <a:schemeClr val="accent2"/>
          </a:solidFill>
          <a:ln w="12700">
            <a:solidFill>
              <a:schemeClr val="accent2"/>
            </a:solidFill>
            <a:prstDash val="solid"/>
          </a:ln>
        </p:spPr>
      </p:sp>
      <p:pic>
        <p:nvPicPr>
          <p:cNvPr id="14" name="Image 2" descr="FaCogs">    </p:cNvPr>
          <p:cNvPicPr>
            <a:picLocks noChangeAspect="1"/>
          </p:cNvPicPr>
          <p:nvPr/>
        </p:nvPicPr>
        <p:blipFill>
          <a:blip r:embed="rId3"/>
          <a:stretch>
            <a:fillRect/>
          </a:stretch>
        </p:blipFill>
        <p:spPr>
          <a:xfrm>
            <a:off x="4745736" y="4206240"/>
            <a:ext cx="274320" cy="274320"/>
          </a:xfrm>
          <a:prstGeom prst="rect">
            <a:avLst/>
          </a:prstGeom>
        </p:spPr>
      </p:pic>
      <p:sp>
        <p:nvSpPr>
          <p:cNvPr id="15" name="Text 10"/>
          <p:cNvSpPr txBox="1"/>
          <p:nvPr/>
        </p:nvSpPr>
        <p:spPr>
          <a:xfrm>
            <a:off x="5340096" y="4069080"/>
            <a:ext cx="2331720" cy="548640"/>
          </a:xfrm>
          <a:prstGeom prst="rect">
            <a:avLst/>
          </a:prstGeom>
          <a:noFill/>
          <a:ln/>
        </p:spPr>
        <p:txBody>
          <a:bodyPr wrap="square" lIns="0" tIns="0" rIns="0" bIns="0" rtlCol="0" anchor="ctr"/>
          <a:lstStyle/>
          <a:p>
            <a:pPr indent="0" marL="0">
              <a:buNone/>
            </a:pPr>
            <a:r>
              <a:rPr lang="en-US" sz="1800" b="1" spc="200" kern="0" dirty="0">
                <a:solidFill>
                  <a:schemeClr val="accent1"/>
                </a:solidFill>
              </a:rPr>
              <a:t>COMO</a:t>
            </a:r>
            <a:endParaRPr lang="en-US" sz="1800" dirty="0"/>
          </a:p>
        </p:txBody>
      </p:sp>
      <p:sp>
        <p:nvSpPr>
          <p:cNvPr id="16" name="Text 11"/>
          <p:cNvSpPr txBox="1"/>
          <p:nvPr/>
        </p:nvSpPr>
        <p:spPr>
          <a:xfrm>
            <a:off x="4608576" y="4846320"/>
            <a:ext cx="2971800" cy="1234440"/>
          </a:xfrm>
          <a:prstGeom prst="rect">
            <a:avLst/>
          </a:prstGeom>
          <a:noFill/>
          <a:ln/>
        </p:spPr>
        <p:txBody>
          <a:bodyPr wrap="square" lIns="0" tIns="0" rIns="0" bIns="0" rtlCol="0" anchor="t"/>
          <a:lstStyle/>
          <a:p>
            <a:pPr indent="0" marL="0">
              <a:buNone/>
            </a:pPr>
            <a:r>
              <a:rPr lang="en-US" sz="1400" dirty="0">
                <a:solidFill>
                  <a:schemeClr val="bg1"/>
                </a:solidFill>
              </a:rPr>
              <a:t>Simulações horárias sem e com baterias (NE e SE, 4 h), em níveis de MMGD e regras de rateio.</a:t>
            </a:r>
            <a:endParaRPr lang="en-US" sz="1400" dirty="0"/>
          </a:p>
        </p:txBody>
      </p:sp>
      <p:sp>
        <p:nvSpPr>
          <p:cNvPr id="17" name="Objective breakdown 3"/>
          <p:cNvSpPr/>
          <p:nvPr/>
        </p:nvSpPr>
        <p:spPr>
          <a:xfrm>
            <a:off x="8119872" y="3840480"/>
            <a:ext cx="3520440" cy="2331720"/>
          </a:xfrm>
          <a:prstGeom prst="roundRect">
            <a:avLst>
              <a:gd name="adj" fmla="val 4706"/>
            </a:avLst>
          </a:prstGeom>
          <a:solidFill>
            <a:schemeClr val="tx2"/>
          </a:solidFill>
          <a:ln w="12700">
            <a:solidFill>
              <a:schemeClr val="tx2"/>
            </a:solidFill>
            <a:prstDash val="solid"/>
          </a:ln>
        </p:spPr>
      </p:sp>
      <p:sp>
        <p:nvSpPr>
          <p:cNvPr id="18" name="Icon circle"/>
          <p:cNvSpPr/>
          <p:nvPr/>
        </p:nvSpPr>
        <p:spPr>
          <a:xfrm>
            <a:off x="8394192" y="4069080"/>
            <a:ext cx="548640" cy="548640"/>
          </a:xfrm>
          <a:prstGeom prst="ellipse">
            <a:avLst/>
          </a:prstGeom>
          <a:solidFill>
            <a:schemeClr val="accent2"/>
          </a:solidFill>
          <a:ln w="12700">
            <a:solidFill>
              <a:schemeClr val="accent2"/>
            </a:solidFill>
            <a:prstDash val="solid"/>
          </a:ln>
        </p:spPr>
      </p:sp>
      <p:pic>
        <p:nvPicPr>
          <p:cNvPr id="19" name="Image 3" descr="FaGavel">    </p:cNvPr>
          <p:cNvPicPr>
            <a:picLocks noChangeAspect="1"/>
          </p:cNvPicPr>
          <p:nvPr/>
        </p:nvPicPr>
        <p:blipFill>
          <a:blip r:embed="rId4"/>
          <a:stretch>
            <a:fillRect/>
          </a:stretch>
        </p:blipFill>
        <p:spPr>
          <a:xfrm>
            <a:off x="8531352" y="4206240"/>
            <a:ext cx="274320" cy="274320"/>
          </a:xfrm>
          <a:prstGeom prst="rect">
            <a:avLst/>
          </a:prstGeom>
        </p:spPr>
      </p:pic>
      <p:sp>
        <p:nvSpPr>
          <p:cNvPr id="20" name="Text 14"/>
          <p:cNvSpPr txBox="1"/>
          <p:nvPr/>
        </p:nvSpPr>
        <p:spPr>
          <a:xfrm>
            <a:off x="9125712" y="4069080"/>
            <a:ext cx="2331720" cy="548640"/>
          </a:xfrm>
          <a:prstGeom prst="rect">
            <a:avLst/>
          </a:prstGeom>
          <a:noFill/>
          <a:ln/>
        </p:spPr>
        <p:txBody>
          <a:bodyPr wrap="square" lIns="0" tIns="0" rIns="0" bIns="0" rtlCol="0" anchor="ctr"/>
          <a:lstStyle/>
          <a:p>
            <a:pPr indent="0" marL="0">
              <a:buNone/>
            </a:pPr>
            <a:r>
              <a:rPr lang="en-US" sz="1800" b="1" spc="200" kern="0" dirty="0">
                <a:solidFill>
                  <a:schemeClr val="accent1"/>
                </a:solidFill>
              </a:rPr>
              <a:t>PARA QUÊ</a:t>
            </a:r>
            <a:endParaRPr lang="en-US" sz="1800" dirty="0"/>
          </a:p>
        </p:txBody>
      </p:sp>
      <p:sp>
        <p:nvSpPr>
          <p:cNvPr id="21" name="Text 15"/>
          <p:cNvSpPr txBox="1"/>
          <p:nvPr/>
        </p:nvSpPr>
        <p:spPr>
          <a:xfrm>
            <a:off x="8394192" y="4846320"/>
            <a:ext cx="2971800" cy="1234440"/>
          </a:xfrm>
          <a:prstGeom prst="rect">
            <a:avLst/>
          </a:prstGeom>
          <a:noFill/>
          <a:ln/>
        </p:spPr>
        <p:txBody>
          <a:bodyPr wrap="square" lIns="0" tIns="0" rIns="0" bIns="0" rtlCol="0" anchor="t"/>
          <a:lstStyle/>
          <a:p>
            <a:pPr indent="0" marL="0">
              <a:buNone/>
            </a:pPr>
            <a:r>
              <a:rPr lang="en-US" sz="1400" dirty="0">
                <a:solidFill>
                  <a:schemeClr val="bg1"/>
                </a:solidFill>
              </a:rPr>
              <a:t>Dizer a cada fonte se as baterias valem o encargo e subsidiar a regra de rateio.</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Objetivos específicos</a:t>
            </a:r>
            <a:endParaRPr lang="en-US" sz="3200" dirty="0"/>
          </a:p>
        </p:txBody>
      </p:sp>
      <p:sp>
        <p:nvSpPr>
          <p:cNvPr id="3" name="Specific objective 1"/>
          <p:cNvSpPr/>
          <p:nvPr/>
        </p:nvSpPr>
        <p:spPr>
          <a:xfrm>
            <a:off x="548640" y="1371600"/>
            <a:ext cx="11094415" cy="822960"/>
          </a:xfrm>
          <a:prstGeom prst="roundRect">
            <a:avLst>
              <a:gd name="adj" fmla="val 13333"/>
            </a:avLst>
          </a:prstGeom>
          <a:solidFill>
            <a:schemeClr val="bg2"/>
          </a:solidFill>
          <a:ln w="12700">
            <a:solidFill>
              <a:schemeClr val="bg2"/>
            </a:solidFill>
            <a:prstDash val="solid"/>
          </a:ln>
        </p:spPr>
      </p:sp>
      <p:sp>
        <p:nvSpPr>
          <p:cNvPr id="4" name="OE tag 1"/>
          <p:cNvSpPr/>
          <p:nvPr/>
        </p:nvSpPr>
        <p:spPr>
          <a:xfrm>
            <a:off x="731520" y="1508760"/>
            <a:ext cx="914400" cy="548640"/>
          </a:xfrm>
          <a:prstGeom prst="roundRect">
            <a:avLst>
              <a:gd name="adj" fmla="val 16667"/>
            </a:avLst>
          </a:prstGeom>
          <a:solidFill>
            <a:schemeClr val="tx2"/>
          </a:solidFill>
          <a:ln w="12700">
            <a:solidFill>
              <a:schemeClr val="tx2"/>
            </a:solidFill>
            <a:prstDash val="solid"/>
          </a:ln>
        </p:spPr>
      </p:sp>
      <p:sp>
        <p:nvSpPr>
          <p:cNvPr id="5" name="Text 3"/>
          <p:cNvSpPr txBox="1"/>
          <p:nvPr/>
        </p:nvSpPr>
        <p:spPr>
          <a:xfrm>
            <a:off x="731520" y="1508760"/>
            <a:ext cx="91440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OE1</a:t>
            </a:r>
            <a:endParaRPr lang="en-US" sz="1800" dirty="0"/>
          </a:p>
        </p:txBody>
      </p:sp>
      <p:sp>
        <p:nvSpPr>
          <p:cNvPr id="6" name="Text 4"/>
          <p:cNvSpPr txBox="1"/>
          <p:nvPr/>
        </p:nvSpPr>
        <p:spPr>
          <a:xfrm>
            <a:off x="1920240" y="1463040"/>
            <a:ext cx="3383280" cy="6400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Quantificar a geração evitada de corte</a:t>
            </a:r>
            <a:endParaRPr lang="en-US" sz="1800" dirty="0"/>
          </a:p>
        </p:txBody>
      </p:sp>
      <p:sp>
        <p:nvSpPr>
          <p:cNvPr id="7" name="Text 5"/>
          <p:cNvSpPr txBox="1"/>
          <p:nvPr/>
        </p:nvSpPr>
        <p:spPr>
          <a:xfrm>
            <a:off x="5715000" y="1444752"/>
            <a:ext cx="5029200" cy="676656"/>
          </a:xfrm>
          <a:prstGeom prst="rect">
            <a:avLst/>
          </a:prstGeom>
          <a:noFill/>
          <a:ln/>
        </p:spPr>
        <p:txBody>
          <a:bodyPr wrap="square" lIns="0" tIns="0" rIns="0" bIns="0" rtlCol="0" anchor="ctr"/>
          <a:lstStyle/>
          <a:p>
            <a:pPr indent="0" marL="0">
              <a:buNone/>
            </a:pPr>
            <a:r>
              <a:rPr lang="en-US" sz="1400" dirty="0">
                <a:solidFill>
                  <a:schemeClr val="tx2"/>
                </a:solidFill>
              </a:rPr>
              <a:t>de eólicas, UFVs centralizadas e UHEs, com e sem baterias, em cada nível de MMGD.</a:t>
            </a:r>
            <a:endParaRPr lang="en-US" sz="1400" dirty="0"/>
          </a:p>
        </p:txBody>
      </p:sp>
      <p:pic>
        <p:nvPicPr>
          <p:cNvPr id="8" name="Image 0" descr="Quantificar a geração evitada de corte">    </p:cNvPr>
          <p:cNvPicPr>
            <a:picLocks noChangeAspect="1"/>
          </p:cNvPicPr>
          <p:nvPr/>
        </p:nvPicPr>
        <p:blipFill>
          <a:blip r:embed="rId1"/>
          <a:stretch>
            <a:fillRect/>
          </a:stretch>
        </p:blipFill>
        <p:spPr>
          <a:xfrm>
            <a:off x="10957255" y="1577340"/>
            <a:ext cx="411480" cy="411480"/>
          </a:xfrm>
          <a:prstGeom prst="rect">
            <a:avLst/>
          </a:prstGeom>
        </p:spPr>
      </p:pic>
      <p:sp>
        <p:nvSpPr>
          <p:cNvPr id="9" name="Specific objective 2"/>
          <p:cNvSpPr/>
          <p:nvPr/>
        </p:nvSpPr>
        <p:spPr>
          <a:xfrm>
            <a:off x="548640" y="2304288"/>
            <a:ext cx="11094415" cy="822960"/>
          </a:xfrm>
          <a:prstGeom prst="roundRect">
            <a:avLst>
              <a:gd name="adj" fmla="val 13333"/>
            </a:avLst>
          </a:prstGeom>
          <a:solidFill>
            <a:schemeClr val="bg2"/>
          </a:solidFill>
          <a:ln w="12700">
            <a:solidFill>
              <a:schemeClr val="bg2"/>
            </a:solidFill>
            <a:prstDash val="solid"/>
          </a:ln>
        </p:spPr>
      </p:sp>
      <p:sp>
        <p:nvSpPr>
          <p:cNvPr id="10" name="OE tag 2"/>
          <p:cNvSpPr/>
          <p:nvPr/>
        </p:nvSpPr>
        <p:spPr>
          <a:xfrm>
            <a:off x="731520" y="2441448"/>
            <a:ext cx="914400" cy="548640"/>
          </a:xfrm>
          <a:prstGeom prst="roundRect">
            <a:avLst>
              <a:gd name="adj" fmla="val 16667"/>
            </a:avLst>
          </a:prstGeom>
          <a:solidFill>
            <a:schemeClr val="tx2"/>
          </a:solidFill>
          <a:ln w="12700">
            <a:solidFill>
              <a:schemeClr val="tx2"/>
            </a:solidFill>
            <a:prstDash val="solid"/>
          </a:ln>
        </p:spPr>
      </p:sp>
      <p:sp>
        <p:nvSpPr>
          <p:cNvPr id="11" name="Text 8"/>
          <p:cNvSpPr txBox="1"/>
          <p:nvPr/>
        </p:nvSpPr>
        <p:spPr>
          <a:xfrm>
            <a:off x="731520" y="2441448"/>
            <a:ext cx="91440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OE2</a:t>
            </a:r>
            <a:endParaRPr lang="en-US" sz="1800" dirty="0"/>
          </a:p>
        </p:txBody>
      </p:sp>
      <p:sp>
        <p:nvSpPr>
          <p:cNvPr id="12" name="Text 9"/>
          <p:cNvSpPr txBox="1"/>
          <p:nvPr/>
        </p:nvSpPr>
        <p:spPr>
          <a:xfrm>
            <a:off x="1920240" y="2395728"/>
            <a:ext cx="3383280" cy="6400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Valorar o ganho de cada fonte</a:t>
            </a:r>
            <a:endParaRPr lang="en-US" sz="1800" dirty="0"/>
          </a:p>
        </p:txBody>
      </p:sp>
      <p:sp>
        <p:nvSpPr>
          <p:cNvPr id="13" name="Text 10"/>
          <p:cNvSpPr txBox="1"/>
          <p:nvPr/>
        </p:nvSpPr>
        <p:spPr>
          <a:xfrm>
            <a:off x="5715000" y="2377440"/>
            <a:ext cx="5029200" cy="676656"/>
          </a:xfrm>
          <a:prstGeom prst="rect">
            <a:avLst/>
          </a:prstGeom>
          <a:noFill/>
          <a:ln/>
        </p:spPr>
        <p:txBody>
          <a:bodyPr wrap="square" lIns="0" tIns="0" rIns="0" bIns="0" rtlCol="0" anchor="ctr"/>
          <a:lstStyle/>
          <a:p>
            <a:pPr indent="0" marL="0">
              <a:buNone/>
            </a:pPr>
            <a:r>
              <a:rPr lang="en-US" sz="1400" dirty="0">
                <a:solidFill>
                  <a:schemeClr val="tx2"/>
                </a:solidFill>
              </a:rPr>
              <a:t>receita da energia adicional (preço de venda ou PLD) e, nas UHEs, valor da água.</a:t>
            </a:r>
            <a:endParaRPr lang="en-US" sz="1400" dirty="0"/>
          </a:p>
        </p:txBody>
      </p:sp>
      <p:pic>
        <p:nvPicPr>
          <p:cNvPr id="14" name="Image 1" descr="Valorar o ganho de cada fonte">    </p:cNvPr>
          <p:cNvPicPr>
            <a:picLocks noChangeAspect="1"/>
          </p:cNvPicPr>
          <p:nvPr/>
        </p:nvPicPr>
        <p:blipFill>
          <a:blip r:embed="rId2"/>
          <a:stretch>
            <a:fillRect/>
          </a:stretch>
        </p:blipFill>
        <p:spPr>
          <a:xfrm>
            <a:off x="10957255" y="2510028"/>
            <a:ext cx="411480" cy="411480"/>
          </a:xfrm>
          <a:prstGeom prst="rect">
            <a:avLst/>
          </a:prstGeom>
        </p:spPr>
      </p:pic>
      <p:sp>
        <p:nvSpPr>
          <p:cNvPr id="15" name="Specific objective 3"/>
          <p:cNvSpPr/>
          <p:nvPr/>
        </p:nvSpPr>
        <p:spPr>
          <a:xfrm>
            <a:off x="548640" y="3236976"/>
            <a:ext cx="11094415" cy="822960"/>
          </a:xfrm>
          <a:prstGeom prst="roundRect">
            <a:avLst>
              <a:gd name="adj" fmla="val 13333"/>
            </a:avLst>
          </a:prstGeom>
          <a:solidFill>
            <a:schemeClr val="bg2"/>
          </a:solidFill>
          <a:ln w="12700">
            <a:solidFill>
              <a:schemeClr val="bg2"/>
            </a:solidFill>
            <a:prstDash val="solid"/>
          </a:ln>
        </p:spPr>
      </p:sp>
      <p:sp>
        <p:nvSpPr>
          <p:cNvPr id="16" name="OE tag 3"/>
          <p:cNvSpPr/>
          <p:nvPr/>
        </p:nvSpPr>
        <p:spPr>
          <a:xfrm>
            <a:off x="731520" y="3374136"/>
            <a:ext cx="914400" cy="548640"/>
          </a:xfrm>
          <a:prstGeom prst="roundRect">
            <a:avLst>
              <a:gd name="adj" fmla="val 16667"/>
            </a:avLst>
          </a:prstGeom>
          <a:solidFill>
            <a:schemeClr val="tx2"/>
          </a:solidFill>
          <a:ln w="12700">
            <a:solidFill>
              <a:schemeClr val="tx2"/>
            </a:solidFill>
            <a:prstDash val="solid"/>
          </a:ln>
        </p:spPr>
      </p:sp>
      <p:sp>
        <p:nvSpPr>
          <p:cNvPr id="17" name="Text 13"/>
          <p:cNvSpPr txBox="1"/>
          <p:nvPr/>
        </p:nvSpPr>
        <p:spPr>
          <a:xfrm>
            <a:off x="731520" y="3374136"/>
            <a:ext cx="91440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OE3</a:t>
            </a:r>
            <a:endParaRPr lang="en-US" sz="1800" dirty="0"/>
          </a:p>
        </p:txBody>
      </p:sp>
      <p:sp>
        <p:nvSpPr>
          <p:cNvPr id="18" name="Text 14"/>
          <p:cNvSpPr txBox="1"/>
          <p:nvPr/>
        </p:nvSpPr>
        <p:spPr>
          <a:xfrm>
            <a:off x="1920240" y="3328416"/>
            <a:ext cx="3383280" cy="6400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Estimar o encargo de cada fonte</a:t>
            </a:r>
            <a:endParaRPr lang="en-US" sz="1800" dirty="0"/>
          </a:p>
        </p:txBody>
      </p:sp>
      <p:sp>
        <p:nvSpPr>
          <p:cNvPr id="19" name="Text 15"/>
          <p:cNvSpPr txBox="1"/>
          <p:nvPr/>
        </p:nvSpPr>
        <p:spPr>
          <a:xfrm>
            <a:off x="5715000" y="3310128"/>
            <a:ext cx="5029200" cy="676656"/>
          </a:xfrm>
          <a:prstGeom prst="rect">
            <a:avLst/>
          </a:prstGeom>
          <a:noFill/>
          <a:ln/>
        </p:spPr>
        <p:txBody>
          <a:bodyPr wrap="square" lIns="0" tIns="0" rIns="0" bIns="0" rtlCol="0" anchor="ctr"/>
          <a:lstStyle/>
          <a:p>
            <a:pPr indent="0" marL="0">
              <a:buNone/>
            </a:pPr>
            <a:r>
              <a:rPr lang="en-US" sz="1400" dirty="0">
                <a:solidFill>
                  <a:schemeClr val="tx2"/>
                </a:solidFill>
              </a:rPr>
              <a:t>parcela da receita fixa das baterias, pelas regras de rateio R1 a R3.</a:t>
            </a:r>
            <a:endParaRPr lang="en-US" sz="1400" dirty="0"/>
          </a:p>
        </p:txBody>
      </p:sp>
      <p:pic>
        <p:nvPicPr>
          <p:cNvPr id="20" name="Image 2" descr="Estimar o encargo de cada fonte">    </p:cNvPr>
          <p:cNvPicPr>
            <a:picLocks noChangeAspect="1"/>
          </p:cNvPicPr>
          <p:nvPr/>
        </p:nvPicPr>
        <p:blipFill>
          <a:blip r:embed="rId3"/>
          <a:stretch>
            <a:fillRect/>
          </a:stretch>
        </p:blipFill>
        <p:spPr>
          <a:xfrm>
            <a:off x="10957255" y="3442716"/>
            <a:ext cx="411480" cy="411480"/>
          </a:xfrm>
          <a:prstGeom prst="rect">
            <a:avLst/>
          </a:prstGeom>
        </p:spPr>
      </p:pic>
      <p:sp>
        <p:nvSpPr>
          <p:cNvPr id="21" name="Specific objective 4"/>
          <p:cNvSpPr/>
          <p:nvPr/>
        </p:nvSpPr>
        <p:spPr>
          <a:xfrm>
            <a:off x="548640" y="4169664"/>
            <a:ext cx="11094415" cy="822960"/>
          </a:xfrm>
          <a:prstGeom prst="roundRect">
            <a:avLst>
              <a:gd name="adj" fmla="val 13333"/>
            </a:avLst>
          </a:prstGeom>
          <a:solidFill>
            <a:schemeClr val="bg2"/>
          </a:solidFill>
          <a:ln w="12700">
            <a:solidFill>
              <a:schemeClr val="bg2"/>
            </a:solidFill>
            <a:prstDash val="solid"/>
          </a:ln>
        </p:spPr>
      </p:sp>
      <p:sp>
        <p:nvSpPr>
          <p:cNvPr id="22" name="OE tag 4"/>
          <p:cNvSpPr/>
          <p:nvPr/>
        </p:nvSpPr>
        <p:spPr>
          <a:xfrm>
            <a:off x="731520" y="4306824"/>
            <a:ext cx="914400" cy="548640"/>
          </a:xfrm>
          <a:prstGeom prst="roundRect">
            <a:avLst>
              <a:gd name="adj" fmla="val 16667"/>
            </a:avLst>
          </a:prstGeom>
          <a:solidFill>
            <a:schemeClr val="tx2"/>
          </a:solidFill>
          <a:ln w="12700">
            <a:solidFill>
              <a:schemeClr val="tx2"/>
            </a:solidFill>
            <a:prstDash val="solid"/>
          </a:ln>
        </p:spPr>
      </p:sp>
      <p:sp>
        <p:nvSpPr>
          <p:cNvPr id="23" name="Text 18"/>
          <p:cNvSpPr txBox="1"/>
          <p:nvPr/>
        </p:nvSpPr>
        <p:spPr>
          <a:xfrm>
            <a:off x="731520" y="4306824"/>
            <a:ext cx="91440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OE4</a:t>
            </a:r>
            <a:endParaRPr lang="en-US" sz="1800" dirty="0"/>
          </a:p>
        </p:txBody>
      </p:sp>
      <p:sp>
        <p:nvSpPr>
          <p:cNvPr id="24" name="Text 19"/>
          <p:cNvSpPr txBox="1"/>
          <p:nvPr/>
        </p:nvSpPr>
        <p:spPr>
          <a:xfrm>
            <a:off x="1920240" y="4261104"/>
            <a:ext cx="3383280" cy="6400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Comparar ganho e encargo</a:t>
            </a:r>
            <a:endParaRPr lang="en-US" sz="1800" dirty="0"/>
          </a:p>
        </p:txBody>
      </p:sp>
      <p:sp>
        <p:nvSpPr>
          <p:cNvPr id="25" name="Text 20"/>
          <p:cNvSpPr txBox="1"/>
          <p:nvPr/>
        </p:nvSpPr>
        <p:spPr>
          <a:xfrm>
            <a:off x="5715000" y="4242816"/>
            <a:ext cx="5029200" cy="676656"/>
          </a:xfrm>
          <a:prstGeom prst="rect">
            <a:avLst/>
          </a:prstGeom>
          <a:noFill/>
          <a:ln/>
        </p:spPr>
        <p:txBody>
          <a:bodyPr wrap="square" lIns="0" tIns="0" rIns="0" bIns="0" rtlCol="0" anchor="ctr"/>
          <a:lstStyle/>
          <a:p>
            <a:pPr indent="0" marL="0">
              <a:buNone/>
            </a:pPr>
            <a:r>
              <a:rPr lang="en-US" sz="1400" dirty="0">
                <a:solidFill>
                  <a:schemeClr val="tx2"/>
                </a:solidFill>
              </a:rPr>
              <a:t>saldo, razão ganho ÷ encargo e ponto de equilíbrio de cada fonte.</a:t>
            </a:r>
            <a:endParaRPr lang="en-US" sz="1400" dirty="0"/>
          </a:p>
        </p:txBody>
      </p:sp>
      <p:pic>
        <p:nvPicPr>
          <p:cNvPr id="26" name="Image 3" descr="Comparar ganho e encargo">    </p:cNvPr>
          <p:cNvPicPr>
            <a:picLocks noChangeAspect="1"/>
          </p:cNvPicPr>
          <p:nvPr/>
        </p:nvPicPr>
        <p:blipFill>
          <a:blip r:embed="rId4"/>
          <a:stretch>
            <a:fillRect/>
          </a:stretch>
        </p:blipFill>
        <p:spPr>
          <a:xfrm>
            <a:off x="10957255" y="4375404"/>
            <a:ext cx="411480" cy="411480"/>
          </a:xfrm>
          <a:prstGeom prst="rect">
            <a:avLst/>
          </a:prstGeom>
        </p:spPr>
      </p:pic>
      <p:sp>
        <p:nvSpPr>
          <p:cNvPr id="27" name="Specific objective 5"/>
          <p:cNvSpPr/>
          <p:nvPr/>
        </p:nvSpPr>
        <p:spPr>
          <a:xfrm>
            <a:off x="548640" y="5102352"/>
            <a:ext cx="11094415" cy="822960"/>
          </a:xfrm>
          <a:prstGeom prst="roundRect">
            <a:avLst>
              <a:gd name="adj" fmla="val 13333"/>
            </a:avLst>
          </a:prstGeom>
          <a:solidFill>
            <a:schemeClr val="bg2"/>
          </a:solidFill>
          <a:ln w="12700">
            <a:solidFill>
              <a:schemeClr val="bg2"/>
            </a:solidFill>
            <a:prstDash val="solid"/>
          </a:ln>
        </p:spPr>
      </p:sp>
      <p:sp>
        <p:nvSpPr>
          <p:cNvPr id="28" name="OE tag 5"/>
          <p:cNvSpPr/>
          <p:nvPr/>
        </p:nvSpPr>
        <p:spPr>
          <a:xfrm>
            <a:off x="731520" y="5239512"/>
            <a:ext cx="914400" cy="548640"/>
          </a:xfrm>
          <a:prstGeom prst="roundRect">
            <a:avLst>
              <a:gd name="adj" fmla="val 16667"/>
            </a:avLst>
          </a:prstGeom>
          <a:solidFill>
            <a:schemeClr val="tx2"/>
          </a:solidFill>
          <a:ln w="12700">
            <a:solidFill>
              <a:schemeClr val="tx2"/>
            </a:solidFill>
            <a:prstDash val="solid"/>
          </a:ln>
        </p:spPr>
      </p:sp>
      <p:sp>
        <p:nvSpPr>
          <p:cNvPr id="29" name="Text 23"/>
          <p:cNvSpPr txBox="1"/>
          <p:nvPr/>
        </p:nvSpPr>
        <p:spPr>
          <a:xfrm>
            <a:off x="731520" y="5239512"/>
            <a:ext cx="91440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OE5</a:t>
            </a:r>
            <a:endParaRPr lang="en-US" sz="1800" dirty="0"/>
          </a:p>
        </p:txBody>
      </p:sp>
      <p:sp>
        <p:nvSpPr>
          <p:cNvPr id="30" name="Text 24"/>
          <p:cNvSpPr txBox="1"/>
          <p:nvPr/>
        </p:nvSpPr>
        <p:spPr>
          <a:xfrm>
            <a:off x="1920240" y="5193792"/>
            <a:ext cx="3383280" cy="6400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Testar a sensibilidade</a:t>
            </a:r>
            <a:endParaRPr lang="en-US" sz="1800" dirty="0"/>
          </a:p>
        </p:txBody>
      </p:sp>
      <p:sp>
        <p:nvSpPr>
          <p:cNvPr id="31" name="Text 25"/>
          <p:cNvSpPr txBox="1"/>
          <p:nvPr/>
        </p:nvSpPr>
        <p:spPr>
          <a:xfrm>
            <a:off x="5715000" y="5175504"/>
            <a:ext cx="5029200" cy="676656"/>
          </a:xfrm>
          <a:prstGeom prst="rect">
            <a:avLst/>
          </a:prstGeom>
          <a:noFill/>
          <a:ln/>
        </p:spPr>
        <p:txBody>
          <a:bodyPr wrap="square" lIns="0" tIns="0" rIns="0" bIns="0" rtlCol="0" anchor="ctr"/>
          <a:lstStyle/>
          <a:p>
            <a:pPr indent="0" marL="0">
              <a:buNone/>
            </a:pPr>
            <a:r>
              <a:rPr lang="en-US" sz="1400" dirty="0">
                <a:solidFill>
                  <a:schemeClr val="tx2"/>
                </a:solidFill>
              </a:rPr>
              <a:t>nível de MMGD, regra de rateio, preço de valoração e patamar de flexibilidade.</a:t>
            </a:r>
            <a:endParaRPr lang="en-US" sz="1400" dirty="0"/>
          </a:p>
        </p:txBody>
      </p:sp>
      <p:pic>
        <p:nvPicPr>
          <p:cNvPr id="32" name="Image 4" descr="Testar a sensibilidade">    </p:cNvPr>
          <p:cNvPicPr>
            <a:picLocks noChangeAspect="1"/>
          </p:cNvPicPr>
          <p:nvPr/>
        </p:nvPicPr>
        <p:blipFill>
          <a:blip r:embed="rId5"/>
          <a:stretch>
            <a:fillRect/>
          </a:stretch>
        </p:blipFill>
        <p:spPr>
          <a:xfrm>
            <a:off x="10957255" y="5308092"/>
            <a:ext cx="411480" cy="411480"/>
          </a:xfrm>
          <a:prstGeom prst="rect">
            <a:avLst/>
          </a:prstGeom>
        </p:spPr>
      </p:pic>
      <p:sp>
        <p:nvSpPr>
          <p:cNvPr id="33" name="Text 26"/>
          <p:cNvSpPr txBox="1"/>
          <p:nvPr/>
        </p:nvSpPr>
        <p:spPr>
          <a:xfrm>
            <a:off x="548640" y="6053328"/>
            <a:ext cx="10180015" cy="320040"/>
          </a:xfrm>
          <a:prstGeom prst="rect">
            <a:avLst/>
          </a:prstGeom>
          <a:noFill/>
          <a:ln/>
        </p:spPr>
        <p:txBody>
          <a:bodyPr wrap="square" lIns="0" tIns="0" rIns="0" bIns="0" rtlCol="0" anchor="t"/>
          <a:lstStyle/>
          <a:p>
            <a:pPr indent="0" marL="0">
              <a:buNone/>
            </a:pPr>
            <a:r>
              <a:rPr lang="en-US" sz="1400" b="1" dirty="0">
                <a:solidFill>
                  <a:schemeClr val="tx2"/>
                </a:solidFill>
              </a:rPr>
              <a:t>OE1 e OE2 medem o ganho, OE3 mede o custo, OE4 responde à pergunta e OE5 mostra quando a resposta muda.</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Escopo e premissas do estudo</a:t>
            </a:r>
            <a:endParaRPr lang="en-US" sz="3200" dirty="0"/>
          </a:p>
        </p:txBody>
      </p:sp>
      <p:sp>
        <p:nvSpPr>
          <p:cNvPr id="3" name="Scope column 1"/>
          <p:cNvSpPr/>
          <p:nvPr/>
        </p:nvSpPr>
        <p:spPr>
          <a:xfrm>
            <a:off x="548640" y="1463040"/>
            <a:ext cx="3520440" cy="466344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4" name="Icon circle"/>
          <p:cNvSpPr/>
          <p:nvPr/>
        </p:nvSpPr>
        <p:spPr>
          <a:xfrm>
            <a:off x="822960" y="1737360"/>
            <a:ext cx="548640" cy="548640"/>
          </a:xfrm>
          <a:prstGeom prst="ellipse">
            <a:avLst/>
          </a:prstGeom>
          <a:solidFill>
            <a:schemeClr val="accent2"/>
          </a:solidFill>
          <a:ln w="12700">
            <a:solidFill>
              <a:schemeClr val="accent2"/>
            </a:solidFill>
            <a:prstDash val="solid"/>
          </a:ln>
        </p:spPr>
      </p:sp>
      <p:pic>
        <p:nvPicPr>
          <p:cNvPr id="5" name="Image 0" descr="FaCheckCircle">    </p:cNvPr>
          <p:cNvPicPr>
            <a:picLocks noChangeAspect="1"/>
          </p:cNvPicPr>
          <p:nvPr/>
        </p:nvPicPr>
        <p:blipFill>
          <a:blip r:embed="rId1"/>
          <a:stretch>
            <a:fillRect/>
          </a:stretch>
        </p:blipFill>
        <p:spPr>
          <a:xfrm>
            <a:off x="960120" y="1874520"/>
            <a:ext cx="274320" cy="274320"/>
          </a:xfrm>
          <a:prstGeom prst="rect">
            <a:avLst/>
          </a:prstGeom>
        </p:spPr>
      </p:pic>
      <p:sp>
        <p:nvSpPr>
          <p:cNvPr id="6" name="Text 3"/>
          <p:cNvSpPr txBox="1"/>
          <p:nvPr/>
        </p:nvSpPr>
        <p:spPr>
          <a:xfrm>
            <a:off x="1554480" y="1737360"/>
            <a:ext cx="233172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Dentro do escopo</a:t>
            </a:r>
            <a:endParaRPr lang="en-US" sz="2000" dirty="0"/>
          </a:p>
        </p:txBody>
      </p:sp>
      <p:sp>
        <p:nvSpPr>
          <p:cNvPr id="7" name="Text 4"/>
          <p:cNvSpPr txBox="1"/>
          <p:nvPr/>
        </p:nvSpPr>
        <p:spPr>
          <a:xfrm>
            <a:off x="822960" y="2514600"/>
            <a:ext cx="301752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Fontes: eólicas, UFVs centralizadas e UHEs</a:t>
            </a:r>
            <a:endParaRPr lang="en-US" sz="1500" dirty="0"/>
          </a:p>
          <a:p>
            <a:pPr marL="342900" indent="-342900">
              <a:spcAft>
                <a:spcPts val="1000"/>
              </a:spcAft>
              <a:buSzPct val="100000"/>
              <a:buChar char="•"/>
            </a:pPr>
            <a:r>
              <a:rPr lang="en-US" sz="1500" dirty="0">
                <a:solidFill>
                  <a:schemeClr val="tx1"/>
                </a:solidFill>
              </a:rPr>
              <a:t>SIN com baterias no Nordeste e Sudeste, 4 h</a:t>
            </a:r>
            <a:endParaRPr lang="en-US" sz="1500" dirty="0"/>
          </a:p>
          <a:p>
            <a:pPr marL="342900" indent="-342900">
              <a:spcAft>
                <a:spcPts val="1000"/>
              </a:spcAft>
              <a:buSzPct val="100000"/>
              <a:buChar char="•"/>
            </a:pPr>
            <a:r>
              <a:rPr lang="en-US" sz="1500" dirty="0">
                <a:solidFill>
                  <a:schemeClr val="tx1"/>
                </a:solidFill>
              </a:rPr>
              <a:t>Simulação horária, sem e com baterias</a:t>
            </a:r>
            <a:endParaRPr lang="en-US" sz="1500" dirty="0"/>
          </a:p>
          <a:p>
            <a:pPr marL="342900" indent="-342900">
              <a:spcAft>
                <a:spcPts val="1000"/>
              </a:spcAft>
              <a:buSzPct val="100000"/>
              <a:buChar char="•"/>
            </a:pPr>
            <a:r>
              <a:rPr lang="en-US" sz="1500" dirty="0">
                <a:solidFill>
                  <a:schemeClr val="tx1"/>
                </a:solidFill>
              </a:rPr>
              <a:t>Ganho: receita da geração que deixa de ser cortada</a:t>
            </a:r>
            <a:endParaRPr lang="en-US" sz="1500" dirty="0"/>
          </a:p>
          <a:p>
            <a:pPr marL="342900" indent="-342900">
              <a:spcAft>
                <a:spcPts val="1000"/>
              </a:spcAft>
              <a:buSzPct val="100000"/>
              <a:buChar char="•"/>
            </a:pPr>
            <a:r>
              <a:rPr lang="en-US" sz="1500" dirty="0">
                <a:solidFill>
                  <a:schemeClr val="tx1"/>
                </a:solidFill>
              </a:rPr>
              <a:t>Encargo: parcela da receita fixa do LRCAP armazenamento</a:t>
            </a:r>
            <a:endParaRPr lang="en-US" sz="1500" dirty="0"/>
          </a:p>
        </p:txBody>
      </p:sp>
      <p:sp>
        <p:nvSpPr>
          <p:cNvPr id="8" name="Scope column 2"/>
          <p:cNvSpPr/>
          <p:nvPr/>
        </p:nvSpPr>
        <p:spPr>
          <a:xfrm>
            <a:off x="4334256" y="1463040"/>
            <a:ext cx="3520440" cy="466344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9" name="Icon circle"/>
          <p:cNvSpPr/>
          <p:nvPr/>
        </p:nvSpPr>
        <p:spPr>
          <a:xfrm>
            <a:off x="4608576" y="1737360"/>
            <a:ext cx="548640" cy="548640"/>
          </a:xfrm>
          <a:prstGeom prst="ellipse">
            <a:avLst/>
          </a:prstGeom>
          <a:solidFill>
            <a:schemeClr val="accent1"/>
          </a:solidFill>
          <a:ln w="12700">
            <a:solidFill>
              <a:schemeClr val="accent1"/>
            </a:solidFill>
            <a:prstDash val="solid"/>
          </a:ln>
        </p:spPr>
      </p:sp>
      <p:pic>
        <p:nvPicPr>
          <p:cNvPr id="10" name="Image 1" descr="FaCogs">    </p:cNvPr>
          <p:cNvPicPr>
            <a:picLocks noChangeAspect="1"/>
          </p:cNvPicPr>
          <p:nvPr/>
        </p:nvPicPr>
        <p:blipFill>
          <a:blip r:embed="rId2"/>
          <a:stretch>
            <a:fillRect/>
          </a:stretch>
        </p:blipFill>
        <p:spPr>
          <a:xfrm>
            <a:off x="4745736" y="1874520"/>
            <a:ext cx="274320" cy="274320"/>
          </a:xfrm>
          <a:prstGeom prst="rect">
            <a:avLst/>
          </a:prstGeom>
        </p:spPr>
      </p:pic>
      <p:sp>
        <p:nvSpPr>
          <p:cNvPr id="11" name="Text 7"/>
          <p:cNvSpPr txBox="1"/>
          <p:nvPr/>
        </p:nvSpPr>
        <p:spPr>
          <a:xfrm>
            <a:off x="5340096" y="1737360"/>
            <a:ext cx="233172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Premissas a definir</a:t>
            </a:r>
            <a:endParaRPr lang="en-US" sz="2000" dirty="0"/>
          </a:p>
        </p:txBody>
      </p:sp>
      <p:sp>
        <p:nvSpPr>
          <p:cNvPr id="12" name="Text 8"/>
          <p:cNvSpPr txBox="1"/>
          <p:nvPr/>
        </p:nvSpPr>
        <p:spPr>
          <a:xfrm>
            <a:off x="4608576" y="2514600"/>
            <a:ext cx="301752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Potência das baterias e receita fixa, conforme o deságio do leilão</a:t>
            </a:r>
            <a:endParaRPr lang="en-US" sz="1500" dirty="0"/>
          </a:p>
          <a:p>
            <a:pPr marL="342900" indent="-342900">
              <a:spcAft>
                <a:spcPts val="1000"/>
              </a:spcAft>
              <a:buSzPct val="100000"/>
              <a:buChar char="•"/>
            </a:pPr>
            <a:r>
              <a:rPr lang="en-US" sz="1500" dirty="0">
                <a:solidFill>
                  <a:schemeClr val="tx1"/>
                </a:solidFill>
              </a:rPr>
              <a:t>Preço de valoração: PLD ou preço do contrato</a:t>
            </a:r>
            <a:endParaRPr lang="en-US" sz="1500" dirty="0"/>
          </a:p>
          <a:p>
            <a:pPr marL="342900" indent="-342900">
              <a:spcAft>
                <a:spcPts val="1000"/>
              </a:spcAft>
              <a:buSzPct val="100000"/>
              <a:buChar char="•"/>
            </a:pPr>
            <a:r>
              <a:rPr lang="en-US" sz="1500" dirty="0">
                <a:solidFill>
                  <a:schemeClr val="tx1"/>
                </a:solidFill>
              </a:rPr>
              <a:t>Regra de rateio (R1 a R3) e patamar P1 a P4 de cada fonte</a:t>
            </a:r>
            <a:endParaRPr lang="en-US" sz="1500" dirty="0"/>
          </a:p>
          <a:p>
            <a:pPr marL="342900" indent="-342900">
              <a:spcAft>
                <a:spcPts val="1000"/>
              </a:spcAft>
              <a:buSzPct val="100000"/>
              <a:buChar char="•"/>
            </a:pPr>
            <a:r>
              <a:rPr lang="en-US" sz="1500" dirty="0">
                <a:solidFill>
                  <a:schemeClr val="tx1"/>
                </a:solidFill>
              </a:rPr>
              <a:t>Cortes sem ressarcimento; Lei 15.269 como sensibilidade</a:t>
            </a:r>
            <a:endParaRPr lang="en-US" sz="1500" dirty="0"/>
          </a:p>
          <a:p>
            <a:pPr marL="342900" indent="-342900">
              <a:spcAft>
                <a:spcPts val="1000"/>
              </a:spcAft>
              <a:buSzPct val="100000"/>
              <a:buChar char="•"/>
            </a:pPr>
            <a:r>
              <a:rPr lang="en-US" sz="1500" dirty="0">
                <a:solidFill>
                  <a:schemeClr val="tx1"/>
                </a:solidFill>
              </a:rPr>
              <a:t>Ano-horizonte e níveis de MMGD (ref.: PDE 2034)</a:t>
            </a:r>
            <a:endParaRPr lang="en-US" sz="1500" dirty="0"/>
          </a:p>
        </p:txBody>
      </p:sp>
      <p:sp>
        <p:nvSpPr>
          <p:cNvPr id="13" name="Scope column 3"/>
          <p:cNvSpPr/>
          <p:nvPr/>
        </p:nvSpPr>
        <p:spPr>
          <a:xfrm>
            <a:off x="8119872" y="1463040"/>
            <a:ext cx="3520440" cy="466344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4" name="Icon circle"/>
          <p:cNvSpPr/>
          <p:nvPr/>
        </p:nvSpPr>
        <p:spPr>
          <a:xfrm>
            <a:off x="8394192" y="1737360"/>
            <a:ext cx="548640" cy="548640"/>
          </a:xfrm>
          <a:prstGeom prst="ellipse">
            <a:avLst/>
          </a:prstGeom>
          <a:solidFill>
            <a:schemeClr val="accent4"/>
          </a:solidFill>
          <a:ln w="12700">
            <a:solidFill>
              <a:schemeClr val="accent4"/>
            </a:solidFill>
            <a:prstDash val="solid"/>
          </a:ln>
        </p:spPr>
      </p:sp>
      <p:pic>
        <p:nvPicPr>
          <p:cNvPr id="15" name="Image 2" descr="FaTimesCircle">    </p:cNvPr>
          <p:cNvPicPr>
            <a:picLocks noChangeAspect="1"/>
          </p:cNvPicPr>
          <p:nvPr/>
        </p:nvPicPr>
        <p:blipFill>
          <a:blip r:embed="rId3"/>
          <a:stretch>
            <a:fillRect/>
          </a:stretch>
        </p:blipFill>
        <p:spPr>
          <a:xfrm>
            <a:off x="8531352" y="1874520"/>
            <a:ext cx="274320" cy="274320"/>
          </a:xfrm>
          <a:prstGeom prst="rect">
            <a:avLst/>
          </a:prstGeom>
        </p:spPr>
      </p:pic>
      <p:sp>
        <p:nvSpPr>
          <p:cNvPr id="16" name="Text 11"/>
          <p:cNvSpPr txBox="1"/>
          <p:nvPr/>
        </p:nvSpPr>
        <p:spPr>
          <a:xfrm>
            <a:off x="9125712" y="1737360"/>
            <a:ext cx="233172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Fora do escopo</a:t>
            </a:r>
            <a:endParaRPr lang="en-US" sz="2000" dirty="0"/>
          </a:p>
        </p:txBody>
      </p:sp>
      <p:sp>
        <p:nvSpPr>
          <p:cNvPr id="17" name="Text 12"/>
          <p:cNvSpPr txBox="1"/>
          <p:nvPr/>
        </p:nvSpPr>
        <p:spPr>
          <a:xfrm>
            <a:off x="8394192" y="2514600"/>
            <a:ext cx="301752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Térmicas e biomassa: efeitos apenas reportados</a:t>
            </a:r>
            <a:endParaRPr lang="en-US" sz="1500" dirty="0"/>
          </a:p>
          <a:p>
            <a:pPr marL="342900" indent="-342900">
              <a:spcAft>
                <a:spcPts val="1000"/>
              </a:spcAft>
              <a:buSzPct val="100000"/>
              <a:buChar char="•"/>
            </a:pPr>
            <a:r>
              <a:rPr lang="en-US" sz="1500" dirty="0">
                <a:solidFill>
                  <a:schemeClr val="tx1"/>
                </a:solidFill>
              </a:rPr>
              <a:t>MMGD, que fica fora do rateio</a:t>
            </a:r>
            <a:endParaRPr lang="en-US" sz="1500" dirty="0"/>
          </a:p>
          <a:p>
            <a:pPr marL="342900" indent="-342900">
              <a:spcAft>
                <a:spcPts val="1000"/>
              </a:spcAft>
              <a:buSzPct val="100000"/>
              <a:buChar char="•"/>
            </a:pPr>
            <a:r>
              <a:rPr lang="en-US" sz="1500" dirty="0">
                <a:solidFill>
                  <a:schemeClr val="tx1"/>
                </a:solidFill>
              </a:rPr>
              <a:t>Efeitos sobre a tarifa do consumidor</a:t>
            </a:r>
            <a:endParaRPr lang="en-US" sz="1500" dirty="0"/>
          </a:p>
          <a:p>
            <a:pPr marL="342900" indent="-342900">
              <a:spcAft>
                <a:spcPts val="1000"/>
              </a:spcAft>
              <a:buSzPct val="100000"/>
              <a:buChar char="•"/>
            </a:pPr>
            <a:r>
              <a:rPr lang="en-US" sz="1500" dirty="0">
                <a:solidFill>
                  <a:schemeClr val="tx1"/>
                </a:solidFill>
              </a:rPr>
              <a:t>Dimensionamento ótimo e localização por barra</a:t>
            </a:r>
            <a:endParaRPr lang="en-US" sz="1500" dirty="0"/>
          </a:p>
          <a:p>
            <a:pPr marL="342900" indent="-342900">
              <a:spcAft>
                <a:spcPts val="1000"/>
              </a:spcAft>
              <a:buSzPct val="100000"/>
              <a:buChar char="•"/>
            </a:pPr>
            <a:r>
              <a:rPr lang="en-US" sz="1500" dirty="0">
                <a:solidFill>
                  <a:schemeClr val="tx1"/>
                </a:solidFill>
              </a:rPr>
              <a:t>Baterias atrás do medidor</a:t>
            </a:r>
            <a:endParaRPr lang="en-US" sz="1500" dirty="0"/>
          </a:p>
        </p:txBody>
      </p:sp>
      <p:sp>
        <p:nvSpPr>
          <p:cNvPr id="18" name="Text 13"/>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Referências: requisitos do LRCAP 2026 (ePowerBay, 2026); EPE, PDE 2034, Caderno MMGD e Baterias (2024); NT 101/2026 da ANEEL.</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Metodologia: fluxo de simulações</a:t>
            </a:r>
            <a:endParaRPr lang="en-US" sz="3200" dirty="0"/>
          </a:p>
        </p:txBody>
      </p:sp>
      <p:sp>
        <p:nvSpPr>
          <p:cNvPr id="3" name="Lane 1"/>
          <p:cNvSpPr/>
          <p:nvPr/>
        </p:nvSpPr>
        <p:spPr>
          <a:xfrm>
            <a:off x="548640" y="1417320"/>
            <a:ext cx="1143000" cy="1280160"/>
          </a:xfrm>
          <a:prstGeom prst="roundRect">
            <a:avLst>
              <a:gd name="adj" fmla="val 8000"/>
            </a:avLst>
          </a:prstGeom>
          <a:solidFill>
            <a:schemeClr val="tx2"/>
          </a:solidFill>
          <a:ln w="12700">
            <a:solidFill>
              <a:schemeClr val="tx2"/>
            </a:solidFill>
            <a:prstDash val="solid"/>
          </a:ln>
        </p:spPr>
      </p:sp>
      <p:sp>
        <p:nvSpPr>
          <p:cNvPr id="4" name="Text 2"/>
          <p:cNvSpPr txBox="1"/>
          <p:nvPr/>
        </p:nvSpPr>
        <p:spPr>
          <a:xfrm>
            <a:off x="640080" y="1417320"/>
            <a:ext cx="960120" cy="1280160"/>
          </a:xfrm>
          <a:prstGeom prst="rect">
            <a:avLst/>
          </a:prstGeom>
          <a:noFill/>
          <a:ln/>
        </p:spPr>
        <p:txBody>
          <a:bodyPr wrap="square" lIns="0" tIns="0" rIns="0" bIns="0" rtlCol="0" anchor="ctr"/>
          <a:lstStyle/>
          <a:p>
            <a:pPr algn="ctr" indent="0" marL="0">
              <a:buNone/>
            </a:pPr>
            <a:r>
              <a:rPr lang="en-US" sz="1400" b="1" dirty="0">
                <a:solidFill>
                  <a:schemeClr val="bg1"/>
                </a:solidFill>
              </a:rPr>
              <a:t>ETAPA 1</a:t>
            </a:r>
            <a:endParaRPr lang="en-US" sz="1400" dirty="0"/>
          </a:p>
          <a:p>
            <a:pPr algn="ctr" indent="0" marL="0">
              <a:buNone/>
            </a:pPr>
            <a:r>
              <a:rPr lang="en-US" sz="1400" dirty="0">
                <a:solidFill>
                  <a:schemeClr val="bg1"/>
                </a:solidFill>
              </a:rPr>
              <a:t>Sem baterias</a:t>
            </a:r>
            <a:endParaRPr lang="en-US" sz="1400" dirty="0"/>
          </a:p>
        </p:txBody>
      </p:sp>
      <p:sp>
        <p:nvSpPr>
          <p:cNvPr id="5" name="Lane 2"/>
          <p:cNvSpPr/>
          <p:nvPr/>
        </p:nvSpPr>
        <p:spPr>
          <a:xfrm>
            <a:off x="548640" y="3044952"/>
            <a:ext cx="1143000" cy="1280160"/>
          </a:xfrm>
          <a:prstGeom prst="roundRect">
            <a:avLst>
              <a:gd name="adj" fmla="val 8000"/>
            </a:avLst>
          </a:prstGeom>
          <a:solidFill>
            <a:schemeClr val="accent2"/>
          </a:solidFill>
          <a:ln w="12700">
            <a:solidFill>
              <a:schemeClr val="accent2"/>
            </a:solidFill>
            <a:prstDash val="solid"/>
          </a:ln>
        </p:spPr>
      </p:sp>
      <p:sp>
        <p:nvSpPr>
          <p:cNvPr id="6" name="Text 4"/>
          <p:cNvSpPr txBox="1"/>
          <p:nvPr/>
        </p:nvSpPr>
        <p:spPr>
          <a:xfrm>
            <a:off x="640080" y="3044952"/>
            <a:ext cx="960120" cy="1280160"/>
          </a:xfrm>
          <a:prstGeom prst="rect">
            <a:avLst/>
          </a:prstGeom>
          <a:noFill/>
          <a:ln/>
        </p:spPr>
        <p:txBody>
          <a:bodyPr wrap="square" lIns="0" tIns="0" rIns="0" bIns="0" rtlCol="0" anchor="ctr"/>
          <a:lstStyle/>
          <a:p>
            <a:pPr algn="ctr" indent="0" marL="0">
              <a:buNone/>
            </a:pPr>
            <a:r>
              <a:rPr lang="en-US" sz="1400" b="1" dirty="0">
                <a:solidFill>
                  <a:schemeClr val="tx1"/>
                </a:solidFill>
              </a:rPr>
              <a:t>ETAPA 2</a:t>
            </a:r>
            <a:endParaRPr lang="en-US" sz="1400" dirty="0"/>
          </a:p>
          <a:p>
            <a:pPr algn="ctr" indent="0" marL="0">
              <a:buNone/>
            </a:pPr>
            <a:r>
              <a:rPr lang="en-US" sz="1400" dirty="0">
                <a:solidFill>
                  <a:schemeClr val="tx1"/>
                </a:solidFill>
              </a:rPr>
              <a:t>Com baterias</a:t>
            </a:r>
            <a:endParaRPr lang="en-US" sz="1400" dirty="0"/>
          </a:p>
        </p:txBody>
      </p:sp>
      <p:sp>
        <p:nvSpPr>
          <p:cNvPr id="7" name="Lane 3"/>
          <p:cNvSpPr/>
          <p:nvPr/>
        </p:nvSpPr>
        <p:spPr>
          <a:xfrm>
            <a:off x="548640" y="4672584"/>
            <a:ext cx="1143000" cy="1280160"/>
          </a:xfrm>
          <a:prstGeom prst="roundRect">
            <a:avLst>
              <a:gd name="adj" fmla="val 8000"/>
            </a:avLst>
          </a:prstGeom>
          <a:solidFill>
            <a:schemeClr val="accent1"/>
          </a:solidFill>
          <a:ln w="12700">
            <a:solidFill>
              <a:schemeClr val="accent1"/>
            </a:solidFill>
            <a:prstDash val="solid"/>
          </a:ln>
        </p:spPr>
      </p:sp>
      <p:sp>
        <p:nvSpPr>
          <p:cNvPr id="8" name="Text 6"/>
          <p:cNvSpPr txBox="1"/>
          <p:nvPr/>
        </p:nvSpPr>
        <p:spPr>
          <a:xfrm>
            <a:off x="640080" y="4672584"/>
            <a:ext cx="960120" cy="1280160"/>
          </a:xfrm>
          <a:prstGeom prst="rect">
            <a:avLst/>
          </a:prstGeom>
          <a:noFill/>
          <a:ln/>
        </p:spPr>
        <p:txBody>
          <a:bodyPr wrap="square" lIns="0" tIns="0" rIns="0" bIns="0" rtlCol="0" anchor="ctr"/>
          <a:lstStyle/>
          <a:p>
            <a:pPr algn="ctr" indent="0" marL="0">
              <a:buNone/>
            </a:pPr>
            <a:r>
              <a:rPr lang="en-US" sz="1400" b="1" dirty="0">
                <a:solidFill>
                  <a:schemeClr val="tx1"/>
                </a:solidFill>
              </a:rPr>
              <a:t>ETAPA 3</a:t>
            </a:r>
            <a:endParaRPr lang="en-US" sz="1400" dirty="0"/>
          </a:p>
          <a:p>
            <a:pPr algn="ctr" indent="0" marL="0">
              <a:buNone/>
            </a:pPr>
            <a:r>
              <a:rPr lang="en-US" sz="1400" dirty="0">
                <a:solidFill>
                  <a:schemeClr val="tx1"/>
                </a:solidFill>
              </a:rPr>
              <a:t>Análise</a:t>
            </a:r>
            <a:endParaRPr lang="en-US" sz="1400" dirty="0"/>
          </a:p>
        </p:txBody>
      </p:sp>
      <p:sp>
        <p:nvSpPr>
          <p:cNvPr id="9" name="Step 1"/>
          <p:cNvSpPr/>
          <p:nvPr/>
        </p:nvSpPr>
        <p:spPr>
          <a:xfrm>
            <a:off x="1965960" y="1417320"/>
            <a:ext cx="2103120" cy="1280160"/>
          </a:xfrm>
          <a:prstGeom prst="roundRect">
            <a:avLst>
              <a:gd name="adj" fmla="val 7143"/>
            </a:avLst>
          </a:prstGeom>
          <a:solidFill>
            <a:schemeClr val="bg1"/>
          </a:solidFill>
          <a:ln w="25400">
            <a:solidFill>
              <a:schemeClr val="tx2"/>
            </a:solidFill>
            <a:prstDash val="solid"/>
          </a:ln>
        </p:spPr>
      </p:sp>
      <p:sp>
        <p:nvSpPr>
          <p:cNvPr id="10" name="Step number 1"/>
          <p:cNvSpPr/>
          <p:nvPr/>
        </p:nvSpPr>
        <p:spPr>
          <a:xfrm>
            <a:off x="2075688" y="1527048"/>
            <a:ext cx="310896" cy="310896"/>
          </a:xfrm>
          <a:prstGeom prst="ellipse">
            <a:avLst/>
          </a:prstGeom>
          <a:solidFill>
            <a:schemeClr val="tx2"/>
          </a:solidFill>
          <a:ln w="12700">
            <a:solidFill>
              <a:schemeClr val="tx2"/>
            </a:solidFill>
            <a:prstDash val="solid"/>
          </a:ln>
        </p:spPr>
      </p:sp>
      <p:sp>
        <p:nvSpPr>
          <p:cNvPr id="11" name="Text 9"/>
          <p:cNvSpPr txBox="1"/>
          <p:nvPr/>
        </p:nvSpPr>
        <p:spPr>
          <a:xfrm>
            <a:off x="2075688" y="152704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2468880" y="1508760"/>
            <a:ext cx="1508760" cy="365760"/>
          </a:xfrm>
          <a:prstGeom prst="rect">
            <a:avLst/>
          </a:prstGeom>
          <a:noFill/>
          <a:ln/>
        </p:spPr>
        <p:txBody>
          <a:bodyPr wrap="square" lIns="0" tIns="0" rIns="0" bIns="0" rtlCol="0" anchor="ctr"/>
          <a:lstStyle/>
          <a:p>
            <a:pPr indent="0" marL="0">
              <a:buNone/>
            </a:pPr>
            <a:r>
              <a:rPr lang="en-US" sz="1400" b="1" dirty="0">
                <a:solidFill>
                  <a:schemeClr val="tx1"/>
                </a:solidFill>
              </a:rPr>
              <a:t>Dados de entrada</a:t>
            </a:r>
            <a:endParaRPr lang="en-US" sz="1400" dirty="0"/>
          </a:p>
        </p:txBody>
      </p:sp>
      <p:sp>
        <p:nvSpPr>
          <p:cNvPr id="13" name="Text 11"/>
          <p:cNvSpPr txBox="1"/>
          <p:nvPr/>
        </p:nvSpPr>
        <p:spPr>
          <a:xfrm>
            <a:off x="2103120" y="1947672"/>
            <a:ext cx="1828800" cy="685800"/>
          </a:xfrm>
          <a:prstGeom prst="rect">
            <a:avLst/>
          </a:prstGeom>
          <a:noFill/>
          <a:ln/>
        </p:spPr>
        <p:txBody>
          <a:bodyPr wrap="square" lIns="0" tIns="0" rIns="0" bIns="0" rtlCol="0" anchor="t"/>
          <a:lstStyle/>
          <a:p>
            <a:pPr indent="0" marL="0">
              <a:buNone/>
            </a:pPr>
            <a:r>
              <a:rPr lang="en-US" sz="1200" dirty="0">
                <a:solidFill>
                  <a:schemeClr val="tx2"/>
                </a:solidFill>
              </a:rPr>
              <a:t>Demanda, geração horária por fonte, MMGD de referência</a:t>
            </a:r>
            <a:endParaRPr lang="en-US" sz="1200" dirty="0"/>
          </a:p>
        </p:txBody>
      </p:sp>
      <p:sp>
        <p:nvSpPr>
          <p:cNvPr id="14" name="Arrow"/>
          <p:cNvSpPr/>
          <p:nvPr/>
        </p:nvSpPr>
        <p:spPr>
          <a:xfrm>
            <a:off x="4105656" y="2057400"/>
            <a:ext cx="310896" cy="0"/>
          </a:xfrm>
          <a:prstGeom prst="line">
            <a:avLst/>
          </a:prstGeom>
          <a:noFill/>
          <a:ln w="25400">
            <a:solidFill>
              <a:srgbClr val="5B6B80"/>
            </a:solidFill>
            <a:prstDash val="solid"/>
            <a:tailEnd type="triangle"/>
          </a:ln>
        </p:spPr>
      </p:sp>
      <p:sp>
        <p:nvSpPr>
          <p:cNvPr id="15" name="Step 2"/>
          <p:cNvSpPr/>
          <p:nvPr/>
        </p:nvSpPr>
        <p:spPr>
          <a:xfrm>
            <a:off x="4453128" y="1417320"/>
            <a:ext cx="2103120" cy="1280160"/>
          </a:xfrm>
          <a:prstGeom prst="roundRect">
            <a:avLst>
              <a:gd name="adj" fmla="val 7143"/>
            </a:avLst>
          </a:prstGeom>
          <a:solidFill>
            <a:schemeClr val="bg1"/>
          </a:solidFill>
          <a:ln w="25400">
            <a:solidFill>
              <a:schemeClr val="tx2"/>
            </a:solidFill>
            <a:prstDash val="solid"/>
          </a:ln>
        </p:spPr>
      </p:sp>
      <p:sp>
        <p:nvSpPr>
          <p:cNvPr id="16" name="Step number 2"/>
          <p:cNvSpPr/>
          <p:nvPr/>
        </p:nvSpPr>
        <p:spPr>
          <a:xfrm>
            <a:off x="4562856" y="1527048"/>
            <a:ext cx="310896" cy="310896"/>
          </a:xfrm>
          <a:prstGeom prst="ellipse">
            <a:avLst/>
          </a:prstGeom>
          <a:solidFill>
            <a:schemeClr val="tx2"/>
          </a:solidFill>
          <a:ln w="12700">
            <a:solidFill>
              <a:schemeClr val="tx2"/>
            </a:solidFill>
            <a:prstDash val="solid"/>
          </a:ln>
        </p:spPr>
      </p:sp>
      <p:sp>
        <p:nvSpPr>
          <p:cNvPr id="17" name="Text 15"/>
          <p:cNvSpPr txBox="1"/>
          <p:nvPr/>
        </p:nvSpPr>
        <p:spPr>
          <a:xfrm>
            <a:off x="4562856" y="152704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Text 16"/>
          <p:cNvSpPr txBox="1"/>
          <p:nvPr/>
        </p:nvSpPr>
        <p:spPr>
          <a:xfrm>
            <a:off x="4956048" y="1508760"/>
            <a:ext cx="1508760" cy="365760"/>
          </a:xfrm>
          <a:prstGeom prst="rect">
            <a:avLst/>
          </a:prstGeom>
          <a:noFill/>
          <a:ln/>
        </p:spPr>
        <p:txBody>
          <a:bodyPr wrap="square" lIns="0" tIns="0" rIns="0" bIns="0" rtlCol="0" anchor="ctr"/>
          <a:lstStyle/>
          <a:p>
            <a:pPr indent="0" marL="0">
              <a:buNone/>
            </a:pPr>
            <a:r>
              <a:rPr lang="en-US" sz="1400" b="1" dirty="0">
                <a:solidFill>
                  <a:schemeClr val="tx1"/>
                </a:solidFill>
              </a:rPr>
              <a:t>Cenário de referência</a:t>
            </a:r>
            <a:endParaRPr lang="en-US" sz="1400" dirty="0"/>
          </a:p>
        </p:txBody>
      </p:sp>
      <p:sp>
        <p:nvSpPr>
          <p:cNvPr id="19" name="Text 17"/>
          <p:cNvSpPr txBox="1"/>
          <p:nvPr/>
        </p:nvSpPr>
        <p:spPr>
          <a:xfrm>
            <a:off x="4590288" y="1947672"/>
            <a:ext cx="1828800" cy="685800"/>
          </a:xfrm>
          <a:prstGeom prst="rect">
            <a:avLst/>
          </a:prstGeom>
          <a:noFill/>
          <a:ln/>
        </p:spPr>
        <p:txBody>
          <a:bodyPr wrap="square" lIns="0" tIns="0" rIns="0" bIns="0" rtlCol="0" anchor="t"/>
          <a:lstStyle/>
          <a:p>
            <a:pPr indent="0" marL="0">
              <a:buNone/>
            </a:pPr>
            <a:r>
              <a:rPr lang="en-US" sz="1200" dirty="0">
                <a:solidFill>
                  <a:schemeClr val="tx2"/>
                </a:solidFill>
              </a:rPr>
              <a:t>SIN sem baterias, com MMGD de referência</a:t>
            </a:r>
            <a:endParaRPr lang="en-US" sz="1200" dirty="0"/>
          </a:p>
        </p:txBody>
      </p:sp>
      <p:sp>
        <p:nvSpPr>
          <p:cNvPr id="20" name="Arrow"/>
          <p:cNvSpPr/>
          <p:nvPr/>
        </p:nvSpPr>
        <p:spPr>
          <a:xfrm>
            <a:off x="6592824" y="2057400"/>
            <a:ext cx="310896" cy="0"/>
          </a:xfrm>
          <a:prstGeom prst="line">
            <a:avLst/>
          </a:prstGeom>
          <a:noFill/>
          <a:ln w="25400">
            <a:solidFill>
              <a:srgbClr val="5B6B80"/>
            </a:solidFill>
            <a:prstDash val="solid"/>
            <a:tailEnd type="triangle"/>
          </a:ln>
        </p:spPr>
      </p:sp>
      <p:sp>
        <p:nvSpPr>
          <p:cNvPr id="21" name="Step 3"/>
          <p:cNvSpPr/>
          <p:nvPr/>
        </p:nvSpPr>
        <p:spPr>
          <a:xfrm>
            <a:off x="6940296" y="1417320"/>
            <a:ext cx="2103120" cy="1280160"/>
          </a:xfrm>
          <a:prstGeom prst="roundRect">
            <a:avLst>
              <a:gd name="adj" fmla="val 7143"/>
            </a:avLst>
          </a:prstGeom>
          <a:solidFill>
            <a:schemeClr val="bg1"/>
          </a:solidFill>
          <a:ln w="25400">
            <a:solidFill>
              <a:schemeClr val="tx2"/>
            </a:solidFill>
            <a:prstDash val="solid"/>
          </a:ln>
        </p:spPr>
      </p:sp>
      <p:sp>
        <p:nvSpPr>
          <p:cNvPr id="22" name="Step number 3"/>
          <p:cNvSpPr/>
          <p:nvPr/>
        </p:nvSpPr>
        <p:spPr>
          <a:xfrm>
            <a:off x="7050024" y="1527048"/>
            <a:ext cx="310896" cy="310896"/>
          </a:xfrm>
          <a:prstGeom prst="ellipse">
            <a:avLst/>
          </a:prstGeom>
          <a:solidFill>
            <a:schemeClr val="tx2"/>
          </a:solidFill>
          <a:ln w="12700">
            <a:solidFill>
              <a:schemeClr val="tx2"/>
            </a:solidFill>
            <a:prstDash val="solid"/>
          </a:ln>
        </p:spPr>
      </p:sp>
      <p:sp>
        <p:nvSpPr>
          <p:cNvPr id="23" name="Text 21"/>
          <p:cNvSpPr txBox="1"/>
          <p:nvPr/>
        </p:nvSpPr>
        <p:spPr>
          <a:xfrm>
            <a:off x="7050024" y="152704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4" name="Text 22"/>
          <p:cNvSpPr txBox="1"/>
          <p:nvPr/>
        </p:nvSpPr>
        <p:spPr>
          <a:xfrm>
            <a:off x="7443216" y="1508760"/>
            <a:ext cx="1508760" cy="365760"/>
          </a:xfrm>
          <a:prstGeom prst="rect">
            <a:avLst/>
          </a:prstGeom>
          <a:noFill/>
          <a:ln/>
        </p:spPr>
        <p:txBody>
          <a:bodyPr wrap="square" lIns="0" tIns="0" rIns="0" bIns="0" rtlCol="0" anchor="ctr"/>
          <a:lstStyle/>
          <a:p>
            <a:pPr indent="0" marL="0">
              <a:buNone/>
            </a:pPr>
            <a:r>
              <a:rPr lang="en-US" sz="1400" b="1" dirty="0">
                <a:solidFill>
                  <a:schemeClr val="tx1"/>
                </a:solidFill>
              </a:rPr>
              <a:t>Simulação horária</a:t>
            </a:r>
            <a:endParaRPr lang="en-US" sz="1400" dirty="0"/>
          </a:p>
        </p:txBody>
      </p:sp>
      <p:sp>
        <p:nvSpPr>
          <p:cNvPr id="25" name="Text 23"/>
          <p:cNvSpPr txBox="1"/>
          <p:nvPr/>
        </p:nvSpPr>
        <p:spPr>
          <a:xfrm>
            <a:off x="7077456" y="1947672"/>
            <a:ext cx="1828800" cy="685800"/>
          </a:xfrm>
          <a:prstGeom prst="rect">
            <a:avLst/>
          </a:prstGeom>
          <a:noFill/>
          <a:ln/>
        </p:spPr>
        <p:txBody>
          <a:bodyPr wrap="square" lIns="0" tIns="0" rIns="0" bIns="0" rtlCol="0" anchor="t"/>
          <a:lstStyle/>
          <a:p>
            <a:pPr indent="0" marL="0">
              <a:buNone/>
            </a:pPr>
            <a:r>
              <a:rPr lang="en-US" sz="1200" dirty="0">
                <a:solidFill>
                  <a:schemeClr val="tx2"/>
                </a:solidFill>
              </a:rPr>
              <a:t>Despacho hidrotérmico sem baterias</a:t>
            </a:r>
            <a:endParaRPr lang="en-US" sz="1200" dirty="0"/>
          </a:p>
        </p:txBody>
      </p:sp>
      <p:sp>
        <p:nvSpPr>
          <p:cNvPr id="26" name="Arrow"/>
          <p:cNvSpPr/>
          <p:nvPr/>
        </p:nvSpPr>
        <p:spPr>
          <a:xfrm>
            <a:off x="9079992" y="2057400"/>
            <a:ext cx="310896" cy="0"/>
          </a:xfrm>
          <a:prstGeom prst="line">
            <a:avLst/>
          </a:prstGeom>
          <a:noFill/>
          <a:ln w="25400">
            <a:solidFill>
              <a:srgbClr val="5B6B80"/>
            </a:solidFill>
            <a:prstDash val="solid"/>
            <a:tailEnd type="triangle"/>
          </a:ln>
        </p:spPr>
      </p:sp>
      <p:sp>
        <p:nvSpPr>
          <p:cNvPr id="27" name="Step 4"/>
          <p:cNvSpPr/>
          <p:nvPr/>
        </p:nvSpPr>
        <p:spPr>
          <a:xfrm>
            <a:off x="9427464" y="1417320"/>
            <a:ext cx="2103120" cy="1280160"/>
          </a:xfrm>
          <a:prstGeom prst="roundRect">
            <a:avLst>
              <a:gd name="adj" fmla="val 7143"/>
            </a:avLst>
          </a:prstGeom>
          <a:solidFill>
            <a:schemeClr val="bg2"/>
          </a:solidFill>
          <a:ln w="25400">
            <a:solidFill>
              <a:schemeClr val="tx2"/>
            </a:solidFill>
            <a:prstDash val="solid"/>
          </a:ln>
        </p:spPr>
      </p:sp>
      <p:sp>
        <p:nvSpPr>
          <p:cNvPr id="28" name="Step number 4"/>
          <p:cNvSpPr/>
          <p:nvPr/>
        </p:nvSpPr>
        <p:spPr>
          <a:xfrm>
            <a:off x="9537192" y="1527048"/>
            <a:ext cx="310896" cy="310896"/>
          </a:xfrm>
          <a:prstGeom prst="ellipse">
            <a:avLst/>
          </a:prstGeom>
          <a:solidFill>
            <a:schemeClr val="tx2"/>
          </a:solidFill>
          <a:ln w="12700">
            <a:solidFill>
              <a:schemeClr val="tx2"/>
            </a:solidFill>
            <a:prstDash val="solid"/>
          </a:ln>
        </p:spPr>
      </p:sp>
      <p:sp>
        <p:nvSpPr>
          <p:cNvPr id="29" name="Text 27"/>
          <p:cNvSpPr txBox="1"/>
          <p:nvPr/>
        </p:nvSpPr>
        <p:spPr>
          <a:xfrm>
            <a:off x="9537192" y="152704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30" name="Text 28"/>
          <p:cNvSpPr txBox="1"/>
          <p:nvPr/>
        </p:nvSpPr>
        <p:spPr>
          <a:xfrm>
            <a:off x="9930384" y="1508760"/>
            <a:ext cx="1508760" cy="365760"/>
          </a:xfrm>
          <a:prstGeom prst="rect">
            <a:avLst/>
          </a:prstGeom>
          <a:noFill/>
          <a:ln/>
        </p:spPr>
        <p:txBody>
          <a:bodyPr wrap="square" lIns="0" tIns="0" rIns="0" bIns="0" rtlCol="0" anchor="ctr"/>
          <a:lstStyle/>
          <a:p>
            <a:pPr indent="0" marL="0">
              <a:buNone/>
            </a:pPr>
            <a:r>
              <a:rPr lang="en-US" sz="1400" b="1" dirty="0">
                <a:solidFill>
                  <a:schemeClr val="tx1"/>
                </a:solidFill>
              </a:rPr>
              <a:t>Resultados sem BESS</a:t>
            </a:r>
            <a:endParaRPr lang="en-US" sz="1400" dirty="0"/>
          </a:p>
        </p:txBody>
      </p:sp>
      <p:sp>
        <p:nvSpPr>
          <p:cNvPr id="31" name="Text 29"/>
          <p:cNvSpPr txBox="1"/>
          <p:nvPr/>
        </p:nvSpPr>
        <p:spPr>
          <a:xfrm>
            <a:off x="9564624" y="1947672"/>
            <a:ext cx="1828800" cy="685800"/>
          </a:xfrm>
          <a:prstGeom prst="rect">
            <a:avLst/>
          </a:prstGeom>
          <a:noFill/>
          <a:ln/>
        </p:spPr>
        <p:txBody>
          <a:bodyPr wrap="square" lIns="0" tIns="0" rIns="0" bIns="0" rtlCol="0" anchor="t"/>
          <a:lstStyle/>
          <a:p>
            <a:pPr indent="0" marL="0">
              <a:buNone/>
            </a:pPr>
            <a:r>
              <a:rPr lang="en-US" sz="1200" dirty="0">
                <a:solidFill>
                  <a:schemeClr val="tx2"/>
                </a:solidFill>
              </a:rPr>
              <a:t>Geração, curtailment e armazenamento por fonte</a:t>
            </a:r>
            <a:endParaRPr lang="en-US" sz="1200" dirty="0"/>
          </a:p>
        </p:txBody>
      </p:sp>
      <p:sp>
        <p:nvSpPr>
          <p:cNvPr id="32" name="Step 5"/>
          <p:cNvSpPr/>
          <p:nvPr/>
        </p:nvSpPr>
        <p:spPr>
          <a:xfrm>
            <a:off x="9427464" y="3044952"/>
            <a:ext cx="2103120" cy="1280160"/>
          </a:xfrm>
          <a:prstGeom prst="roundRect">
            <a:avLst>
              <a:gd name="adj" fmla="val 7143"/>
            </a:avLst>
          </a:prstGeom>
          <a:solidFill>
            <a:schemeClr val="bg1"/>
          </a:solidFill>
          <a:ln w="25400">
            <a:solidFill>
              <a:schemeClr val="accent2"/>
            </a:solidFill>
            <a:prstDash val="solid"/>
          </a:ln>
        </p:spPr>
      </p:sp>
      <p:sp>
        <p:nvSpPr>
          <p:cNvPr id="33" name="Step number 5"/>
          <p:cNvSpPr/>
          <p:nvPr/>
        </p:nvSpPr>
        <p:spPr>
          <a:xfrm>
            <a:off x="9537192" y="3154680"/>
            <a:ext cx="310896" cy="310896"/>
          </a:xfrm>
          <a:prstGeom prst="ellipse">
            <a:avLst/>
          </a:prstGeom>
          <a:solidFill>
            <a:schemeClr val="accent2"/>
          </a:solidFill>
          <a:ln w="12700">
            <a:solidFill>
              <a:schemeClr val="accent2"/>
            </a:solidFill>
            <a:prstDash val="solid"/>
          </a:ln>
        </p:spPr>
      </p:sp>
      <p:sp>
        <p:nvSpPr>
          <p:cNvPr id="34" name="Text 32"/>
          <p:cNvSpPr txBox="1"/>
          <p:nvPr/>
        </p:nvSpPr>
        <p:spPr>
          <a:xfrm>
            <a:off x="9537192" y="3154680"/>
            <a:ext cx="310896" cy="310896"/>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35" name="Text 33"/>
          <p:cNvSpPr txBox="1"/>
          <p:nvPr/>
        </p:nvSpPr>
        <p:spPr>
          <a:xfrm>
            <a:off x="9930384" y="3136392"/>
            <a:ext cx="1508760" cy="365760"/>
          </a:xfrm>
          <a:prstGeom prst="rect">
            <a:avLst/>
          </a:prstGeom>
          <a:noFill/>
          <a:ln/>
        </p:spPr>
        <p:txBody>
          <a:bodyPr wrap="square" lIns="0" tIns="0" rIns="0" bIns="0" rtlCol="0" anchor="ctr"/>
          <a:lstStyle/>
          <a:p>
            <a:pPr indent="0" marL="0">
              <a:buNone/>
            </a:pPr>
            <a:r>
              <a:rPr lang="en-US" sz="1400" b="1" dirty="0">
                <a:solidFill>
                  <a:schemeClr val="tx1"/>
                </a:solidFill>
              </a:rPr>
              <a:t>Cenários de MMGD</a:t>
            </a:r>
            <a:endParaRPr lang="en-US" sz="1400" dirty="0"/>
          </a:p>
        </p:txBody>
      </p:sp>
      <p:sp>
        <p:nvSpPr>
          <p:cNvPr id="36" name="Text 34"/>
          <p:cNvSpPr txBox="1"/>
          <p:nvPr/>
        </p:nvSpPr>
        <p:spPr>
          <a:xfrm>
            <a:off x="9564624" y="3575304"/>
            <a:ext cx="1828800" cy="685800"/>
          </a:xfrm>
          <a:prstGeom prst="rect">
            <a:avLst/>
          </a:prstGeom>
          <a:noFill/>
          <a:ln/>
        </p:spPr>
        <p:txBody>
          <a:bodyPr wrap="square" lIns="0" tIns="0" rIns="0" bIns="0" rtlCol="0" anchor="t"/>
          <a:lstStyle/>
          <a:p>
            <a:pPr indent="0" marL="0">
              <a:buNone/>
            </a:pPr>
            <a:r>
              <a:rPr lang="en-US" sz="1200" dirty="0">
                <a:solidFill>
                  <a:schemeClr val="tx2"/>
                </a:solidFill>
              </a:rPr>
              <a:t>Aumento da MMGD sobre a referência</a:t>
            </a:r>
            <a:endParaRPr lang="en-US" sz="1200" dirty="0"/>
          </a:p>
        </p:txBody>
      </p:sp>
      <p:sp>
        <p:nvSpPr>
          <p:cNvPr id="37" name="Arrow"/>
          <p:cNvSpPr/>
          <p:nvPr/>
        </p:nvSpPr>
        <p:spPr>
          <a:xfrm flipH="1">
            <a:off x="9079992" y="3685032"/>
            <a:ext cx="310896" cy="0"/>
          </a:xfrm>
          <a:prstGeom prst="line">
            <a:avLst/>
          </a:prstGeom>
          <a:noFill/>
          <a:ln w="25400">
            <a:solidFill>
              <a:srgbClr val="5B6B80"/>
            </a:solidFill>
            <a:prstDash val="solid"/>
            <a:tailEnd type="triangle"/>
          </a:ln>
        </p:spPr>
      </p:sp>
      <p:sp>
        <p:nvSpPr>
          <p:cNvPr id="38" name="Step 6"/>
          <p:cNvSpPr/>
          <p:nvPr/>
        </p:nvSpPr>
        <p:spPr>
          <a:xfrm>
            <a:off x="6940296" y="3044952"/>
            <a:ext cx="2103120" cy="1280160"/>
          </a:xfrm>
          <a:prstGeom prst="roundRect">
            <a:avLst>
              <a:gd name="adj" fmla="val 7143"/>
            </a:avLst>
          </a:prstGeom>
          <a:solidFill>
            <a:schemeClr val="bg1"/>
          </a:solidFill>
          <a:ln w="25400">
            <a:solidFill>
              <a:schemeClr val="accent2"/>
            </a:solidFill>
            <a:prstDash val="solid"/>
          </a:ln>
        </p:spPr>
      </p:sp>
      <p:sp>
        <p:nvSpPr>
          <p:cNvPr id="39" name="Step number 6"/>
          <p:cNvSpPr/>
          <p:nvPr/>
        </p:nvSpPr>
        <p:spPr>
          <a:xfrm>
            <a:off x="7050024" y="3154680"/>
            <a:ext cx="310896" cy="310896"/>
          </a:xfrm>
          <a:prstGeom prst="ellipse">
            <a:avLst/>
          </a:prstGeom>
          <a:solidFill>
            <a:schemeClr val="accent2"/>
          </a:solidFill>
          <a:ln w="12700">
            <a:solidFill>
              <a:schemeClr val="accent2"/>
            </a:solidFill>
            <a:prstDash val="solid"/>
          </a:ln>
        </p:spPr>
      </p:sp>
      <p:sp>
        <p:nvSpPr>
          <p:cNvPr id="40" name="Text 38"/>
          <p:cNvSpPr txBox="1"/>
          <p:nvPr/>
        </p:nvSpPr>
        <p:spPr>
          <a:xfrm>
            <a:off x="7050024" y="3154680"/>
            <a:ext cx="310896" cy="310896"/>
          </a:xfrm>
          <a:prstGeom prst="rect">
            <a:avLst/>
          </a:prstGeom>
          <a:noFill/>
          <a:ln/>
        </p:spPr>
        <p:txBody>
          <a:bodyPr wrap="square" lIns="0" tIns="0" rIns="0" bIns="0" rtlCol="0" anchor="ctr"/>
          <a:lstStyle/>
          <a:p>
            <a:pPr algn="ctr" indent="0" marL="0">
              <a:buNone/>
            </a:pPr>
            <a:r>
              <a:rPr lang="en-US" sz="1100" b="1" dirty="0">
                <a:solidFill>
                  <a:schemeClr val="tx1"/>
                </a:solidFill>
              </a:rPr>
              <a:t>6</a:t>
            </a:r>
            <a:endParaRPr lang="en-US" sz="1100" dirty="0"/>
          </a:p>
        </p:txBody>
      </p:sp>
      <p:sp>
        <p:nvSpPr>
          <p:cNvPr id="41" name="Text 39"/>
          <p:cNvSpPr txBox="1"/>
          <p:nvPr/>
        </p:nvSpPr>
        <p:spPr>
          <a:xfrm>
            <a:off x="7443216" y="3136392"/>
            <a:ext cx="1508760" cy="365760"/>
          </a:xfrm>
          <a:prstGeom prst="rect">
            <a:avLst/>
          </a:prstGeom>
          <a:noFill/>
          <a:ln/>
        </p:spPr>
        <p:txBody>
          <a:bodyPr wrap="square" lIns="0" tIns="0" rIns="0" bIns="0" rtlCol="0" anchor="ctr"/>
          <a:lstStyle/>
          <a:p>
            <a:pPr indent="0" marL="0">
              <a:buNone/>
            </a:pPr>
            <a:r>
              <a:rPr lang="en-US" sz="1400" b="1" dirty="0">
                <a:solidFill>
                  <a:schemeClr val="tx1"/>
                </a:solidFill>
              </a:rPr>
              <a:t>Inserção das baterias</a:t>
            </a:r>
            <a:endParaRPr lang="en-US" sz="1400" dirty="0"/>
          </a:p>
        </p:txBody>
      </p:sp>
      <p:sp>
        <p:nvSpPr>
          <p:cNvPr id="42" name="Text 40"/>
          <p:cNvSpPr txBox="1"/>
          <p:nvPr/>
        </p:nvSpPr>
        <p:spPr>
          <a:xfrm>
            <a:off x="7077456" y="3575304"/>
            <a:ext cx="1828800" cy="685800"/>
          </a:xfrm>
          <a:prstGeom prst="rect">
            <a:avLst/>
          </a:prstGeom>
          <a:noFill/>
          <a:ln/>
        </p:spPr>
        <p:txBody>
          <a:bodyPr wrap="square" lIns="0" tIns="0" rIns="0" bIns="0" rtlCol="0" anchor="t"/>
          <a:lstStyle/>
          <a:p>
            <a:pPr indent="0" marL="0">
              <a:buNone/>
            </a:pPr>
            <a:r>
              <a:rPr lang="en-US" sz="1200" dirty="0">
                <a:solidFill>
                  <a:schemeClr val="tx2"/>
                </a:solidFill>
              </a:rPr>
              <a:t>BESS no Nordeste e no Sudeste, 4 h</a:t>
            </a:r>
            <a:endParaRPr lang="en-US" sz="1200" dirty="0"/>
          </a:p>
        </p:txBody>
      </p:sp>
      <p:sp>
        <p:nvSpPr>
          <p:cNvPr id="43" name="Arrow"/>
          <p:cNvSpPr/>
          <p:nvPr/>
        </p:nvSpPr>
        <p:spPr>
          <a:xfrm flipH="1">
            <a:off x="6592824" y="3685032"/>
            <a:ext cx="310896" cy="0"/>
          </a:xfrm>
          <a:prstGeom prst="line">
            <a:avLst/>
          </a:prstGeom>
          <a:noFill/>
          <a:ln w="25400">
            <a:solidFill>
              <a:srgbClr val="5B6B80"/>
            </a:solidFill>
            <a:prstDash val="solid"/>
            <a:tailEnd type="triangle"/>
          </a:ln>
        </p:spPr>
      </p:sp>
      <p:sp>
        <p:nvSpPr>
          <p:cNvPr id="44" name="Step 7"/>
          <p:cNvSpPr/>
          <p:nvPr/>
        </p:nvSpPr>
        <p:spPr>
          <a:xfrm>
            <a:off x="4453128" y="3044952"/>
            <a:ext cx="2103120" cy="1280160"/>
          </a:xfrm>
          <a:prstGeom prst="roundRect">
            <a:avLst>
              <a:gd name="adj" fmla="val 7143"/>
            </a:avLst>
          </a:prstGeom>
          <a:solidFill>
            <a:schemeClr val="bg1"/>
          </a:solidFill>
          <a:ln w="25400">
            <a:solidFill>
              <a:schemeClr val="accent2"/>
            </a:solidFill>
            <a:prstDash val="solid"/>
          </a:ln>
        </p:spPr>
      </p:sp>
      <p:sp>
        <p:nvSpPr>
          <p:cNvPr id="45" name="Step number 7"/>
          <p:cNvSpPr/>
          <p:nvPr/>
        </p:nvSpPr>
        <p:spPr>
          <a:xfrm>
            <a:off x="4562856" y="3154680"/>
            <a:ext cx="310896" cy="310896"/>
          </a:xfrm>
          <a:prstGeom prst="ellipse">
            <a:avLst/>
          </a:prstGeom>
          <a:solidFill>
            <a:schemeClr val="accent2"/>
          </a:solidFill>
          <a:ln w="12700">
            <a:solidFill>
              <a:schemeClr val="accent2"/>
            </a:solidFill>
            <a:prstDash val="solid"/>
          </a:ln>
        </p:spPr>
      </p:sp>
      <p:sp>
        <p:nvSpPr>
          <p:cNvPr id="46" name="Text 44"/>
          <p:cNvSpPr txBox="1"/>
          <p:nvPr/>
        </p:nvSpPr>
        <p:spPr>
          <a:xfrm>
            <a:off x="4562856" y="3154680"/>
            <a:ext cx="310896" cy="310896"/>
          </a:xfrm>
          <a:prstGeom prst="rect">
            <a:avLst/>
          </a:prstGeom>
          <a:noFill/>
          <a:ln/>
        </p:spPr>
        <p:txBody>
          <a:bodyPr wrap="square" lIns="0" tIns="0" rIns="0" bIns="0" rtlCol="0" anchor="ctr"/>
          <a:lstStyle/>
          <a:p>
            <a:pPr algn="ctr" indent="0" marL="0">
              <a:buNone/>
            </a:pPr>
            <a:r>
              <a:rPr lang="en-US" sz="1100" b="1" dirty="0">
                <a:solidFill>
                  <a:schemeClr val="tx1"/>
                </a:solidFill>
              </a:rPr>
              <a:t>7</a:t>
            </a:r>
            <a:endParaRPr lang="en-US" sz="1100" dirty="0"/>
          </a:p>
        </p:txBody>
      </p:sp>
      <p:sp>
        <p:nvSpPr>
          <p:cNvPr id="47" name="Text 45"/>
          <p:cNvSpPr txBox="1"/>
          <p:nvPr/>
        </p:nvSpPr>
        <p:spPr>
          <a:xfrm>
            <a:off x="4956048" y="3136392"/>
            <a:ext cx="1508760" cy="365760"/>
          </a:xfrm>
          <a:prstGeom prst="rect">
            <a:avLst/>
          </a:prstGeom>
          <a:noFill/>
          <a:ln/>
        </p:spPr>
        <p:txBody>
          <a:bodyPr wrap="square" lIns="0" tIns="0" rIns="0" bIns="0" rtlCol="0" anchor="ctr"/>
          <a:lstStyle/>
          <a:p>
            <a:pPr indent="0" marL="0">
              <a:buNone/>
            </a:pPr>
            <a:r>
              <a:rPr lang="en-US" sz="1400" b="1" dirty="0">
                <a:solidFill>
                  <a:schemeClr val="tx1"/>
                </a:solidFill>
              </a:rPr>
              <a:t>Simulação horária</a:t>
            </a:r>
            <a:endParaRPr lang="en-US" sz="1400" dirty="0"/>
          </a:p>
        </p:txBody>
      </p:sp>
      <p:sp>
        <p:nvSpPr>
          <p:cNvPr id="48" name="Text 46"/>
          <p:cNvSpPr txBox="1"/>
          <p:nvPr/>
        </p:nvSpPr>
        <p:spPr>
          <a:xfrm>
            <a:off x="4590288" y="3575304"/>
            <a:ext cx="1828800" cy="685800"/>
          </a:xfrm>
          <a:prstGeom prst="rect">
            <a:avLst/>
          </a:prstGeom>
          <a:noFill/>
          <a:ln/>
        </p:spPr>
        <p:txBody>
          <a:bodyPr wrap="square" lIns="0" tIns="0" rIns="0" bIns="0" rtlCol="0" anchor="t"/>
          <a:lstStyle/>
          <a:p>
            <a:pPr indent="0" marL="0">
              <a:buNone/>
            </a:pPr>
            <a:r>
              <a:rPr lang="en-US" sz="1200" dirty="0">
                <a:solidFill>
                  <a:schemeClr val="tx2"/>
                </a:solidFill>
              </a:rPr>
              <a:t>Com carga e descarga das baterias</a:t>
            </a:r>
            <a:endParaRPr lang="en-US" sz="1200" dirty="0"/>
          </a:p>
        </p:txBody>
      </p:sp>
      <p:sp>
        <p:nvSpPr>
          <p:cNvPr id="49" name="Arrow"/>
          <p:cNvSpPr/>
          <p:nvPr/>
        </p:nvSpPr>
        <p:spPr>
          <a:xfrm flipH="1">
            <a:off x="4105656" y="3685032"/>
            <a:ext cx="310896" cy="0"/>
          </a:xfrm>
          <a:prstGeom prst="line">
            <a:avLst/>
          </a:prstGeom>
          <a:noFill/>
          <a:ln w="25400">
            <a:solidFill>
              <a:srgbClr val="5B6B80"/>
            </a:solidFill>
            <a:prstDash val="solid"/>
            <a:tailEnd type="triangle"/>
          </a:ln>
        </p:spPr>
      </p:sp>
      <p:sp>
        <p:nvSpPr>
          <p:cNvPr id="50" name="Step 8"/>
          <p:cNvSpPr/>
          <p:nvPr/>
        </p:nvSpPr>
        <p:spPr>
          <a:xfrm>
            <a:off x="1965960" y="3044952"/>
            <a:ext cx="2103120" cy="1280160"/>
          </a:xfrm>
          <a:prstGeom prst="roundRect">
            <a:avLst>
              <a:gd name="adj" fmla="val 7143"/>
            </a:avLst>
          </a:prstGeom>
          <a:solidFill>
            <a:schemeClr val="bg2"/>
          </a:solidFill>
          <a:ln w="25400">
            <a:solidFill>
              <a:schemeClr val="accent2"/>
            </a:solidFill>
            <a:prstDash val="solid"/>
          </a:ln>
        </p:spPr>
      </p:sp>
      <p:sp>
        <p:nvSpPr>
          <p:cNvPr id="51" name="Step number 8"/>
          <p:cNvSpPr/>
          <p:nvPr/>
        </p:nvSpPr>
        <p:spPr>
          <a:xfrm>
            <a:off x="2075688" y="3154680"/>
            <a:ext cx="310896" cy="310896"/>
          </a:xfrm>
          <a:prstGeom prst="ellipse">
            <a:avLst/>
          </a:prstGeom>
          <a:solidFill>
            <a:schemeClr val="accent2"/>
          </a:solidFill>
          <a:ln w="12700">
            <a:solidFill>
              <a:schemeClr val="accent2"/>
            </a:solidFill>
            <a:prstDash val="solid"/>
          </a:ln>
        </p:spPr>
      </p:sp>
      <p:sp>
        <p:nvSpPr>
          <p:cNvPr id="52" name="Text 50"/>
          <p:cNvSpPr txBox="1"/>
          <p:nvPr/>
        </p:nvSpPr>
        <p:spPr>
          <a:xfrm>
            <a:off x="2075688" y="3154680"/>
            <a:ext cx="310896" cy="310896"/>
          </a:xfrm>
          <a:prstGeom prst="rect">
            <a:avLst/>
          </a:prstGeom>
          <a:noFill/>
          <a:ln/>
        </p:spPr>
        <p:txBody>
          <a:bodyPr wrap="square" lIns="0" tIns="0" rIns="0" bIns="0" rtlCol="0" anchor="ctr"/>
          <a:lstStyle/>
          <a:p>
            <a:pPr algn="ctr" indent="0" marL="0">
              <a:buNone/>
            </a:pPr>
            <a:r>
              <a:rPr lang="en-US" sz="1100" b="1" dirty="0">
                <a:solidFill>
                  <a:schemeClr val="tx1"/>
                </a:solidFill>
              </a:rPr>
              <a:t>8</a:t>
            </a:r>
            <a:endParaRPr lang="en-US" sz="1100" dirty="0"/>
          </a:p>
        </p:txBody>
      </p:sp>
      <p:sp>
        <p:nvSpPr>
          <p:cNvPr id="53" name="Text 51"/>
          <p:cNvSpPr txBox="1"/>
          <p:nvPr/>
        </p:nvSpPr>
        <p:spPr>
          <a:xfrm>
            <a:off x="2468880" y="3136392"/>
            <a:ext cx="1508760" cy="365760"/>
          </a:xfrm>
          <a:prstGeom prst="rect">
            <a:avLst/>
          </a:prstGeom>
          <a:noFill/>
          <a:ln/>
        </p:spPr>
        <p:txBody>
          <a:bodyPr wrap="square" lIns="0" tIns="0" rIns="0" bIns="0" rtlCol="0" anchor="ctr"/>
          <a:lstStyle/>
          <a:p>
            <a:pPr indent="0" marL="0">
              <a:buNone/>
            </a:pPr>
            <a:r>
              <a:rPr lang="en-US" sz="1400" b="1" dirty="0">
                <a:solidFill>
                  <a:schemeClr val="tx1"/>
                </a:solidFill>
              </a:rPr>
              <a:t>Resultados com BESS</a:t>
            </a:r>
            <a:endParaRPr lang="en-US" sz="1400" dirty="0"/>
          </a:p>
        </p:txBody>
      </p:sp>
      <p:sp>
        <p:nvSpPr>
          <p:cNvPr id="54" name="Text 52"/>
          <p:cNvSpPr txBox="1"/>
          <p:nvPr/>
        </p:nvSpPr>
        <p:spPr>
          <a:xfrm>
            <a:off x="2103120" y="3575304"/>
            <a:ext cx="1828800" cy="685800"/>
          </a:xfrm>
          <a:prstGeom prst="rect">
            <a:avLst/>
          </a:prstGeom>
          <a:noFill/>
          <a:ln/>
        </p:spPr>
        <p:txBody>
          <a:bodyPr wrap="square" lIns="0" tIns="0" rIns="0" bIns="0" rtlCol="0" anchor="t"/>
          <a:lstStyle/>
          <a:p>
            <a:pPr indent="0" marL="0">
              <a:buNone/>
            </a:pPr>
            <a:r>
              <a:rPr lang="en-US" sz="1200" dirty="0">
                <a:solidFill>
                  <a:schemeClr val="tx2"/>
                </a:solidFill>
              </a:rPr>
              <a:t>Mesmas variáveis da etapa 1</a:t>
            </a:r>
            <a:endParaRPr lang="en-US" sz="1200" dirty="0"/>
          </a:p>
        </p:txBody>
      </p:sp>
      <p:sp>
        <p:nvSpPr>
          <p:cNvPr id="55" name="Step 9"/>
          <p:cNvSpPr/>
          <p:nvPr/>
        </p:nvSpPr>
        <p:spPr>
          <a:xfrm>
            <a:off x="1965960" y="4672584"/>
            <a:ext cx="2103120" cy="1280160"/>
          </a:xfrm>
          <a:prstGeom prst="roundRect">
            <a:avLst>
              <a:gd name="adj" fmla="val 7143"/>
            </a:avLst>
          </a:prstGeom>
          <a:solidFill>
            <a:schemeClr val="bg1"/>
          </a:solidFill>
          <a:ln w="25400">
            <a:solidFill>
              <a:schemeClr val="accent1"/>
            </a:solidFill>
            <a:prstDash val="solid"/>
          </a:ln>
        </p:spPr>
      </p:sp>
      <p:sp>
        <p:nvSpPr>
          <p:cNvPr id="56" name="Step number 9"/>
          <p:cNvSpPr/>
          <p:nvPr/>
        </p:nvSpPr>
        <p:spPr>
          <a:xfrm>
            <a:off x="2075688" y="4782312"/>
            <a:ext cx="310896" cy="310896"/>
          </a:xfrm>
          <a:prstGeom prst="ellipse">
            <a:avLst/>
          </a:prstGeom>
          <a:solidFill>
            <a:schemeClr val="accent1"/>
          </a:solidFill>
          <a:ln w="12700">
            <a:solidFill>
              <a:schemeClr val="accent1"/>
            </a:solidFill>
            <a:prstDash val="solid"/>
          </a:ln>
        </p:spPr>
      </p:sp>
      <p:sp>
        <p:nvSpPr>
          <p:cNvPr id="57" name="Text 55"/>
          <p:cNvSpPr txBox="1"/>
          <p:nvPr/>
        </p:nvSpPr>
        <p:spPr>
          <a:xfrm>
            <a:off x="2075688" y="4782312"/>
            <a:ext cx="310896" cy="310896"/>
          </a:xfrm>
          <a:prstGeom prst="rect">
            <a:avLst/>
          </a:prstGeom>
          <a:noFill/>
          <a:ln/>
        </p:spPr>
        <p:txBody>
          <a:bodyPr wrap="square" lIns="0" tIns="0" rIns="0" bIns="0" rtlCol="0" anchor="ctr"/>
          <a:lstStyle/>
          <a:p>
            <a:pPr algn="ctr" indent="0" marL="0">
              <a:buNone/>
            </a:pPr>
            <a:r>
              <a:rPr lang="en-US" sz="1100" b="1" dirty="0">
                <a:solidFill>
                  <a:schemeClr val="tx1"/>
                </a:solidFill>
              </a:rPr>
              <a:t>9</a:t>
            </a:r>
            <a:endParaRPr lang="en-US" sz="1100" dirty="0"/>
          </a:p>
        </p:txBody>
      </p:sp>
      <p:sp>
        <p:nvSpPr>
          <p:cNvPr id="58" name="Text 56"/>
          <p:cNvSpPr txBox="1"/>
          <p:nvPr/>
        </p:nvSpPr>
        <p:spPr>
          <a:xfrm>
            <a:off x="2468880" y="4764024"/>
            <a:ext cx="1508760" cy="365760"/>
          </a:xfrm>
          <a:prstGeom prst="rect">
            <a:avLst/>
          </a:prstGeom>
          <a:noFill/>
          <a:ln/>
        </p:spPr>
        <p:txBody>
          <a:bodyPr wrap="square" lIns="0" tIns="0" rIns="0" bIns="0" rtlCol="0" anchor="ctr"/>
          <a:lstStyle/>
          <a:p>
            <a:pPr indent="0" marL="0">
              <a:buNone/>
            </a:pPr>
            <a:r>
              <a:rPr lang="en-US" sz="1400" b="1" dirty="0">
                <a:solidFill>
                  <a:schemeClr val="tx1"/>
                </a:solidFill>
              </a:rPr>
              <a:t>Geração evitada de corte</a:t>
            </a:r>
            <a:endParaRPr lang="en-US" sz="1400" dirty="0"/>
          </a:p>
        </p:txBody>
      </p:sp>
      <p:sp>
        <p:nvSpPr>
          <p:cNvPr id="59" name="Text 57"/>
          <p:cNvSpPr txBox="1"/>
          <p:nvPr/>
        </p:nvSpPr>
        <p:spPr>
          <a:xfrm>
            <a:off x="2103120" y="5202936"/>
            <a:ext cx="1828800" cy="685800"/>
          </a:xfrm>
          <a:prstGeom prst="rect">
            <a:avLst/>
          </a:prstGeom>
          <a:noFill/>
          <a:ln/>
        </p:spPr>
        <p:txBody>
          <a:bodyPr wrap="square" lIns="0" tIns="0" rIns="0" bIns="0" rtlCol="0" anchor="t"/>
          <a:lstStyle/>
          <a:p>
            <a:pPr indent="0" marL="0">
              <a:buNone/>
            </a:pPr>
            <a:r>
              <a:rPr lang="en-US" sz="1200" dirty="0">
                <a:solidFill>
                  <a:schemeClr val="tx2"/>
                </a:solidFill>
              </a:rPr>
              <a:t>Δ geração de eólicas, UFVs e UHEs: com × sem BESS</a:t>
            </a:r>
            <a:endParaRPr lang="en-US" sz="1200" dirty="0"/>
          </a:p>
        </p:txBody>
      </p:sp>
      <p:sp>
        <p:nvSpPr>
          <p:cNvPr id="60" name="Arrow"/>
          <p:cNvSpPr/>
          <p:nvPr/>
        </p:nvSpPr>
        <p:spPr>
          <a:xfrm>
            <a:off x="4105656" y="5312664"/>
            <a:ext cx="310896" cy="0"/>
          </a:xfrm>
          <a:prstGeom prst="line">
            <a:avLst/>
          </a:prstGeom>
          <a:noFill/>
          <a:ln w="25400">
            <a:solidFill>
              <a:srgbClr val="5B6B80"/>
            </a:solidFill>
            <a:prstDash val="solid"/>
            <a:tailEnd type="triangle"/>
          </a:ln>
        </p:spPr>
      </p:sp>
      <p:sp>
        <p:nvSpPr>
          <p:cNvPr id="61" name="Step 10"/>
          <p:cNvSpPr/>
          <p:nvPr/>
        </p:nvSpPr>
        <p:spPr>
          <a:xfrm>
            <a:off x="4453128" y="4672584"/>
            <a:ext cx="2103120" cy="1280160"/>
          </a:xfrm>
          <a:prstGeom prst="roundRect">
            <a:avLst>
              <a:gd name="adj" fmla="val 7143"/>
            </a:avLst>
          </a:prstGeom>
          <a:solidFill>
            <a:schemeClr val="bg1"/>
          </a:solidFill>
          <a:ln w="25400">
            <a:solidFill>
              <a:schemeClr val="accent1"/>
            </a:solidFill>
            <a:prstDash val="solid"/>
          </a:ln>
        </p:spPr>
      </p:sp>
      <p:sp>
        <p:nvSpPr>
          <p:cNvPr id="62" name="Step number 10"/>
          <p:cNvSpPr/>
          <p:nvPr/>
        </p:nvSpPr>
        <p:spPr>
          <a:xfrm>
            <a:off x="4562856" y="4782312"/>
            <a:ext cx="310896" cy="310896"/>
          </a:xfrm>
          <a:prstGeom prst="ellipse">
            <a:avLst/>
          </a:prstGeom>
          <a:solidFill>
            <a:schemeClr val="accent1"/>
          </a:solidFill>
          <a:ln w="12700">
            <a:solidFill>
              <a:schemeClr val="accent1"/>
            </a:solidFill>
            <a:prstDash val="solid"/>
          </a:ln>
        </p:spPr>
      </p:sp>
      <p:sp>
        <p:nvSpPr>
          <p:cNvPr id="63" name="Text 61"/>
          <p:cNvSpPr txBox="1"/>
          <p:nvPr/>
        </p:nvSpPr>
        <p:spPr>
          <a:xfrm>
            <a:off x="4562856" y="4782312"/>
            <a:ext cx="310896" cy="310896"/>
          </a:xfrm>
          <a:prstGeom prst="rect">
            <a:avLst/>
          </a:prstGeom>
          <a:noFill/>
          <a:ln/>
        </p:spPr>
        <p:txBody>
          <a:bodyPr wrap="square" lIns="0" tIns="0" rIns="0" bIns="0" rtlCol="0" anchor="ctr"/>
          <a:lstStyle/>
          <a:p>
            <a:pPr algn="ctr" indent="0" marL="0">
              <a:buNone/>
            </a:pPr>
            <a:r>
              <a:rPr lang="en-US" sz="1100" b="1" dirty="0">
                <a:solidFill>
                  <a:schemeClr val="tx1"/>
                </a:solidFill>
              </a:rPr>
              <a:t>10</a:t>
            </a:r>
            <a:endParaRPr lang="en-US" sz="1100" dirty="0"/>
          </a:p>
        </p:txBody>
      </p:sp>
      <p:sp>
        <p:nvSpPr>
          <p:cNvPr id="64" name="Text 62"/>
          <p:cNvSpPr txBox="1"/>
          <p:nvPr/>
        </p:nvSpPr>
        <p:spPr>
          <a:xfrm>
            <a:off x="4956048" y="4764024"/>
            <a:ext cx="1508760" cy="365760"/>
          </a:xfrm>
          <a:prstGeom prst="rect">
            <a:avLst/>
          </a:prstGeom>
          <a:noFill/>
          <a:ln/>
        </p:spPr>
        <p:txBody>
          <a:bodyPr wrap="square" lIns="0" tIns="0" rIns="0" bIns="0" rtlCol="0" anchor="ctr"/>
          <a:lstStyle/>
          <a:p>
            <a:pPr indent="0" marL="0">
              <a:buNone/>
            </a:pPr>
            <a:r>
              <a:rPr lang="en-US" sz="1400" b="1" dirty="0">
                <a:solidFill>
                  <a:schemeClr val="tx1"/>
                </a:solidFill>
              </a:rPr>
              <a:t>Ganho por fonte</a:t>
            </a:r>
            <a:endParaRPr lang="en-US" sz="1400" dirty="0"/>
          </a:p>
        </p:txBody>
      </p:sp>
      <p:sp>
        <p:nvSpPr>
          <p:cNvPr id="65" name="Text 63"/>
          <p:cNvSpPr txBox="1"/>
          <p:nvPr/>
        </p:nvSpPr>
        <p:spPr>
          <a:xfrm>
            <a:off x="4590288" y="5202936"/>
            <a:ext cx="1828800" cy="685800"/>
          </a:xfrm>
          <a:prstGeom prst="rect">
            <a:avLst/>
          </a:prstGeom>
          <a:noFill/>
          <a:ln/>
        </p:spPr>
        <p:txBody>
          <a:bodyPr wrap="square" lIns="0" tIns="0" rIns="0" bIns="0" rtlCol="0" anchor="t"/>
          <a:lstStyle/>
          <a:p>
            <a:pPr indent="0" marL="0">
              <a:buNone/>
            </a:pPr>
            <a:r>
              <a:rPr lang="en-US" sz="1200" dirty="0">
                <a:solidFill>
                  <a:schemeClr val="tx2"/>
                </a:solidFill>
              </a:rPr>
              <a:t>Δ geração × preço de valoração (UHE: valor da água)</a:t>
            </a:r>
            <a:endParaRPr lang="en-US" sz="1200" dirty="0"/>
          </a:p>
        </p:txBody>
      </p:sp>
      <p:sp>
        <p:nvSpPr>
          <p:cNvPr id="66" name="Arrow"/>
          <p:cNvSpPr/>
          <p:nvPr/>
        </p:nvSpPr>
        <p:spPr>
          <a:xfrm>
            <a:off x="6592824" y="5312664"/>
            <a:ext cx="310896" cy="0"/>
          </a:xfrm>
          <a:prstGeom prst="line">
            <a:avLst/>
          </a:prstGeom>
          <a:noFill/>
          <a:ln w="25400">
            <a:solidFill>
              <a:srgbClr val="5B6B80"/>
            </a:solidFill>
            <a:prstDash val="solid"/>
            <a:tailEnd type="triangle"/>
          </a:ln>
        </p:spPr>
      </p:sp>
      <p:sp>
        <p:nvSpPr>
          <p:cNvPr id="67" name="Step 11"/>
          <p:cNvSpPr/>
          <p:nvPr/>
        </p:nvSpPr>
        <p:spPr>
          <a:xfrm>
            <a:off x="6940296" y="4672584"/>
            <a:ext cx="2103120" cy="1280160"/>
          </a:xfrm>
          <a:prstGeom prst="roundRect">
            <a:avLst>
              <a:gd name="adj" fmla="val 7143"/>
            </a:avLst>
          </a:prstGeom>
          <a:solidFill>
            <a:schemeClr val="bg1"/>
          </a:solidFill>
          <a:ln w="25400">
            <a:solidFill>
              <a:schemeClr val="accent1"/>
            </a:solidFill>
            <a:prstDash val="solid"/>
          </a:ln>
        </p:spPr>
      </p:sp>
      <p:sp>
        <p:nvSpPr>
          <p:cNvPr id="68" name="Step number 11"/>
          <p:cNvSpPr/>
          <p:nvPr/>
        </p:nvSpPr>
        <p:spPr>
          <a:xfrm>
            <a:off x="7050024" y="4782312"/>
            <a:ext cx="310896" cy="310896"/>
          </a:xfrm>
          <a:prstGeom prst="ellipse">
            <a:avLst/>
          </a:prstGeom>
          <a:solidFill>
            <a:schemeClr val="accent1"/>
          </a:solidFill>
          <a:ln w="12700">
            <a:solidFill>
              <a:schemeClr val="accent1"/>
            </a:solidFill>
            <a:prstDash val="solid"/>
          </a:ln>
        </p:spPr>
      </p:sp>
      <p:sp>
        <p:nvSpPr>
          <p:cNvPr id="69" name="Text 67"/>
          <p:cNvSpPr txBox="1"/>
          <p:nvPr/>
        </p:nvSpPr>
        <p:spPr>
          <a:xfrm>
            <a:off x="7050024" y="4782312"/>
            <a:ext cx="310896" cy="310896"/>
          </a:xfrm>
          <a:prstGeom prst="rect">
            <a:avLst/>
          </a:prstGeom>
          <a:noFill/>
          <a:ln/>
        </p:spPr>
        <p:txBody>
          <a:bodyPr wrap="square" lIns="0" tIns="0" rIns="0" bIns="0" rtlCol="0" anchor="ctr"/>
          <a:lstStyle/>
          <a:p>
            <a:pPr algn="ctr" indent="0" marL="0">
              <a:buNone/>
            </a:pPr>
            <a:r>
              <a:rPr lang="en-US" sz="1100" b="1" dirty="0">
                <a:solidFill>
                  <a:schemeClr val="tx1"/>
                </a:solidFill>
              </a:rPr>
              <a:t>11</a:t>
            </a:r>
            <a:endParaRPr lang="en-US" sz="1100" dirty="0"/>
          </a:p>
        </p:txBody>
      </p:sp>
      <p:sp>
        <p:nvSpPr>
          <p:cNvPr id="70" name="Text 68"/>
          <p:cNvSpPr txBox="1"/>
          <p:nvPr/>
        </p:nvSpPr>
        <p:spPr>
          <a:xfrm>
            <a:off x="7443216" y="4764024"/>
            <a:ext cx="1508760" cy="365760"/>
          </a:xfrm>
          <a:prstGeom prst="rect">
            <a:avLst/>
          </a:prstGeom>
          <a:noFill/>
          <a:ln/>
        </p:spPr>
        <p:txBody>
          <a:bodyPr wrap="square" lIns="0" tIns="0" rIns="0" bIns="0" rtlCol="0" anchor="ctr"/>
          <a:lstStyle/>
          <a:p>
            <a:pPr indent="0" marL="0">
              <a:buNone/>
            </a:pPr>
            <a:r>
              <a:rPr lang="en-US" sz="1400" b="1" dirty="0">
                <a:solidFill>
                  <a:schemeClr val="tx1"/>
                </a:solidFill>
              </a:rPr>
              <a:t>Encargo por fonte</a:t>
            </a:r>
            <a:endParaRPr lang="en-US" sz="1400" dirty="0"/>
          </a:p>
        </p:txBody>
      </p:sp>
      <p:sp>
        <p:nvSpPr>
          <p:cNvPr id="71" name="Text 69"/>
          <p:cNvSpPr txBox="1"/>
          <p:nvPr/>
        </p:nvSpPr>
        <p:spPr>
          <a:xfrm>
            <a:off x="7077456" y="5202936"/>
            <a:ext cx="1828800" cy="685800"/>
          </a:xfrm>
          <a:prstGeom prst="rect">
            <a:avLst/>
          </a:prstGeom>
          <a:noFill/>
          <a:ln/>
        </p:spPr>
        <p:txBody>
          <a:bodyPr wrap="square" lIns="0" tIns="0" rIns="0" bIns="0" rtlCol="0" anchor="t"/>
          <a:lstStyle/>
          <a:p>
            <a:pPr indent="0" marL="0">
              <a:buNone/>
            </a:pPr>
            <a:r>
              <a:rPr lang="en-US" sz="1200" dirty="0">
                <a:solidFill>
                  <a:schemeClr val="tx2"/>
                </a:solidFill>
              </a:rPr>
              <a:t>Receita fixa rateada pelas regras R1 a R3</a:t>
            </a:r>
            <a:endParaRPr lang="en-US" sz="1200" dirty="0"/>
          </a:p>
        </p:txBody>
      </p:sp>
      <p:sp>
        <p:nvSpPr>
          <p:cNvPr id="72" name="Arrow"/>
          <p:cNvSpPr/>
          <p:nvPr/>
        </p:nvSpPr>
        <p:spPr>
          <a:xfrm>
            <a:off x="9079992" y="5312664"/>
            <a:ext cx="310896" cy="0"/>
          </a:xfrm>
          <a:prstGeom prst="line">
            <a:avLst/>
          </a:prstGeom>
          <a:noFill/>
          <a:ln w="25400">
            <a:solidFill>
              <a:srgbClr val="5B6B80"/>
            </a:solidFill>
            <a:prstDash val="solid"/>
            <a:tailEnd type="triangle"/>
          </a:ln>
        </p:spPr>
      </p:sp>
      <p:sp>
        <p:nvSpPr>
          <p:cNvPr id="73" name="Step 12"/>
          <p:cNvSpPr/>
          <p:nvPr/>
        </p:nvSpPr>
        <p:spPr>
          <a:xfrm>
            <a:off x="9427464" y="4672584"/>
            <a:ext cx="2103120" cy="1280160"/>
          </a:xfrm>
          <a:prstGeom prst="roundRect">
            <a:avLst>
              <a:gd name="adj" fmla="val 7143"/>
            </a:avLst>
          </a:prstGeom>
          <a:solidFill>
            <a:schemeClr val="bg2"/>
          </a:solidFill>
          <a:ln w="25400">
            <a:solidFill>
              <a:schemeClr val="accent1"/>
            </a:solidFill>
            <a:prstDash val="solid"/>
          </a:ln>
        </p:spPr>
      </p:sp>
      <p:sp>
        <p:nvSpPr>
          <p:cNvPr id="74" name="Step number 12"/>
          <p:cNvSpPr/>
          <p:nvPr/>
        </p:nvSpPr>
        <p:spPr>
          <a:xfrm>
            <a:off x="9537192" y="4782312"/>
            <a:ext cx="310896" cy="310896"/>
          </a:xfrm>
          <a:prstGeom prst="ellipse">
            <a:avLst/>
          </a:prstGeom>
          <a:solidFill>
            <a:schemeClr val="accent1"/>
          </a:solidFill>
          <a:ln w="12700">
            <a:solidFill>
              <a:schemeClr val="accent1"/>
            </a:solidFill>
            <a:prstDash val="solid"/>
          </a:ln>
        </p:spPr>
      </p:sp>
      <p:sp>
        <p:nvSpPr>
          <p:cNvPr id="75" name="Text 73"/>
          <p:cNvSpPr txBox="1"/>
          <p:nvPr/>
        </p:nvSpPr>
        <p:spPr>
          <a:xfrm>
            <a:off x="9537192" y="4782312"/>
            <a:ext cx="310896" cy="310896"/>
          </a:xfrm>
          <a:prstGeom prst="rect">
            <a:avLst/>
          </a:prstGeom>
          <a:noFill/>
          <a:ln/>
        </p:spPr>
        <p:txBody>
          <a:bodyPr wrap="square" lIns="0" tIns="0" rIns="0" bIns="0" rtlCol="0" anchor="ctr"/>
          <a:lstStyle/>
          <a:p>
            <a:pPr algn="ctr" indent="0" marL="0">
              <a:buNone/>
            </a:pPr>
            <a:r>
              <a:rPr lang="en-US" sz="1100" b="1" dirty="0">
                <a:solidFill>
                  <a:schemeClr val="tx1"/>
                </a:solidFill>
              </a:rPr>
              <a:t>12</a:t>
            </a:r>
            <a:endParaRPr lang="en-US" sz="1100" dirty="0"/>
          </a:p>
        </p:txBody>
      </p:sp>
      <p:sp>
        <p:nvSpPr>
          <p:cNvPr id="76" name="Text 74"/>
          <p:cNvSpPr txBox="1"/>
          <p:nvPr/>
        </p:nvSpPr>
        <p:spPr>
          <a:xfrm>
            <a:off x="9930384" y="4764024"/>
            <a:ext cx="1508760" cy="365760"/>
          </a:xfrm>
          <a:prstGeom prst="rect">
            <a:avLst/>
          </a:prstGeom>
          <a:noFill/>
          <a:ln/>
        </p:spPr>
        <p:txBody>
          <a:bodyPr wrap="square" lIns="0" tIns="0" rIns="0" bIns="0" rtlCol="0" anchor="ctr"/>
          <a:lstStyle/>
          <a:p>
            <a:pPr indent="0" marL="0">
              <a:buNone/>
            </a:pPr>
            <a:r>
              <a:rPr lang="en-US" sz="1400" b="1" dirty="0">
                <a:solidFill>
                  <a:schemeClr val="tx1"/>
                </a:solidFill>
              </a:rPr>
              <a:t>Saldo por fonte</a:t>
            </a:r>
            <a:endParaRPr lang="en-US" sz="1400" dirty="0"/>
          </a:p>
        </p:txBody>
      </p:sp>
      <p:sp>
        <p:nvSpPr>
          <p:cNvPr id="77" name="Text 75"/>
          <p:cNvSpPr txBox="1"/>
          <p:nvPr/>
        </p:nvSpPr>
        <p:spPr>
          <a:xfrm>
            <a:off x="9564624" y="5202936"/>
            <a:ext cx="1828800" cy="685800"/>
          </a:xfrm>
          <a:prstGeom prst="rect">
            <a:avLst/>
          </a:prstGeom>
          <a:noFill/>
          <a:ln/>
        </p:spPr>
        <p:txBody>
          <a:bodyPr wrap="square" lIns="0" tIns="0" rIns="0" bIns="0" rtlCol="0" anchor="t"/>
          <a:lstStyle/>
          <a:p>
            <a:pPr indent="0" marL="0">
              <a:buNone/>
            </a:pPr>
            <a:r>
              <a:rPr lang="en-US" sz="1200" dirty="0">
                <a:solidFill>
                  <a:schemeClr val="tx2"/>
                </a:solidFill>
              </a:rPr>
              <a:t>Ganho − encargo, razão e ponto de equilíbrio</a:t>
            </a:r>
            <a:endParaRPr lang="en-US" sz="1200" dirty="0"/>
          </a:p>
        </p:txBody>
      </p:sp>
      <p:sp>
        <p:nvSpPr>
          <p:cNvPr id="78" name="Arrow"/>
          <p:cNvSpPr/>
          <p:nvPr/>
        </p:nvSpPr>
        <p:spPr>
          <a:xfrm>
            <a:off x="10479024" y="2724912"/>
            <a:ext cx="0" cy="292608"/>
          </a:xfrm>
          <a:prstGeom prst="line">
            <a:avLst/>
          </a:prstGeom>
          <a:noFill/>
          <a:ln w="25400">
            <a:solidFill>
              <a:srgbClr val="5B6B80"/>
            </a:solidFill>
            <a:prstDash val="solid"/>
            <a:tailEnd type="triangle"/>
          </a:ln>
        </p:spPr>
      </p:sp>
      <p:sp>
        <p:nvSpPr>
          <p:cNvPr id="79" name="Arrow"/>
          <p:cNvSpPr/>
          <p:nvPr/>
        </p:nvSpPr>
        <p:spPr>
          <a:xfrm>
            <a:off x="3017520" y="4352544"/>
            <a:ext cx="0" cy="292608"/>
          </a:xfrm>
          <a:prstGeom prst="line">
            <a:avLst/>
          </a:prstGeom>
          <a:noFill/>
          <a:ln w="25400">
            <a:solidFill>
              <a:srgbClr val="5B6B80"/>
            </a:solidFill>
            <a:prstDash val="solid"/>
            <a:tailEnd type="triangle"/>
          </a:ln>
        </p:spPr>
      </p:sp>
      <p:sp>
        <p:nvSpPr>
          <p:cNvPr id="80" name="Text 78"/>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A etapa 3 compara as etapas 1 e 2 e fecha o balanço de cada fonte: ganho com menos cortes menos o encargo das baterias.</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Cenários de simulação</a:t>
            </a:r>
            <a:endParaRPr lang="en-US" sz="3200" dirty="0"/>
          </a:p>
        </p:txBody>
      </p:sp>
      <p:sp>
        <p:nvSpPr>
          <p:cNvPr id="3" name="Text 1"/>
          <p:cNvSpPr txBox="1"/>
          <p:nvPr/>
        </p:nvSpPr>
        <p:spPr>
          <a:xfrm>
            <a:off x="548640" y="1188720"/>
            <a:ext cx="10881360" cy="457200"/>
          </a:xfrm>
          <a:prstGeom prst="rect">
            <a:avLst/>
          </a:prstGeom>
          <a:noFill/>
          <a:ln/>
        </p:spPr>
        <p:txBody>
          <a:bodyPr wrap="square" lIns="0" tIns="0" rIns="0" bIns="0" rtlCol="0" anchor="t"/>
          <a:lstStyle/>
          <a:p>
            <a:pPr indent="0" marL="0">
              <a:buNone/>
            </a:pPr>
            <a:r>
              <a:rPr lang="en-US" sz="1600" dirty="0">
                <a:solidFill>
                  <a:schemeClr val="tx2"/>
                </a:solidFill>
              </a:rPr>
              <a:t>Seis casos (3 níveis de MMGD, com e sem baterias), cada um sob as regras de rateio R1 a R3.</a:t>
            </a:r>
            <a:endParaRPr lang="en-US" sz="1600" dirty="0"/>
          </a:p>
        </p:txBody>
      </p:sp>
      <p:sp>
        <p:nvSpPr>
          <p:cNvPr id="4" name="Column header 1"/>
          <p:cNvSpPr/>
          <p:nvPr/>
        </p:nvSpPr>
        <p:spPr>
          <a:xfrm>
            <a:off x="2743200" y="1783080"/>
            <a:ext cx="4297680" cy="457200"/>
          </a:xfrm>
          <a:prstGeom prst="roundRect">
            <a:avLst>
              <a:gd name="adj" fmla="val 20000"/>
            </a:avLst>
          </a:prstGeom>
          <a:solidFill>
            <a:schemeClr val="tx2"/>
          </a:solidFill>
          <a:ln w="12700">
            <a:solidFill>
              <a:schemeClr val="tx2"/>
            </a:solidFill>
            <a:prstDash val="solid"/>
          </a:ln>
        </p:spPr>
      </p:sp>
      <p:sp>
        <p:nvSpPr>
          <p:cNvPr id="5" name="Text 3"/>
          <p:cNvSpPr txBox="1"/>
          <p:nvPr/>
        </p:nvSpPr>
        <p:spPr>
          <a:xfrm>
            <a:off x="2743200" y="1783080"/>
            <a:ext cx="4297680" cy="457200"/>
          </a:xfrm>
          <a:prstGeom prst="rect">
            <a:avLst/>
          </a:prstGeom>
          <a:noFill/>
          <a:ln/>
        </p:spPr>
        <p:txBody>
          <a:bodyPr wrap="square" lIns="0" tIns="0" rIns="0" bIns="0" rtlCol="0" anchor="ctr"/>
          <a:lstStyle/>
          <a:p>
            <a:pPr algn="ctr" indent="0" marL="0">
              <a:buNone/>
            </a:pPr>
            <a:r>
              <a:rPr lang="en-US" sz="1400" b="1" dirty="0">
                <a:solidFill>
                  <a:schemeClr val="bg1"/>
                </a:solidFill>
              </a:rPr>
              <a:t>Sem baterias</a:t>
            </a:r>
            <a:endParaRPr lang="en-US" sz="1400" dirty="0"/>
          </a:p>
        </p:txBody>
      </p:sp>
      <p:sp>
        <p:nvSpPr>
          <p:cNvPr id="6" name="Column header 2"/>
          <p:cNvSpPr/>
          <p:nvPr/>
        </p:nvSpPr>
        <p:spPr>
          <a:xfrm>
            <a:off x="7223760" y="1783080"/>
            <a:ext cx="4297680" cy="457200"/>
          </a:xfrm>
          <a:prstGeom prst="roundRect">
            <a:avLst>
              <a:gd name="adj" fmla="val 20000"/>
            </a:avLst>
          </a:prstGeom>
          <a:solidFill>
            <a:schemeClr val="accent2"/>
          </a:solidFill>
          <a:ln w="12700">
            <a:solidFill>
              <a:schemeClr val="accent2"/>
            </a:solidFill>
            <a:prstDash val="solid"/>
          </a:ln>
        </p:spPr>
      </p:sp>
      <p:sp>
        <p:nvSpPr>
          <p:cNvPr id="7" name="Text 5"/>
          <p:cNvSpPr txBox="1"/>
          <p:nvPr/>
        </p:nvSpPr>
        <p:spPr>
          <a:xfrm>
            <a:off x="7223760" y="1783080"/>
            <a:ext cx="4297680" cy="457200"/>
          </a:xfrm>
          <a:prstGeom prst="rect">
            <a:avLst/>
          </a:prstGeom>
          <a:noFill/>
          <a:ln/>
        </p:spPr>
        <p:txBody>
          <a:bodyPr wrap="square" lIns="0" tIns="0" rIns="0" bIns="0" rtlCol="0" anchor="ctr"/>
          <a:lstStyle/>
          <a:p>
            <a:pPr algn="ctr" indent="0" marL="0">
              <a:buNone/>
            </a:pPr>
            <a:r>
              <a:rPr lang="en-US" sz="1400" b="1" dirty="0">
                <a:solidFill>
                  <a:schemeClr val="tx1"/>
                </a:solidFill>
              </a:rPr>
              <a:t>Com baterias (NE + SE, 4 h)</a:t>
            </a:r>
            <a:endParaRPr lang="en-US" sz="1400" dirty="0"/>
          </a:p>
        </p:txBody>
      </p:sp>
      <p:sp>
        <p:nvSpPr>
          <p:cNvPr id="8" name="Row header 1"/>
          <p:cNvSpPr/>
          <p:nvPr/>
        </p:nvSpPr>
        <p:spPr>
          <a:xfrm>
            <a:off x="548640" y="2377440"/>
            <a:ext cx="2011680" cy="1005840"/>
          </a:xfrm>
          <a:prstGeom prst="roundRect">
            <a:avLst>
              <a:gd name="adj" fmla="val 9091"/>
            </a:avLst>
          </a:prstGeom>
          <a:solidFill>
            <a:schemeClr val="accent1"/>
          </a:solidFill>
          <a:ln w="12700">
            <a:solidFill>
              <a:schemeClr val="accent1"/>
            </a:solidFill>
            <a:prstDash val="solid"/>
          </a:ln>
        </p:spPr>
      </p:sp>
      <p:sp>
        <p:nvSpPr>
          <p:cNvPr id="9" name="Text 7"/>
          <p:cNvSpPr txBox="1"/>
          <p:nvPr/>
        </p:nvSpPr>
        <p:spPr>
          <a:xfrm>
            <a:off x="640080" y="2377440"/>
            <a:ext cx="1828800" cy="1005840"/>
          </a:xfrm>
          <a:prstGeom prst="rect">
            <a:avLst/>
          </a:prstGeom>
          <a:noFill/>
          <a:ln/>
        </p:spPr>
        <p:txBody>
          <a:bodyPr wrap="square" lIns="0" tIns="0" rIns="0" bIns="0" rtlCol="0" anchor="ctr"/>
          <a:lstStyle/>
          <a:p>
            <a:pPr algn="ctr" indent="0" marL="0">
              <a:buNone/>
            </a:pPr>
            <a:r>
              <a:rPr lang="en-US" sz="1400" b="1" dirty="0">
                <a:solidFill>
                  <a:schemeClr val="tx1"/>
                </a:solidFill>
              </a:rPr>
              <a:t>MMGD baixa</a:t>
            </a:r>
            <a:endParaRPr lang="en-US" sz="1400" dirty="0"/>
          </a:p>
          <a:p>
            <a:pPr algn="ctr" indent="0" marL="0">
              <a:buNone/>
            </a:pPr>
            <a:r>
              <a:rPr lang="en-US" sz="1400" dirty="0">
                <a:solidFill>
                  <a:schemeClr val="tx1"/>
                </a:solidFill>
              </a:rPr>
              <a:t>47 GW (2034)</a:t>
            </a:r>
            <a:endParaRPr lang="en-US" sz="1400" dirty="0"/>
          </a:p>
        </p:txBody>
      </p:sp>
      <p:sp>
        <p:nvSpPr>
          <p:cNvPr id="10" name="Case C1"/>
          <p:cNvSpPr/>
          <p:nvPr/>
        </p:nvSpPr>
        <p:spPr>
          <a:xfrm>
            <a:off x="2743200" y="2377440"/>
            <a:ext cx="429768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1" name="Text 9"/>
          <p:cNvSpPr txBox="1"/>
          <p:nvPr/>
        </p:nvSpPr>
        <p:spPr>
          <a:xfrm>
            <a:off x="2971800" y="2487168"/>
            <a:ext cx="82296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C1</a:t>
            </a:r>
            <a:endParaRPr lang="en-US" sz="2400" dirty="0"/>
          </a:p>
        </p:txBody>
      </p:sp>
      <p:sp>
        <p:nvSpPr>
          <p:cNvPr id="12" name="Text 10"/>
          <p:cNvSpPr txBox="1"/>
          <p:nvPr/>
        </p:nvSpPr>
        <p:spPr>
          <a:xfrm>
            <a:off x="2971800" y="2999232"/>
            <a:ext cx="3840480" cy="365760"/>
          </a:xfrm>
          <a:prstGeom prst="rect">
            <a:avLst/>
          </a:prstGeom>
          <a:noFill/>
          <a:ln/>
        </p:spPr>
        <p:txBody>
          <a:bodyPr wrap="square" lIns="0" tIns="0" rIns="0" bIns="0" rtlCol="0" anchor="t"/>
          <a:lstStyle/>
          <a:p>
            <a:pPr indent="0" marL="0">
              <a:buNone/>
            </a:pPr>
            <a:r>
              <a:rPr lang="en-US" sz="1400" dirty="0">
                <a:solidFill>
                  <a:schemeClr val="tx2"/>
                </a:solidFill>
              </a:rPr>
              <a:t>Linha de base do nível de MMGD</a:t>
            </a:r>
            <a:endParaRPr lang="en-US" sz="1400" dirty="0"/>
          </a:p>
        </p:txBody>
      </p:sp>
      <p:sp>
        <p:nvSpPr>
          <p:cNvPr id="13" name="Case C2"/>
          <p:cNvSpPr/>
          <p:nvPr/>
        </p:nvSpPr>
        <p:spPr>
          <a:xfrm>
            <a:off x="7223760" y="2377440"/>
            <a:ext cx="429768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4" name="Text 12"/>
          <p:cNvSpPr txBox="1"/>
          <p:nvPr/>
        </p:nvSpPr>
        <p:spPr>
          <a:xfrm>
            <a:off x="7452360" y="2487168"/>
            <a:ext cx="82296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C2</a:t>
            </a:r>
            <a:endParaRPr lang="en-US" sz="2400" dirty="0"/>
          </a:p>
        </p:txBody>
      </p:sp>
      <p:sp>
        <p:nvSpPr>
          <p:cNvPr id="15" name="Text 13"/>
          <p:cNvSpPr txBox="1"/>
          <p:nvPr/>
        </p:nvSpPr>
        <p:spPr>
          <a:xfrm>
            <a:off x="7452360" y="2999232"/>
            <a:ext cx="3840480" cy="365760"/>
          </a:xfrm>
          <a:prstGeom prst="rect">
            <a:avLst/>
          </a:prstGeom>
          <a:noFill/>
          <a:ln/>
        </p:spPr>
        <p:txBody>
          <a:bodyPr wrap="square" lIns="0" tIns="0" rIns="0" bIns="0" rtlCol="0" anchor="t"/>
          <a:lstStyle/>
          <a:p>
            <a:pPr indent="0" marL="0">
              <a:buNone/>
            </a:pPr>
            <a:r>
              <a:rPr lang="en-US" sz="1400" dirty="0">
                <a:solidFill>
                  <a:schemeClr val="tx2"/>
                </a:solidFill>
              </a:rPr>
              <a:t>Efeito das baterias nesse nível de MMGD</a:t>
            </a:r>
            <a:endParaRPr lang="en-US" sz="1400" dirty="0"/>
          </a:p>
        </p:txBody>
      </p:sp>
      <p:sp>
        <p:nvSpPr>
          <p:cNvPr id="16" name="Row header 2"/>
          <p:cNvSpPr/>
          <p:nvPr/>
        </p:nvSpPr>
        <p:spPr>
          <a:xfrm>
            <a:off x="548640" y="3566160"/>
            <a:ext cx="2011680" cy="1005840"/>
          </a:xfrm>
          <a:prstGeom prst="roundRect">
            <a:avLst>
              <a:gd name="adj" fmla="val 9091"/>
            </a:avLst>
          </a:prstGeom>
          <a:solidFill>
            <a:schemeClr val="accent1"/>
          </a:solidFill>
          <a:ln w="12700">
            <a:solidFill>
              <a:schemeClr val="accent1"/>
            </a:solidFill>
            <a:prstDash val="solid"/>
          </a:ln>
        </p:spPr>
      </p:sp>
      <p:sp>
        <p:nvSpPr>
          <p:cNvPr id="17" name="Text 15"/>
          <p:cNvSpPr txBox="1"/>
          <p:nvPr/>
        </p:nvSpPr>
        <p:spPr>
          <a:xfrm>
            <a:off x="640080" y="3566160"/>
            <a:ext cx="1828800" cy="1005840"/>
          </a:xfrm>
          <a:prstGeom prst="rect">
            <a:avLst/>
          </a:prstGeom>
          <a:noFill/>
          <a:ln/>
        </p:spPr>
        <p:txBody>
          <a:bodyPr wrap="square" lIns="0" tIns="0" rIns="0" bIns="0" rtlCol="0" anchor="ctr"/>
          <a:lstStyle/>
          <a:p>
            <a:pPr algn="ctr" indent="0" marL="0">
              <a:buNone/>
            </a:pPr>
            <a:r>
              <a:rPr lang="en-US" sz="1400" b="1" dirty="0">
                <a:solidFill>
                  <a:schemeClr val="tx1"/>
                </a:solidFill>
              </a:rPr>
              <a:t>MMGD de referência</a:t>
            </a:r>
            <a:endParaRPr lang="en-US" sz="1400" dirty="0"/>
          </a:p>
          <a:p>
            <a:pPr algn="ctr" indent="0" marL="0">
              <a:buNone/>
            </a:pPr>
            <a:r>
              <a:rPr lang="en-US" sz="1400" dirty="0">
                <a:solidFill>
                  <a:schemeClr val="tx1"/>
                </a:solidFill>
              </a:rPr>
              <a:t>59 GW (2034)</a:t>
            </a:r>
            <a:endParaRPr lang="en-US" sz="1400" dirty="0"/>
          </a:p>
        </p:txBody>
      </p:sp>
      <p:sp>
        <p:nvSpPr>
          <p:cNvPr id="18" name="Case C3"/>
          <p:cNvSpPr/>
          <p:nvPr/>
        </p:nvSpPr>
        <p:spPr>
          <a:xfrm>
            <a:off x="2743200" y="3566160"/>
            <a:ext cx="4297680" cy="1005840"/>
          </a:xfrm>
          <a:prstGeom prst="roundRect">
            <a:avLst>
              <a:gd name="adj" fmla="val 10909"/>
            </a:avLst>
          </a:prstGeom>
          <a:solidFill>
            <a:schemeClr val="bg1"/>
          </a:solidFill>
          <a:ln w="12700">
            <a:solidFill>
              <a:srgbClr val="F5A524"/>
            </a:solidFill>
            <a:prstDash val="solid"/>
          </a:ln>
          <a:effectLst>
            <a:outerShdw sx="100000" sy="100000" kx="0" ky="0" algn="bl" rotWithShape="0" blurRad="101600" dist="25400" dir="5400000">
              <a:srgbClr val="0B1A2E">
                <a:alpha val="12000"/>
              </a:srgbClr>
            </a:outerShdw>
          </a:effectLst>
        </p:spPr>
      </p:sp>
      <p:sp>
        <p:nvSpPr>
          <p:cNvPr id="19" name="Text 17"/>
          <p:cNvSpPr txBox="1"/>
          <p:nvPr/>
        </p:nvSpPr>
        <p:spPr>
          <a:xfrm>
            <a:off x="2971800" y="3675888"/>
            <a:ext cx="82296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C3</a:t>
            </a:r>
            <a:endParaRPr lang="en-US" sz="2400" dirty="0"/>
          </a:p>
        </p:txBody>
      </p:sp>
      <p:sp>
        <p:nvSpPr>
          <p:cNvPr id="20" name="Text 18"/>
          <p:cNvSpPr txBox="1"/>
          <p:nvPr/>
        </p:nvSpPr>
        <p:spPr>
          <a:xfrm>
            <a:off x="2971800" y="4187952"/>
            <a:ext cx="3840480" cy="365760"/>
          </a:xfrm>
          <a:prstGeom prst="rect">
            <a:avLst/>
          </a:prstGeom>
          <a:noFill/>
          <a:ln/>
        </p:spPr>
        <p:txBody>
          <a:bodyPr wrap="square" lIns="0" tIns="0" rIns="0" bIns="0" rtlCol="0" anchor="t"/>
          <a:lstStyle/>
          <a:p>
            <a:pPr indent="0" marL="0">
              <a:buNone/>
            </a:pPr>
            <a:r>
              <a:rPr lang="en-US" sz="1400" dirty="0">
                <a:solidFill>
                  <a:schemeClr val="tx2"/>
                </a:solidFill>
              </a:rPr>
              <a:t>Linha de base do nível de MMGD</a:t>
            </a:r>
            <a:endParaRPr lang="en-US" sz="1400" dirty="0"/>
          </a:p>
        </p:txBody>
      </p:sp>
      <p:sp>
        <p:nvSpPr>
          <p:cNvPr id="21" name="Text 19"/>
          <p:cNvSpPr txBox="1"/>
          <p:nvPr/>
        </p:nvSpPr>
        <p:spPr>
          <a:xfrm>
            <a:off x="5623560" y="3767328"/>
            <a:ext cx="1234440" cy="365760"/>
          </a:xfrm>
          <a:prstGeom prst="rect">
            <a:avLst/>
          </a:prstGeom>
          <a:noFill/>
          <a:ln/>
        </p:spPr>
        <p:txBody>
          <a:bodyPr wrap="square" lIns="0" tIns="0" rIns="0" bIns="0" rtlCol="0" anchor="t"/>
          <a:lstStyle/>
          <a:p>
            <a:pPr algn="r" indent="0" marL="0">
              <a:buNone/>
            </a:pPr>
            <a:r>
              <a:rPr lang="en-US" sz="1200" b="1" spc="100" kern="0" dirty="0">
                <a:solidFill>
                  <a:schemeClr val="tx1"/>
                </a:solidFill>
              </a:rPr>
              <a:t>REFERÊNCIA</a:t>
            </a:r>
            <a:endParaRPr lang="en-US" sz="1200" dirty="0"/>
          </a:p>
        </p:txBody>
      </p:sp>
      <p:sp>
        <p:nvSpPr>
          <p:cNvPr id="22" name="Case C4"/>
          <p:cNvSpPr/>
          <p:nvPr/>
        </p:nvSpPr>
        <p:spPr>
          <a:xfrm>
            <a:off x="7223760" y="3566160"/>
            <a:ext cx="429768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23" name="Text 21"/>
          <p:cNvSpPr txBox="1"/>
          <p:nvPr/>
        </p:nvSpPr>
        <p:spPr>
          <a:xfrm>
            <a:off x="7452360" y="3675888"/>
            <a:ext cx="82296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C4</a:t>
            </a:r>
            <a:endParaRPr lang="en-US" sz="2400" dirty="0"/>
          </a:p>
        </p:txBody>
      </p:sp>
      <p:sp>
        <p:nvSpPr>
          <p:cNvPr id="24" name="Text 22"/>
          <p:cNvSpPr txBox="1"/>
          <p:nvPr/>
        </p:nvSpPr>
        <p:spPr>
          <a:xfrm>
            <a:off x="7452360" y="4187952"/>
            <a:ext cx="3840480" cy="365760"/>
          </a:xfrm>
          <a:prstGeom prst="rect">
            <a:avLst/>
          </a:prstGeom>
          <a:noFill/>
          <a:ln/>
        </p:spPr>
        <p:txBody>
          <a:bodyPr wrap="square" lIns="0" tIns="0" rIns="0" bIns="0" rtlCol="0" anchor="t"/>
          <a:lstStyle/>
          <a:p>
            <a:pPr indent="0" marL="0">
              <a:buNone/>
            </a:pPr>
            <a:r>
              <a:rPr lang="en-US" sz="1400" dirty="0">
                <a:solidFill>
                  <a:schemeClr val="tx2"/>
                </a:solidFill>
              </a:rPr>
              <a:t>Efeito das baterias nesse nível de MMGD</a:t>
            </a:r>
            <a:endParaRPr lang="en-US" sz="1400" dirty="0"/>
          </a:p>
        </p:txBody>
      </p:sp>
      <p:sp>
        <p:nvSpPr>
          <p:cNvPr id="25" name="Row header 3"/>
          <p:cNvSpPr/>
          <p:nvPr/>
        </p:nvSpPr>
        <p:spPr>
          <a:xfrm>
            <a:off x="548640" y="4754880"/>
            <a:ext cx="2011680" cy="1005840"/>
          </a:xfrm>
          <a:prstGeom prst="roundRect">
            <a:avLst>
              <a:gd name="adj" fmla="val 9091"/>
            </a:avLst>
          </a:prstGeom>
          <a:solidFill>
            <a:schemeClr val="accent1"/>
          </a:solidFill>
          <a:ln w="12700">
            <a:solidFill>
              <a:schemeClr val="accent1"/>
            </a:solidFill>
            <a:prstDash val="solid"/>
          </a:ln>
        </p:spPr>
      </p:sp>
      <p:sp>
        <p:nvSpPr>
          <p:cNvPr id="26" name="Text 24"/>
          <p:cNvSpPr txBox="1"/>
          <p:nvPr/>
        </p:nvSpPr>
        <p:spPr>
          <a:xfrm>
            <a:off x="640080" y="4754880"/>
            <a:ext cx="1828800" cy="1005840"/>
          </a:xfrm>
          <a:prstGeom prst="rect">
            <a:avLst/>
          </a:prstGeom>
          <a:noFill/>
          <a:ln/>
        </p:spPr>
        <p:txBody>
          <a:bodyPr wrap="square" lIns="0" tIns="0" rIns="0" bIns="0" rtlCol="0" anchor="ctr"/>
          <a:lstStyle/>
          <a:p>
            <a:pPr algn="ctr" indent="0" marL="0">
              <a:buNone/>
            </a:pPr>
            <a:r>
              <a:rPr lang="en-US" sz="1400" b="1" dirty="0">
                <a:solidFill>
                  <a:schemeClr val="tx1"/>
                </a:solidFill>
              </a:rPr>
              <a:t>MMGD alta</a:t>
            </a:r>
            <a:endParaRPr lang="en-US" sz="1400" dirty="0"/>
          </a:p>
          <a:p>
            <a:pPr algn="ctr" indent="0" marL="0">
              <a:buNone/>
            </a:pPr>
            <a:r>
              <a:rPr lang="en-US" sz="1400" dirty="0">
                <a:solidFill>
                  <a:schemeClr val="tx1"/>
                </a:solidFill>
              </a:rPr>
              <a:t>71 GW (2034)</a:t>
            </a:r>
            <a:endParaRPr lang="en-US" sz="1400" dirty="0"/>
          </a:p>
        </p:txBody>
      </p:sp>
      <p:sp>
        <p:nvSpPr>
          <p:cNvPr id="27" name="Case C5"/>
          <p:cNvSpPr/>
          <p:nvPr/>
        </p:nvSpPr>
        <p:spPr>
          <a:xfrm>
            <a:off x="2743200" y="4754880"/>
            <a:ext cx="429768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28" name="Text 26"/>
          <p:cNvSpPr txBox="1"/>
          <p:nvPr/>
        </p:nvSpPr>
        <p:spPr>
          <a:xfrm>
            <a:off x="2971800" y="4864608"/>
            <a:ext cx="82296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C5</a:t>
            </a:r>
            <a:endParaRPr lang="en-US" sz="2400" dirty="0"/>
          </a:p>
        </p:txBody>
      </p:sp>
      <p:sp>
        <p:nvSpPr>
          <p:cNvPr id="29" name="Text 27"/>
          <p:cNvSpPr txBox="1"/>
          <p:nvPr/>
        </p:nvSpPr>
        <p:spPr>
          <a:xfrm>
            <a:off x="2971800" y="5376672"/>
            <a:ext cx="3840480" cy="365760"/>
          </a:xfrm>
          <a:prstGeom prst="rect">
            <a:avLst/>
          </a:prstGeom>
          <a:noFill/>
          <a:ln/>
        </p:spPr>
        <p:txBody>
          <a:bodyPr wrap="square" lIns="0" tIns="0" rIns="0" bIns="0" rtlCol="0" anchor="t"/>
          <a:lstStyle/>
          <a:p>
            <a:pPr indent="0" marL="0">
              <a:buNone/>
            </a:pPr>
            <a:r>
              <a:rPr lang="en-US" sz="1400" dirty="0">
                <a:solidFill>
                  <a:schemeClr val="tx2"/>
                </a:solidFill>
              </a:rPr>
              <a:t>Linha de base do nível de MMGD</a:t>
            </a:r>
            <a:endParaRPr lang="en-US" sz="1400" dirty="0"/>
          </a:p>
        </p:txBody>
      </p:sp>
      <p:sp>
        <p:nvSpPr>
          <p:cNvPr id="30" name="Case C6"/>
          <p:cNvSpPr/>
          <p:nvPr/>
        </p:nvSpPr>
        <p:spPr>
          <a:xfrm>
            <a:off x="7223760" y="4754880"/>
            <a:ext cx="429768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31" name="Text 29"/>
          <p:cNvSpPr txBox="1"/>
          <p:nvPr/>
        </p:nvSpPr>
        <p:spPr>
          <a:xfrm>
            <a:off x="7452360" y="4864608"/>
            <a:ext cx="82296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C6</a:t>
            </a:r>
            <a:endParaRPr lang="en-US" sz="2400" dirty="0"/>
          </a:p>
        </p:txBody>
      </p:sp>
      <p:sp>
        <p:nvSpPr>
          <p:cNvPr id="32" name="Text 30"/>
          <p:cNvSpPr txBox="1"/>
          <p:nvPr/>
        </p:nvSpPr>
        <p:spPr>
          <a:xfrm>
            <a:off x="7452360" y="5376672"/>
            <a:ext cx="3840480" cy="365760"/>
          </a:xfrm>
          <a:prstGeom prst="rect">
            <a:avLst/>
          </a:prstGeom>
          <a:noFill/>
          <a:ln/>
        </p:spPr>
        <p:txBody>
          <a:bodyPr wrap="square" lIns="0" tIns="0" rIns="0" bIns="0" rtlCol="0" anchor="t"/>
          <a:lstStyle/>
          <a:p>
            <a:pPr indent="0" marL="0">
              <a:buNone/>
            </a:pPr>
            <a:r>
              <a:rPr lang="en-US" sz="1400" dirty="0">
                <a:solidFill>
                  <a:schemeClr val="tx2"/>
                </a:solidFill>
              </a:rPr>
              <a:t>Efeito das baterias nesse nível de MMGD</a:t>
            </a:r>
            <a:endParaRPr lang="en-US" sz="1400" dirty="0"/>
          </a:p>
        </p:txBody>
      </p:sp>
      <p:sp>
        <p:nvSpPr>
          <p:cNvPr id="33" name="Text 31"/>
          <p:cNvSpPr txBox="1"/>
          <p:nvPr/>
        </p:nvSpPr>
        <p:spPr>
          <a:xfrm>
            <a:off x="548640" y="5852160"/>
            <a:ext cx="11094415" cy="365760"/>
          </a:xfrm>
          <a:prstGeom prst="rect">
            <a:avLst/>
          </a:prstGeom>
          <a:noFill/>
          <a:ln/>
        </p:spPr>
        <p:txBody>
          <a:bodyPr wrap="square" lIns="0" tIns="0" rIns="0" bIns="0" rtlCol="0" anchor="t"/>
          <a:lstStyle/>
          <a:p>
            <a:pPr indent="0" marL="0">
              <a:buNone/>
            </a:pPr>
            <a:r>
              <a:rPr lang="en-US" sz="1400" b="1" dirty="0">
                <a:solidFill>
                  <a:schemeClr val="tx1"/>
                </a:solidFill>
              </a:rPr>
              <a:t>Comparações-chave: C2 × C1, C4 × C3 e C6 × C5 isolam o efeito das baterias; C1 × C3 × C5 isolam o efeito da MMGD.</a:t>
            </a:r>
            <a:endParaRPr lang="en-US" sz="1400" dirty="0"/>
          </a:p>
        </p:txBody>
      </p:sp>
      <p:sp>
        <p:nvSpPr>
          <p:cNvPr id="34" name="Text 32"/>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Faixa de MMGD: EPE/MME, PDE 2034, Caderno MMGD e Baterias (2024); ordem de grandeza para o ano-horizonte a definir.</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Indicadores: como cada objetivo será medido</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005840"/>
                <a:gridCol w="3657600"/>
                <a:gridCol w="3017520"/>
                <a:gridCol w="3410712"/>
              </a:tblGrid>
              <a:tr h="50292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Objetivo</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Variável de saída</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Unidade</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Comparação</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r>
              <a:tr h="713232">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OE1</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Geração evitada de corte por fonte (eólicas, UFVs, UHEs)</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MWh/ano e % do corte</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Com × sem BESS, por nível de MMGD</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713232">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OE2</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Ganho por fonte (receita da energia adicional)</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 milhões/ano</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ΔG × preço (UHE: valor da água)</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713232">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OE3</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Encargo por fonte</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 milhões/ano</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Regras de rateio R1 a R3</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713232">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OE4</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Saldo e razão ganho ÷ encargo, por fonte</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 milhões/ano e razão</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Razão ≥ 1: vantajoso</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713232">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OE5</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Ponto de equilíbrio e sensibilidade</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MWh e R$/MWh</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MMGD, rateio, preço e patamar</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400" i="1" dirty="0">
                <a:solidFill>
                  <a:schemeClr val="tx2"/>
                </a:solidFill>
              </a:rPr>
              <a:t>As variáveis vêm das simulações horárias, exceto o encargo (OE3) e o preço de valoração, que dependem do edital, da regra de rateio e do PLD.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Análise econômica: o que cada fonte ganha e paga</a:t>
            </a:r>
            <a:endParaRPr lang="en-US" sz="3200" dirty="0"/>
          </a:p>
        </p:txBody>
      </p:sp>
      <p:sp>
        <p:nvSpPr>
          <p:cNvPr id="3" name="Gain card"/>
          <p:cNvSpPr/>
          <p:nvPr/>
        </p:nvSpPr>
        <p:spPr>
          <a:xfrm>
            <a:off x="548640" y="1417320"/>
            <a:ext cx="4754880"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4" name="Icon circle"/>
          <p:cNvSpPr/>
          <p:nvPr/>
        </p:nvSpPr>
        <p:spPr>
          <a:xfrm>
            <a:off x="822960" y="1645920"/>
            <a:ext cx="548640" cy="548640"/>
          </a:xfrm>
          <a:prstGeom prst="ellipse">
            <a:avLst/>
          </a:prstGeom>
          <a:solidFill>
            <a:schemeClr val="accent2"/>
          </a:solidFill>
          <a:ln w="12700">
            <a:solidFill>
              <a:schemeClr val="accent2"/>
            </a:solidFill>
            <a:prstDash val="solid"/>
          </a:ln>
        </p:spPr>
      </p:sp>
      <p:pic>
        <p:nvPicPr>
          <p:cNvPr id="5" name="Image 0" descr="FaChartLine">    </p:cNvPr>
          <p:cNvPicPr>
            <a:picLocks noChangeAspect="1"/>
          </p:cNvPicPr>
          <p:nvPr/>
        </p:nvPicPr>
        <p:blipFill>
          <a:blip r:embed="rId1"/>
          <a:stretch>
            <a:fillRect/>
          </a:stretch>
        </p:blipFill>
        <p:spPr>
          <a:xfrm>
            <a:off x="960120" y="1783080"/>
            <a:ext cx="274320" cy="274320"/>
          </a:xfrm>
          <a:prstGeom prst="rect">
            <a:avLst/>
          </a:prstGeom>
        </p:spPr>
      </p:pic>
      <p:sp>
        <p:nvSpPr>
          <p:cNvPr id="6" name="Text 3"/>
          <p:cNvSpPr txBox="1"/>
          <p:nvPr/>
        </p:nvSpPr>
        <p:spPr>
          <a:xfrm>
            <a:off x="1554480" y="1645920"/>
            <a:ext cx="3566160" cy="548640"/>
          </a:xfrm>
          <a:prstGeom prst="rect">
            <a:avLst/>
          </a:prstGeom>
          <a:noFill/>
          <a:ln/>
        </p:spPr>
        <p:txBody>
          <a:bodyPr wrap="square" lIns="0" tIns="0" rIns="0" bIns="0" rtlCol="0" anchor="ctr"/>
          <a:lstStyle/>
          <a:p>
            <a:pPr indent="0" marL="0">
              <a:buNone/>
            </a:pPr>
            <a:r>
              <a:rPr lang="en-US" sz="1600" b="1" spc="100" kern="0" dirty="0">
                <a:solidFill>
                  <a:schemeClr val="tx2"/>
                </a:solidFill>
              </a:rPr>
              <a:t>GANHO DA FONTE i</a:t>
            </a:r>
            <a:endParaRPr lang="en-US" sz="1600" dirty="0"/>
          </a:p>
        </p:txBody>
      </p:sp>
      <p:sp>
        <p:nvSpPr>
          <p:cNvPr id="7" name="Text 4"/>
          <p:cNvSpPr txBox="1"/>
          <p:nvPr/>
        </p:nvSpPr>
        <p:spPr>
          <a:xfrm>
            <a:off x="822960" y="2331720"/>
            <a:ext cx="42976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Ganho = ΔG × p</a:t>
            </a:r>
            <a:endParaRPr lang="en-US" sz="2200" dirty="0"/>
          </a:p>
        </p:txBody>
      </p:sp>
      <p:sp>
        <p:nvSpPr>
          <p:cNvPr id="8" name="Text 5"/>
          <p:cNvSpPr txBox="1"/>
          <p:nvPr/>
        </p:nvSpPr>
        <p:spPr>
          <a:xfrm>
            <a:off x="822960" y="2880360"/>
            <a:ext cx="4206240" cy="594360"/>
          </a:xfrm>
          <a:prstGeom prst="rect">
            <a:avLst/>
          </a:prstGeom>
          <a:noFill/>
          <a:ln/>
        </p:spPr>
        <p:txBody>
          <a:bodyPr wrap="square" lIns="0" tIns="0" rIns="0" bIns="0" rtlCol="0" anchor="t"/>
          <a:lstStyle/>
          <a:p>
            <a:pPr indent="0" marL="0">
              <a:buNone/>
            </a:pPr>
            <a:r>
              <a:rPr lang="en-US" sz="1400" dirty="0">
                <a:solidFill>
                  <a:schemeClr val="tx2"/>
                </a:solidFill>
              </a:rPr>
              <a:t>ΔG: geração evitada de corte (MWh). p: preço de valoração (R$/MWh).</a:t>
            </a:r>
            <a:endParaRPr lang="en-US" sz="1400" dirty="0"/>
          </a:p>
        </p:txBody>
      </p:sp>
      <p:sp>
        <p:nvSpPr>
          <p:cNvPr id="9" name="Charges card"/>
          <p:cNvSpPr/>
          <p:nvPr/>
        </p:nvSpPr>
        <p:spPr>
          <a:xfrm>
            <a:off x="6888175" y="1417320"/>
            <a:ext cx="4754880"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0" name="Icon circle"/>
          <p:cNvSpPr/>
          <p:nvPr/>
        </p:nvSpPr>
        <p:spPr>
          <a:xfrm>
            <a:off x="7162495" y="1645920"/>
            <a:ext cx="548640" cy="548640"/>
          </a:xfrm>
          <a:prstGeom prst="ellipse">
            <a:avLst/>
          </a:prstGeom>
          <a:solidFill>
            <a:schemeClr val="accent1"/>
          </a:solidFill>
          <a:ln w="12700">
            <a:solidFill>
              <a:schemeClr val="accent1"/>
            </a:solidFill>
            <a:prstDash val="solid"/>
          </a:ln>
        </p:spPr>
      </p:sp>
      <p:pic>
        <p:nvPicPr>
          <p:cNvPr id="11" name="Image 1" descr="FaCoins">    </p:cNvPr>
          <p:cNvPicPr>
            <a:picLocks noChangeAspect="1"/>
          </p:cNvPicPr>
          <p:nvPr/>
        </p:nvPicPr>
        <p:blipFill>
          <a:blip r:embed="rId2"/>
          <a:stretch>
            <a:fillRect/>
          </a:stretch>
        </p:blipFill>
        <p:spPr>
          <a:xfrm>
            <a:off x="7299655" y="1783080"/>
            <a:ext cx="274320" cy="274320"/>
          </a:xfrm>
          <a:prstGeom prst="rect">
            <a:avLst/>
          </a:prstGeom>
        </p:spPr>
      </p:pic>
      <p:sp>
        <p:nvSpPr>
          <p:cNvPr id="12" name="Text 8"/>
          <p:cNvSpPr txBox="1"/>
          <p:nvPr/>
        </p:nvSpPr>
        <p:spPr>
          <a:xfrm>
            <a:off x="7894015" y="1645920"/>
            <a:ext cx="3566160" cy="548640"/>
          </a:xfrm>
          <a:prstGeom prst="rect">
            <a:avLst/>
          </a:prstGeom>
          <a:noFill/>
          <a:ln/>
        </p:spPr>
        <p:txBody>
          <a:bodyPr wrap="square" lIns="0" tIns="0" rIns="0" bIns="0" rtlCol="0" anchor="ctr"/>
          <a:lstStyle/>
          <a:p>
            <a:pPr indent="0" marL="0">
              <a:buNone/>
            </a:pPr>
            <a:r>
              <a:rPr lang="en-US" sz="1600" b="1" spc="100" kern="0" dirty="0">
                <a:solidFill>
                  <a:schemeClr val="tx2"/>
                </a:solidFill>
              </a:rPr>
              <a:t>ENCARGO DA FONTE i</a:t>
            </a:r>
            <a:endParaRPr lang="en-US" sz="1600" dirty="0"/>
          </a:p>
        </p:txBody>
      </p:sp>
      <p:sp>
        <p:nvSpPr>
          <p:cNvPr id="13" name="Text 9"/>
          <p:cNvSpPr txBox="1"/>
          <p:nvPr/>
        </p:nvSpPr>
        <p:spPr>
          <a:xfrm>
            <a:off x="7162495" y="2331720"/>
            <a:ext cx="42976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Encargo = receita fixa × parcela</a:t>
            </a:r>
            <a:endParaRPr lang="en-US" sz="1900" dirty="0"/>
          </a:p>
        </p:txBody>
      </p:sp>
      <p:sp>
        <p:nvSpPr>
          <p:cNvPr id="14" name="Text 10"/>
          <p:cNvSpPr txBox="1"/>
          <p:nvPr/>
        </p:nvSpPr>
        <p:spPr>
          <a:xfrm>
            <a:off x="7162495" y="2880360"/>
            <a:ext cx="4206240" cy="640080"/>
          </a:xfrm>
          <a:prstGeom prst="rect">
            <a:avLst/>
          </a:prstGeom>
          <a:noFill/>
          <a:ln/>
        </p:spPr>
        <p:txBody>
          <a:bodyPr wrap="square" lIns="0" tIns="0" rIns="0" bIns="0" rtlCol="0" anchor="t"/>
          <a:lstStyle/>
          <a:p>
            <a:pPr indent="0" marL="0">
              <a:buNone/>
            </a:pPr>
            <a:r>
              <a:rPr lang="en-US" sz="1400" dirty="0">
                <a:solidFill>
                  <a:schemeClr val="tx2"/>
                </a:solidFill>
              </a:rPr>
              <a:t>Parcela pela regra R1 a R3. Inclui a geração adicional, pois o rateio usa a energia associada.</a:t>
            </a:r>
            <a:endParaRPr lang="en-US" sz="1400" dirty="0"/>
          </a:p>
        </p:txBody>
      </p:sp>
      <p:sp>
        <p:nvSpPr>
          <p:cNvPr id="15" name="Comparison circle"/>
          <p:cNvSpPr/>
          <p:nvPr/>
        </p:nvSpPr>
        <p:spPr>
          <a:xfrm>
            <a:off x="5592928" y="1988820"/>
            <a:ext cx="1005840" cy="1005840"/>
          </a:xfrm>
          <a:prstGeom prst="ellipse">
            <a:avLst/>
          </a:prstGeom>
          <a:solidFill>
            <a:schemeClr val="tx2"/>
          </a:solidFill>
          <a:ln w="12700">
            <a:solidFill>
              <a:schemeClr val="tx2"/>
            </a:solidFill>
            <a:prstDash val="solid"/>
          </a:ln>
        </p:spPr>
      </p:sp>
      <p:sp>
        <p:nvSpPr>
          <p:cNvPr id="16" name="Text 12"/>
          <p:cNvSpPr txBox="1"/>
          <p:nvPr/>
        </p:nvSpPr>
        <p:spPr>
          <a:xfrm>
            <a:off x="5592928" y="1988820"/>
            <a:ext cx="1005840" cy="100584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 ?</a:t>
            </a:r>
            <a:endParaRPr lang="en-US" sz="2800" dirty="0"/>
          </a:p>
        </p:txBody>
      </p:sp>
      <p:sp>
        <p:nvSpPr>
          <p:cNvPr id="17" name="Source economics 1"/>
          <p:cNvSpPr/>
          <p:nvPr/>
        </p:nvSpPr>
        <p:spPr>
          <a:xfrm>
            <a:off x="548640" y="3749040"/>
            <a:ext cx="3520440"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8" name="Icon circle"/>
          <p:cNvSpPr/>
          <p:nvPr/>
        </p:nvSpPr>
        <p:spPr>
          <a:xfrm>
            <a:off x="822960" y="3931920"/>
            <a:ext cx="502920" cy="502920"/>
          </a:xfrm>
          <a:prstGeom prst="ellipse">
            <a:avLst/>
          </a:prstGeom>
          <a:solidFill>
            <a:schemeClr val="accent2"/>
          </a:solidFill>
          <a:ln w="12700">
            <a:solidFill>
              <a:schemeClr val="accent2"/>
            </a:solidFill>
            <a:prstDash val="solid"/>
          </a:ln>
        </p:spPr>
      </p:sp>
      <p:pic>
        <p:nvPicPr>
          <p:cNvPr id="19" name="Image 2" descr="FaWind">    </p:cNvPr>
          <p:cNvPicPr>
            <a:picLocks noChangeAspect="1"/>
          </p:cNvPicPr>
          <p:nvPr/>
        </p:nvPicPr>
        <p:blipFill>
          <a:blip r:embed="rId3"/>
          <a:stretch>
            <a:fillRect/>
          </a:stretch>
        </p:blipFill>
        <p:spPr>
          <a:xfrm>
            <a:off x="948690" y="4057650"/>
            <a:ext cx="251460" cy="251460"/>
          </a:xfrm>
          <a:prstGeom prst="rect">
            <a:avLst/>
          </a:prstGeom>
        </p:spPr>
      </p:pic>
      <p:sp>
        <p:nvSpPr>
          <p:cNvPr id="20" name="Text 15"/>
          <p:cNvSpPr txBox="1"/>
          <p:nvPr/>
        </p:nvSpPr>
        <p:spPr>
          <a:xfrm>
            <a:off x="1508760" y="3931920"/>
            <a:ext cx="2377440"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Eólicas</a:t>
            </a:r>
            <a:endParaRPr lang="en-US" sz="1800" dirty="0"/>
          </a:p>
        </p:txBody>
      </p:sp>
      <p:sp>
        <p:nvSpPr>
          <p:cNvPr id="21" name="Text 16"/>
          <p:cNvSpPr txBox="1"/>
          <p:nvPr/>
        </p:nvSpPr>
        <p:spPr>
          <a:xfrm>
            <a:off x="822960" y="4572000"/>
            <a:ext cx="2971800" cy="914400"/>
          </a:xfrm>
          <a:prstGeom prst="rect">
            <a:avLst/>
          </a:prstGeom>
          <a:noFill/>
          <a:ln/>
        </p:spPr>
        <p:txBody>
          <a:bodyPr wrap="square" lIns="0" tIns="0" rIns="0" bIns="0" rtlCol="0" anchor="t"/>
          <a:lstStyle/>
          <a:p>
            <a:pPr indent="0" marL="0">
              <a:buNone/>
            </a:pPr>
            <a:r>
              <a:rPr lang="en-US" sz="1300" dirty="0">
                <a:solidFill>
                  <a:schemeClr val="tx2"/>
                </a:solidFill>
              </a:rPr>
              <a:t>Ganho: MWh eólicos antes cortados × preço do contrato ou PLD. Encargo: parte do P1 (100%).</a:t>
            </a:r>
            <a:endParaRPr lang="en-US" sz="1300" dirty="0"/>
          </a:p>
        </p:txBody>
      </p:sp>
      <p:sp>
        <p:nvSpPr>
          <p:cNvPr id="22" name="Source economics 2"/>
          <p:cNvSpPr/>
          <p:nvPr/>
        </p:nvSpPr>
        <p:spPr>
          <a:xfrm>
            <a:off x="4334256" y="3749040"/>
            <a:ext cx="3520440"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23" name="Icon circle"/>
          <p:cNvSpPr/>
          <p:nvPr/>
        </p:nvSpPr>
        <p:spPr>
          <a:xfrm>
            <a:off x="4608576" y="3931920"/>
            <a:ext cx="502920" cy="502920"/>
          </a:xfrm>
          <a:prstGeom prst="ellipse">
            <a:avLst/>
          </a:prstGeom>
          <a:solidFill>
            <a:schemeClr val="accent1"/>
          </a:solidFill>
          <a:ln w="12700">
            <a:solidFill>
              <a:schemeClr val="accent1"/>
            </a:solidFill>
            <a:prstDash val="solid"/>
          </a:ln>
        </p:spPr>
      </p:sp>
      <p:pic>
        <p:nvPicPr>
          <p:cNvPr id="24" name="Image 3" descr="FaSun">    </p:cNvPr>
          <p:cNvPicPr>
            <a:picLocks noChangeAspect="1"/>
          </p:cNvPicPr>
          <p:nvPr/>
        </p:nvPicPr>
        <p:blipFill>
          <a:blip r:embed="rId4"/>
          <a:stretch>
            <a:fillRect/>
          </a:stretch>
        </p:blipFill>
        <p:spPr>
          <a:xfrm>
            <a:off x="4734306" y="4057650"/>
            <a:ext cx="251460" cy="251460"/>
          </a:xfrm>
          <a:prstGeom prst="rect">
            <a:avLst/>
          </a:prstGeom>
        </p:spPr>
      </p:pic>
      <p:sp>
        <p:nvSpPr>
          <p:cNvPr id="25" name="Text 19"/>
          <p:cNvSpPr txBox="1"/>
          <p:nvPr/>
        </p:nvSpPr>
        <p:spPr>
          <a:xfrm>
            <a:off x="5294376" y="3931920"/>
            <a:ext cx="2377440"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Solares</a:t>
            </a:r>
            <a:endParaRPr lang="en-US" sz="1800" dirty="0"/>
          </a:p>
        </p:txBody>
      </p:sp>
      <p:sp>
        <p:nvSpPr>
          <p:cNvPr id="26" name="Text 20"/>
          <p:cNvSpPr txBox="1"/>
          <p:nvPr/>
        </p:nvSpPr>
        <p:spPr>
          <a:xfrm>
            <a:off x="4608576" y="4572000"/>
            <a:ext cx="2971800" cy="914400"/>
          </a:xfrm>
          <a:prstGeom prst="rect">
            <a:avLst/>
          </a:prstGeom>
          <a:noFill/>
          <a:ln/>
        </p:spPr>
        <p:txBody>
          <a:bodyPr wrap="square" lIns="0" tIns="0" rIns="0" bIns="0" rtlCol="0" anchor="t"/>
          <a:lstStyle/>
          <a:p>
            <a:pPr indent="0" marL="0">
              <a:buNone/>
            </a:pPr>
            <a:r>
              <a:rPr lang="en-US" sz="1300" dirty="0">
                <a:solidFill>
                  <a:schemeClr val="tx2"/>
                </a:solidFill>
              </a:rPr>
              <a:t>Ganho: MWh solares antes cortados × preço. Maior corte e menor peso na geração. Encargo: parte do P1.</a:t>
            </a:r>
            <a:endParaRPr lang="en-US" sz="1300" dirty="0"/>
          </a:p>
        </p:txBody>
      </p:sp>
      <p:sp>
        <p:nvSpPr>
          <p:cNvPr id="27" name="Source economics 3"/>
          <p:cNvSpPr/>
          <p:nvPr/>
        </p:nvSpPr>
        <p:spPr>
          <a:xfrm>
            <a:off x="8119872" y="3749040"/>
            <a:ext cx="3520440"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28" name="Icon circle"/>
          <p:cNvSpPr/>
          <p:nvPr/>
        </p:nvSpPr>
        <p:spPr>
          <a:xfrm>
            <a:off x="8394192" y="3931920"/>
            <a:ext cx="502920" cy="502920"/>
          </a:xfrm>
          <a:prstGeom prst="ellipse">
            <a:avLst/>
          </a:prstGeom>
          <a:solidFill>
            <a:schemeClr val="accent3"/>
          </a:solidFill>
          <a:ln w="12700">
            <a:solidFill>
              <a:schemeClr val="accent3"/>
            </a:solidFill>
            <a:prstDash val="solid"/>
          </a:ln>
        </p:spPr>
      </p:sp>
      <p:pic>
        <p:nvPicPr>
          <p:cNvPr id="29" name="Image 4" descr="FaWater">    </p:cNvPr>
          <p:cNvPicPr>
            <a:picLocks noChangeAspect="1"/>
          </p:cNvPicPr>
          <p:nvPr/>
        </p:nvPicPr>
        <p:blipFill>
          <a:blip r:embed="rId5"/>
          <a:stretch>
            <a:fillRect/>
          </a:stretch>
        </p:blipFill>
        <p:spPr>
          <a:xfrm>
            <a:off x="8519922" y="4057650"/>
            <a:ext cx="251460" cy="251460"/>
          </a:xfrm>
          <a:prstGeom prst="rect">
            <a:avLst/>
          </a:prstGeom>
        </p:spPr>
      </p:pic>
      <p:sp>
        <p:nvSpPr>
          <p:cNvPr id="30" name="Text 23"/>
          <p:cNvSpPr txBox="1"/>
          <p:nvPr/>
        </p:nvSpPr>
        <p:spPr>
          <a:xfrm>
            <a:off x="9079992" y="3931920"/>
            <a:ext cx="2377440"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UHEs</a:t>
            </a:r>
            <a:endParaRPr lang="en-US" sz="1800" dirty="0"/>
          </a:p>
        </p:txBody>
      </p:sp>
      <p:sp>
        <p:nvSpPr>
          <p:cNvPr id="31" name="Text 24"/>
          <p:cNvSpPr txBox="1"/>
          <p:nvPr/>
        </p:nvSpPr>
        <p:spPr>
          <a:xfrm>
            <a:off x="8394192" y="4572000"/>
            <a:ext cx="2971800" cy="914400"/>
          </a:xfrm>
          <a:prstGeom prst="rect">
            <a:avLst/>
          </a:prstGeom>
          <a:noFill/>
          <a:ln/>
        </p:spPr>
        <p:txBody>
          <a:bodyPr wrap="square" lIns="0" tIns="0" rIns="0" bIns="0" rtlCol="0" anchor="t"/>
          <a:lstStyle/>
          <a:p>
            <a:pPr indent="0" marL="0">
              <a:buNone/>
            </a:pPr>
            <a:r>
              <a:rPr lang="en-US" sz="1300" dirty="0">
                <a:solidFill>
                  <a:schemeClr val="tx2"/>
                </a:solidFill>
              </a:rPr>
              <a:t>Ganho: menos corte e vertimento e mais água armazenada, valorados pelo PLD. Encargo: P1 a P4.</a:t>
            </a:r>
            <a:endParaRPr lang="en-US" sz="1300" dirty="0"/>
          </a:p>
        </p:txBody>
      </p:sp>
      <p:sp>
        <p:nvSpPr>
          <p:cNvPr id="32" name="Decision rule"/>
          <p:cNvSpPr/>
          <p:nvPr/>
        </p:nvSpPr>
        <p:spPr>
          <a:xfrm>
            <a:off x="548640" y="5669280"/>
            <a:ext cx="11094415" cy="594360"/>
          </a:xfrm>
          <a:prstGeom prst="roundRect">
            <a:avLst>
              <a:gd name="adj" fmla="val 18462"/>
            </a:avLst>
          </a:prstGeom>
          <a:solidFill>
            <a:schemeClr val="tx2"/>
          </a:solidFill>
          <a:ln w="12700">
            <a:solidFill>
              <a:schemeClr val="tx2"/>
            </a:solidFill>
            <a:prstDash val="solid"/>
          </a:ln>
        </p:spPr>
      </p:sp>
      <p:sp>
        <p:nvSpPr>
          <p:cNvPr id="33" name="Text 26"/>
          <p:cNvSpPr txBox="1"/>
          <p:nvPr/>
        </p:nvSpPr>
        <p:spPr>
          <a:xfrm>
            <a:off x="822960" y="5669280"/>
            <a:ext cx="10545775" cy="594360"/>
          </a:xfrm>
          <a:prstGeom prst="rect">
            <a:avLst/>
          </a:prstGeom>
          <a:noFill/>
          <a:ln/>
        </p:spPr>
        <p:txBody>
          <a:bodyPr wrap="square" lIns="0" tIns="0" rIns="0" bIns="0" rtlCol="0" anchor="ctr"/>
          <a:lstStyle/>
          <a:p>
            <a:pPr indent="0" marL="0">
              <a:buNone/>
            </a:pPr>
            <a:r>
              <a:rPr lang="en-US" sz="1600" b="1" dirty="0">
                <a:solidFill>
                  <a:schemeClr val="accent1"/>
                </a:solidFill>
              </a:rPr>
              <a:t>Vantajoso se ganho ÷ encargo ≥ 1. </a:t>
            </a:r>
            <a:pPr indent="0" marL="0">
              <a:buNone/>
            </a:pPr>
            <a:r>
              <a:rPr lang="en-US" sz="1600" dirty="0">
                <a:solidFill>
                  <a:schemeClr val="bg1"/>
                </a:solidFill>
              </a:rPr>
              <a:t>Ponto de equilíbrio: ΔG* = encargo ÷ p.</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Resultados esperados e contribuição</a:t>
            </a:r>
            <a:endParaRPr lang="en-US" sz="3200" dirty="0"/>
          </a:p>
        </p:txBody>
      </p:sp>
      <p:sp>
        <p:nvSpPr>
          <p:cNvPr id="3" name="Outcome column 1"/>
          <p:cNvSpPr/>
          <p:nvPr/>
        </p:nvSpPr>
        <p:spPr>
          <a:xfrm>
            <a:off x="548640" y="1463040"/>
            <a:ext cx="3520440" cy="4480560"/>
          </a:xfrm>
          <a:prstGeom prst="roundRect">
            <a:avLst>
              <a:gd name="adj" fmla="val 3117"/>
            </a:avLst>
          </a:prstGeom>
          <a:solidFill>
            <a:schemeClr val="bg2"/>
          </a:solidFill>
          <a:ln w="12700">
            <a:solidFill>
              <a:schemeClr val="bg2"/>
            </a:solidFill>
            <a:prstDash val="solid"/>
          </a:ln>
        </p:spPr>
      </p:sp>
      <p:sp>
        <p:nvSpPr>
          <p:cNvPr id="4" name="Icon circle"/>
          <p:cNvSpPr/>
          <p:nvPr/>
        </p:nvSpPr>
        <p:spPr>
          <a:xfrm>
            <a:off x="822960" y="1737360"/>
            <a:ext cx="548640" cy="548640"/>
          </a:xfrm>
          <a:prstGeom prst="ellipse">
            <a:avLst/>
          </a:prstGeom>
          <a:solidFill>
            <a:schemeClr val="accent2"/>
          </a:solidFill>
          <a:ln w="12700">
            <a:solidFill>
              <a:schemeClr val="accent2"/>
            </a:solidFill>
            <a:prstDash val="solid"/>
          </a:ln>
        </p:spPr>
      </p:sp>
      <p:pic>
        <p:nvPicPr>
          <p:cNvPr id="5" name="Image 0" descr="FaFileAlt">    </p:cNvPr>
          <p:cNvPicPr>
            <a:picLocks noChangeAspect="1"/>
          </p:cNvPicPr>
          <p:nvPr/>
        </p:nvPicPr>
        <p:blipFill>
          <a:blip r:embed="rId1"/>
          <a:stretch>
            <a:fillRect/>
          </a:stretch>
        </p:blipFill>
        <p:spPr>
          <a:xfrm>
            <a:off x="960120" y="1874520"/>
            <a:ext cx="274320" cy="274320"/>
          </a:xfrm>
          <a:prstGeom prst="rect">
            <a:avLst/>
          </a:prstGeom>
        </p:spPr>
      </p:pic>
      <p:sp>
        <p:nvSpPr>
          <p:cNvPr id="6" name="Text 3"/>
          <p:cNvSpPr txBox="1"/>
          <p:nvPr/>
        </p:nvSpPr>
        <p:spPr>
          <a:xfrm>
            <a:off x="1554480" y="1737360"/>
            <a:ext cx="233172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O que o estudo entrega</a:t>
            </a:r>
            <a:endParaRPr lang="en-US" sz="2000" dirty="0"/>
          </a:p>
        </p:txBody>
      </p:sp>
      <p:sp>
        <p:nvSpPr>
          <p:cNvPr id="7" name="Text 4"/>
          <p:cNvSpPr txBox="1"/>
          <p:nvPr/>
        </p:nvSpPr>
        <p:spPr>
          <a:xfrm>
            <a:off x="822960" y="2560320"/>
            <a:ext cx="3017520" cy="329184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chemeClr val="tx1"/>
                </a:solidFill>
              </a:rPr>
              <a:t>Ganho, encargo, saldo e razão de eólicas, solares e UHEs, por cenário</a:t>
            </a:r>
            <a:endParaRPr lang="en-US" sz="1600" dirty="0"/>
          </a:p>
          <a:p>
            <a:pPr marL="342900" indent="-342900">
              <a:spcAft>
                <a:spcPts val="1400"/>
              </a:spcAft>
              <a:buSzPct val="100000"/>
              <a:buChar char="•"/>
            </a:pPr>
            <a:r>
              <a:rPr lang="en-US" sz="1600" dirty="0">
                <a:solidFill>
                  <a:schemeClr val="tx1"/>
                </a:solidFill>
              </a:rPr>
              <a:t>Ponto de equilíbrio de cada fonte</a:t>
            </a:r>
            <a:endParaRPr lang="en-US" sz="1600" dirty="0"/>
          </a:p>
          <a:p>
            <a:pPr marL="342900" indent="-342900">
              <a:spcAft>
                <a:spcPts val="1400"/>
              </a:spcAft>
              <a:buSzPct val="100000"/>
              <a:buChar char="•"/>
            </a:pPr>
            <a:r>
              <a:rPr lang="en-US" sz="1600" dirty="0">
                <a:solidFill>
                  <a:schemeClr val="tx1"/>
                </a:solidFill>
              </a:rPr>
              <a:t>Condições em que cada fonte ganha ou perde</a:t>
            </a:r>
            <a:endParaRPr lang="en-US" sz="1600" dirty="0"/>
          </a:p>
        </p:txBody>
      </p:sp>
      <p:sp>
        <p:nvSpPr>
          <p:cNvPr id="8" name="Outcome column 2"/>
          <p:cNvSpPr/>
          <p:nvPr/>
        </p:nvSpPr>
        <p:spPr>
          <a:xfrm>
            <a:off x="4334256" y="1463040"/>
            <a:ext cx="3520440" cy="4480560"/>
          </a:xfrm>
          <a:prstGeom prst="roundRect">
            <a:avLst>
              <a:gd name="adj" fmla="val 3117"/>
            </a:avLst>
          </a:prstGeom>
          <a:solidFill>
            <a:schemeClr val="bg2"/>
          </a:solidFill>
          <a:ln w="12700">
            <a:solidFill>
              <a:schemeClr val="bg2"/>
            </a:solidFill>
            <a:prstDash val="solid"/>
          </a:ln>
        </p:spPr>
      </p:sp>
      <p:sp>
        <p:nvSpPr>
          <p:cNvPr id="9" name="Icon circle"/>
          <p:cNvSpPr/>
          <p:nvPr/>
        </p:nvSpPr>
        <p:spPr>
          <a:xfrm>
            <a:off x="4608576" y="1737360"/>
            <a:ext cx="548640" cy="548640"/>
          </a:xfrm>
          <a:prstGeom prst="ellipse">
            <a:avLst/>
          </a:prstGeom>
          <a:solidFill>
            <a:schemeClr val="accent1"/>
          </a:solidFill>
          <a:ln w="12700">
            <a:solidFill>
              <a:schemeClr val="accent1"/>
            </a:solidFill>
            <a:prstDash val="solid"/>
          </a:ln>
        </p:spPr>
      </p:sp>
      <p:pic>
        <p:nvPicPr>
          <p:cNvPr id="10" name="Image 1" descr="FaLightbulb">    </p:cNvPr>
          <p:cNvPicPr>
            <a:picLocks noChangeAspect="1"/>
          </p:cNvPicPr>
          <p:nvPr/>
        </p:nvPicPr>
        <p:blipFill>
          <a:blip r:embed="rId2"/>
          <a:stretch>
            <a:fillRect/>
          </a:stretch>
        </p:blipFill>
        <p:spPr>
          <a:xfrm>
            <a:off x="4745736" y="1874520"/>
            <a:ext cx="274320" cy="274320"/>
          </a:xfrm>
          <a:prstGeom prst="rect">
            <a:avLst/>
          </a:prstGeom>
        </p:spPr>
      </p:pic>
      <p:sp>
        <p:nvSpPr>
          <p:cNvPr id="11" name="Text 7"/>
          <p:cNvSpPr txBox="1"/>
          <p:nvPr/>
        </p:nvSpPr>
        <p:spPr>
          <a:xfrm>
            <a:off x="5340096" y="1737360"/>
            <a:ext cx="233172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Contribuição</a:t>
            </a:r>
            <a:endParaRPr lang="en-US" sz="2000" dirty="0"/>
          </a:p>
        </p:txBody>
      </p:sp>
      <p:sp>
        <p:nvSpPr>
          <p:cNvPr id="12" name="Text 8"/>
          <p:cNvSpPr txBox="1"/>
          <p:nvPr/>
        </p:nvSpPr>
        <p:spPr>
          <a:xfrm>
            <a:off x="4608576" y="2560320"/>
            <a:ext cx="3017520" cy="329184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chemeClr val="tx1"/>
                </a:solidFill>
              </a:rPr>
              <a:t>Evidência por fonte para o debate sobre o rateio do Ercap</a:t>
            </a:r>
            <a:endParaRPr lang="en-US" sz="1600" dirty="0"/>
          </a:p>
          <a:p>
            <a:pPr marL="342900" indent="-342900">
              <a:spcAft>
                <a:spcPts val="1400"/>
              </a:spcAft>
              <a:buSzPct val="100000"/>
              <a:buChar char="•"/>
            </a:pPr>
            <a:r>
              <a:rPr lang="en-US" sz="1600" dirty="0">
                <a:solidFill>
                  <a:schemeClr val="tx1"/>
                </a:solidFill>
              </a:rPr>
              <a:t>Subsídio à ANEEL, que ainda define a fórmula</a:t>
            </a:r>
            <a:endParaRPr lang="en-US" sz="1600" dirty="0"/>
          </a:p>
          <a:p>
            <a:pPr marL="342900" indent="-342900">
              <a:spcAft>
                <a:spcPts val="1400"/>
              </a:spcAft>
              <a:buSzPct val="100000"/>
              <a:buChar char="•"/>
            </a:pPr>
            <a:r>
              <a:rPr lang="en-US" sz="1600" dirty="0">
                <a:solidFill>
                  <a:schemeClr val="tx1"/>
                </a:solidFill>
              </a:rPr>
              <a:t>Método replicável para outros níveis de MMGD</a:t>
            </a:r>
            <a:endParaRPr lang="en-US" sz="1600" dirty="0"/>
          </a:p>
        </p:txBody>
      </p:sp>
      <p:sp>
        <p:nvSpPr>
          <p:cNvPr id="13" name="Outcome column 3"/>
          <p:cNvSpPr/>
          <p:nvPr/>
        </p:nvSpPr>
        <p:spPr>
          <a:xfrm>
            <a:off x="8119872" y="1463040"/>
            <a:ext cx="3520440" cy="4480560"/>
          </a:xfrm>
          <a:prstGeom prst="roundRect">
            <a:avLst>
              <a:gd name="adj" fmla="val 3117"/>
            </a:avLst>
          </a:prstGeom>
          <a:solidFill>
            <a:schemeClr val="bg2"/>
          </a:solidFill>
          <a:ln w="12700">
            <a:solidFill>
              <a:schemeClr val="bg2"/>
            </a:solidFill>
            <a:prstDash val="solid"/>
          </a:ln>
        </p:spPr>
      </p:sp>
      <p:sp>
        <p:nvSpPr>
          <p:cNvPr id="14" name="Icon circle"/>
          <p:cNvSpPr/>
          <p:nvPr/>
        </p:nvSpPr>
        <p:spPr>
          <a:xfrm>
            <a:off x="8394192" y="1737360"/>
            <a:ext cx="548640" cy="548640"/>
          </a:xfrm>
          <a:prstGeom prst="ellipse">
            <a:avLst/>
          </a:prstGeom>
          <a:solidFill>
            <a:schemeClr val="accent4"/>
          </a:solidFill>
          <a:ln w="12700">
            <a:solidFill>
              <a:schemeClr val="accent4"/>
            </a:solidFill>
            <a:prstDash val="solid"/>
          </a:ln>
        </p:spPr>
      </p:sp>
      <p:pic>
        <p:nvPicPr>
          <p:cNvPr id="15" name="Image 2" descr="FaSearch">    </p:cNvPr>
          <p:cNvPicPr>
            <a:picLocks noChangeAspect="1"/>
          </p:cNvPicPr>
          <p:nvPr/>
        </p:nvPicPr>
        <p:blipFill>
          <a:blip r:embed="rId3"/>
          <a:stretch>
            <a:fillRect/>
          </a:stretch>
        </p:blipFill>
        <p:spPr>
          <a:xfrm>
            <a:off x="8531352" y="1874520"/>
            <a:ext cx="274320" cy="274320"/>
          </a:xfrm>
          <a:prstGeom prst="rect">
            <a:avLst/>
          </a:prstGeom>
        </p:spPr>
      </p:pic>
      <p:sp>
        <p:nvSpPr>
          <p:cNvPr id="16" name="Text 11"/>
          <p:cNvSpPr txBox="1"/>
          <p:nvPr/>
        </p:nvSpPr>
        <p:spPr>
          <a:xfrm>
            <a:off x="9125712" y="1737360"/>
            <a:ext cx="233172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Limitações</a:t>
            </a:r>
            <a:endParaRPr lang="en-US" sz="2000" dirty="0"/>
          </a:p>
        </p:txBody>
      </p:sp>
      <p:sp>
        <p:nvSpPr>
          <p:cNvPr id="17" name="Text 12"/>
          <p:cNvSpPr txBox="1"/>
          <p:nvPr/>
        </p:nvSpPr>
        <p:spPr>
          <a:xfrm>
            <a:off x="8394192" y="2560320"/>
            <a:ext cx="3017520" cy="329184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chemeClr val="tx1"/>
                </a:solidFill>
              </a:rPr>
              <a:t>Receita fixa só será conhecida após o leilão</a:t>
            </a:r>
            <a:endParaRPr lang="en-US" sz="1600" dirty="0"/>
          </a:p>
          <a:p>
            <a:pPr marL="342900" indent="-342900">
              <a:spcAft>
                <a:spcPts val="1400"/>
              </a:spcAft>
              <a:buSzPct val="100000"/>
              <a:buChar char="•"/>
            </a:pPr>
            <a:r>
              <a:rPr lang="en-US" sz="1600" dirty="0">
                <a:solidFill>
                  <a:schemeClr val="tx1"/>
                </a:solidFill>
              </a:rPr>
              <a:t>Critérios dos patamares P1 a P4 não localizados</a:t>
            </a:r>
            <a:endParaRPr lang="en-US" sz="1600" dirty="0"/>
          </a:p>
          <a:p>
            <a:pPr marL="342900" indent="-342900">
              <a:spcAft>
                <a:spcPts val="1400"/>
              </a:spcAft>
              <a:buSzPct val="100000"/>
              <a:buChar char="•"/>
            </a:pPr>
            <a:r>
              <a:rPr lang="en-US" sz="1600" dirty="0">
                <a:solidFill>
                  <a:schemeClr val="tx1"/>
                </a:solidFill>
              </a:rPr>
              <a:t>Preço de valoração e ressarcimento de cortes alteram o ganho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Quem paga: base legal e regulatória</a:t>
            </a:r>
            <a:endParaRPr lang="en-US" sz="3200" dirty="0"/>
          </a:p>
        </p:txBody>
      </p:sp>
      <p:sp>
        <p:nvSpPr>
          <p:cNvPr id="3" name="Date chip 1"/>
          <p:cNvSpPr/>
          <p:nvPr/>
        </p:nvSpPr>
        <p:spPr>
          <a:xfrm>
            <a:off x="548640" y="1417320"/>
            <a:ext cx="1828800" cy="1097280"/>
          </a:xfrm>
          <a:prstGeom prst="roundRect">
            <a:avLst>
              <a:gd name="adj" fmla="val 8333"/>
            </a:avLst>
          </a:prstGeom>
          <a:solidFill>
            <a:schemeClr val="tx2"/>
          </a:solidFill>
          <a:ln w="12700">
            <a:solidFill>
              <a:schemeClr val="tx2"/>
            </a:solidFill>
            <a:prstDash val="solid"/>
          </a:ln>
        </p:spPr>
      </p:sp>
      <p:sp>
        <p:nvSpPr>
          <p:cNvPr id="4" name="Text 2"/>
          <p:cNvSpPr txBox="1"/>
          <p:nvPr/>
        </p:nvSpPr>
        <p:spPr>
          <a:xfrm>
            <a:off x="548640" y="1417320"/>
            <a:ext cx="1828800" cy="109728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24/11/2025</a:t>
            </a:r>
            <a:endParaRPr lang="en-US" sz="1600" dirty="0"/>
          </a:p>
        </p:txBody>
      </p:sp>
      <p:sp>
        <p:nvSpPr>
          <p:cNvPr id="5" name="Legal card 1"/>
          <p:cNvSpPr/>
          <p:nvPr/>
        </p:nvSpPr>
        <p:spPr>
          <a:xfrm>
            <a:off x="2606040" y="1417320"/>
            <a:ext cx="9037015" cy="1097280"/>
          </a:xfrm>
          <a:prstGeom prst="roundRect">
            <a:avLst>
              <a:gd name="adj" fmla="val 10000"/>
            </a:avLst>
          </a:prstGeom>
          <a:solidFill>
            <a:schemeClr val="bg2"/>
          </a:solidFill>
          <a:ln w="12700">
            <a:solidFill>
              <a:schemeClr val="bg2"/>
            </a:solidFill>
            <a:prstDash val="solid"/>
          </a:ln>
        </p:spPr>
      </p:sp>
      <p:sp>
        <p:nvSpPr>
          <p:cNvPr id="6" name="Icon circle"/>
          <p:cNvSpPr/>
          <p:nvPr/>
        </p:nvSpPr>
        <p:spPr>
          <a:xfrm>
            <a:off x="2834640" y="1673352"/>
            <a:ext cx="585216" cy="585216"/>
          </a:xfrm>
          <a:prstGeom prst="ellipse">
            <a:avLst/>
          </a:prstGeom>
          <a:solidFill>
            <a:schemeClr val="accent1"/>
          </a:solidFill>
          <a:ln w="12700">
            <a:solidFill>
              <a:schemeClr val="accent1"/>
            </a:solidFill>
            <a:prstDash val="solid"/>
          </a:ln>
        </p:spPr>
      </p:sp>
      <p:pic>
        <p:nvPicPr>
          <p:cNvPr id="7" name="Image 0" descr="FaGavel">    </p:cNvPr>
          <p:cNvPicPr>
            <a:picLocks noChangeAspect="1"/>
          </p:cNvPicPr>
          <p:nvPr/>
        </p:nvPicPr>
        <p:blipFill>
          <a:blip r:embed="rId1"/>
          <a:stretch>
            <a:fillRect/>
          </a:stretch>
        </p:blipFill>
        <p:spPr>
          <a:xfrm>
            <a:off x="2980944" y="1819656"/>
            <a:ext cx="292608" cy="292608"/>
          </a:xfrm>
          <a:prstGeom prst="rect">
            <a:avLst/>
          </a:prstGeom>
        </p:spPr>
      </p:pic>
      <p:sp>
        <p:nvSpPr>
          <p:cNvPr id="8" name="Text 5"/>
          <p:cNvSpPr txBox="1"/>
          <p:nvPr/>
        </p:nvSpPr>
        <p:spPr>
          <a:xfrm>
            <a:off x="3657600" y="1527048"/>
            <a:ext cx="786384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Lei 15.269/2025</a:t>
            </a:r>
            <a:endParaRPr lang="en-US" sz="1800" dirty="0"/>
          </a:p>
        </p:txBody>
      </p:sp>
      <p:sp>
        <p:nvSpPr>
          <p:cNvPr id="9" name="Text 6"/>
          <p:cNvSpPr txBox="1"/>
          <p:nvPr/>
        </p:nvSpPr>
        <p:spPr>
          <a:xfrm>
            <a:off x="3657600" y="1920240"/>
            <a:ext cx="7863840" cy="548640"/>
          </a:xfrm>
          <a:prstGeom prst="rect">
            <a:avLst/>
          </a:prstGeom>
          <a:noFill/>
          <a:ln/>
        </p:spPr>
        <p:txBody>
          <a:bodyPr wrap="square" lIns="0" tIns="0" rIns="0" bIns="0" rtlCol="0" anchor="t"/>
          <a:lstStyle/>
          <a:p>
            <a:pPr indent="0" marL="0">
              <a:buNone/>
            </a:pPr>
            <a:r>
              <a:rPr lang="en-US" sz="1400" dirty="0">
                <a:solidFill>
                  <a:schemeClr val="tx2"/>
                </a:solidFill>
              </a:rPr>
              <a:t>Inclui o § 6º no art. 3º-A da Lei 10.848/2004: o custo da contratação de baterias é rateado apenas entre os agentes de geração, conforme regulamentação da ANEEL.</a:t>
            </a:r>
            <a:endParaRPr lang="en-US" sz="1400" dirty="0"/>
          </a:p>
        </p:txBody>
      </p:sp>
      <p:sp>
        <p:nvSpPr>
          <p:cNvPr id="10" name="Date chip 2"/>
          <p:cNvSpPr/>
          <p:nvPr/>
        </p:nvSpPr>
        <p:spPr>
          <a:xfrm>
            <a:off x="548640" y="2651760"/>
            <a:ext cx="1828800" cy="1097280"/>
          </a:xfrm>
          <a:prstGeom prst="roundRect">
            <a:avLst>
              <a:gd name="adj" fmla="val 8333"/>
            </a:avLst>
          </a:prstGeom>
          <a:solidFill>
            <a:schemeClr val="tx2"/>
          </a:solidFill>
          <a:ln w="12700">
            <a:solidFill>
              <a:schemeClr val="tx2"/>
            </a:solidFill>
            <a:prstDash val="solid"/>
          </a:ln>
        </p:spPr>
      </p:sp>
      <p:sp>
        <p:nvSpPr>
          <p:cNvPr id="11" name="Text 8"/>
          <p:cNvSpPr txBox="1"/>
          <p:nvPr/>
        </p:nvSpPr>
        <p:spPr>
          <a:xfrm>
            <a:off x="548640" y="2651760"/>
            <a:ext cx="1828800" cy="109728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Jun/2026</a:t>
            </a:r>
            <a:endParaRPr lang="en-US" sz="1600" dirty="0"/>
          </a:p>
        </p:txBody>
      </p:sp>
      <p:sp>
        <p:nvSpPr>
          <p:cNvPr id="12" name="Legal card 2"/>
          <p:cNvSpPr/>
          <p:nvPr/>
        </p:nvSpPr>
        <p:spPr>
          <a:xfrm>
            <a:off x="2606040" y="2651760"/>
            <a:ext cx="9037015" cy="1097280"/>
          </a:xfrm>
          <a:prstGeom prst="roundRect">
            <a:avLst>
              <a:gd name="adj" fmla="val 10000"/>
            </a:avLst>
          </a:prstGeom>
          <a:solidFill>
            <a:schemeClr val="bg2"/>
          </a:solidFill>
          <a:ln w="12700">
            <a:solidFill>
              <a:schemeClr val="bg2"/>
            </a:solidFill>
            <a:prstDash val="solid"/>
          </a:ln>
        </p:spPr>
      </p:sp>
      <p:sp>
        <p:nvSpPr>
          <p:cNvPr id="13" name="Icon circle"/>
          <p:cNvSpPr/>
          <p:nvPr/>
        </p:nvSpPr>
        <p:spPr>
          <a:xfrm>
            <a:off x="2834640" y="2907792"/>
            <a:ext cx="585216" cy="585216"/>
          </a:xfrm>
          <a:prstGeom prst="ellipse">
            <a:avLst/>
          </a:prstGeom>
          <a:solidFill>
            <a:schemeClr val="accent2"/>
          </a:solidFill>
          <a:ln w="12700">
            <a:solidFill>
              <a:schemeClr val="accent2"/>
            </a:solidFill>
            <a:prstDash val="solid"/>
          </a:ln>
        </p:spPr>
      </p:sp>
      <p:pic>
        <p:nvPicPr>
          <p:cNvPr id="14" name="Image 1" descr="FaFileAlt">    </p:cNvPr>
          <p:cNvPicPr>
            <a:picLocks noChangeAspect="1"/>
          </p:cNvPicPr>
          <p:nvPr/>
        </p:nvPicPr>
        <p:blipFill>
          <a:blip r:embed="rId2"/>
          <a:stretch>
            <a:fillRect/>
          </a:stretch>
        </p:blipFill>
        <p:spPr>
          <a:xfrm>
            <a:off x="2980944" y="3054096"/>
            <a:ext cx="292608" cy="292608"/>
          </a:xfrm>
          <a:prstGeom prst="rect">
            <a:avLst/>
          </a:prstGeom>
        </p:spPr>
      </p:pic>
      <p:sp>
        <p:nvSpPr>
          <p:cNvPr id="15" name="Text 11"/>
          <p:cNvSpPr txBox="1"/>
          <p:nvPr/>
        </p:nvSpPr>
        <p:spPr>
          <a:xfrm>
            <a:off x="3657600" y="2761488"/>
            <a:ext cx="786384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Portaria GM/MME 136/2026</a:t>
            </a:r>
            <a:endParaRPr lang="en-US" sz="1800" dirty="0"/>
          </a:p>
        </p:txBody>
      </p:sp>
      <p:sp>
        <p:nvSpPr>
          <p:cNvPr id="16" name="Text 12"/>
          <p:cNvSpPr txBox="1"/>
          <p:nvPr/>
        </p:nvSpPr>
        <p:spPr>
          <a:xfrm>
            <a:off x="3657600" y="3154680"/>
            <a:ext cx="7863840" cy="548640"/>
          </a:xfrm>
          <a:prstGeom prst="rect">
            <a:avLst/>
          </a:prstGeom>
          <a:noFill/>
          <a:ln/>
        </p:spPr>
        <p:txBody>
          <a:bodyPr wrap="square" lIns="0" tIns="0" rIns="0" bIns="0" rtlCol="0" anchor="t"/>
          <a:lstStyle/>
          <a:p>
            <a:pPr indent="0" marL="0">
              <a:buNone/>
            </a:pPr>
            <a:r>
              <a:rPr lang="en-US" sz="1400" dirty="0">
                <a:solidFill>
                  <a:schemeClr val="tx2"/>
                </a:solidFill>
              </a:rPr>
              <a:t>Diretrizes do LRCAP armazenamento: leilões em 2 e 4/12/2026, contratos de 15 anos desde 1/8/2028, mínimo de 30 MW, 4 h de descarga e eficiência de 85%.</a:t>
            </a:r>
            <a:endParaRPr lang="en-US" sz="1400" dirty="0"/>
          </a:p>
        </p:txBody>
      </p:sp>
      <p:sp>
        <p:nvSpPr>
          <p:cNvPr id="17" name="Date chip 3"/>
          <p:cNvSpPr/>
          <p:nvPr/>
        </p:nvSpPr>
        <p:spPr>
          <a:xfrm>
            <a:off x="548640" y="3886200"/>
            <a:ext cx="1828800" cy="1097280"/>
          </a:xfrm>
          <a:prstGeom prst="roundRect">
            <a:avLst>
              <a:gd name="adj" fmla="val 8333"/>
            </a:avLst>
          </a:prstGeom>
          <a:solidFill>
            <a:schemeClr val="tx2"/>
          </a:solidFill>
          <a:ln w="12700">
            <a:solidFill>
              <a:schemeClr val="tx2"/>
            </a:solidFill>
            <a:prstDash val="solid"/>
          </a:ln>
        </p:spPr>
      </p:sp>
      <p:sp>
        <p:nvSpPr>
          <p:cNvPr id="18" name="Text 14"/>
          <p:cNvSpPr txBox="1"/>
          <p:nvPr/>
        </p:nvSpPr>
        <p:spPr>
          <a:xfrm>
            <a:off x="548640" y="3886200"/>
            <a:ext cx="1828800" cy="109728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8/10/2026</a:t>
            </a:r>
            <a:endParaRPr lang="en-US" sz="1600" dirty="0"/>
          </a:p>
        </p:txBody>
      </p:sp>
      <p:sp>
        <p:nvSpPr>
          <p:cNvPr id="19" name="Legal card 3"/>
          <p:cNvSpPr/>
          <p:nvPr/>
        </p:nvSpPr>
        <p:spPr>
          <a:xfrm>
            <a:off x="2606040" y="3886200"/>
            <a:ext cx="9037015" cy="1097280"/>
          </a:xfrm>
          <a:prstGeom prst="roundRect">
            <a:avLst>
              <a:gd name="adj" fmla="val 10000"/>
            </a:avLst>
          </a:prstGeom>
          <a:solidFill>
            <a:schemeClr val="bg2"/>
          </a:solidFill>
          <a:ln w="12700">
            <a:solidFill>
              <a:schemeClr val="bg2"/>
            </a:solidFill>
            <a:prstDash val="solid"/>
          </a:ln>
        </p:spPr>
      </p:sp>
      <p:sp>
        <p:nvSpPr>
          <p:cNvPr id="20" name="Icon circle"/>
          <p:cNvSpPr/>
          <p:nvPr/>
        </p:nvSpPr>
        <p:spPr>
          <a:xfrm>
            <a:off x="2834640" y="4142232"/>
            <a:ext cx="585216" cy="585216"/>
          </a:xfrm>
          <a:prstGeom prst="ellipse">
            <a:avLst/>
          </a:prstGeom>
          <a:solidFill>
            <a:schemeClr val="accent3"/>
          </a:solidFill>
          <a:ln w="12700">
            <a:solidFill>
              <a:schemeClr val="accent3"/>
            </a:solidFill>
            <a:prstDash val="solid"/>
          </a:ln>
        </p:spPr>
      </p:sp>
      <p:pic>
        <p:nvPicPr>
          <p:cNvPr id="21" name="Image 2" descr="FaBalanceScale">    </p:cNvPr>
          <p:cNvPicPr>
            <a:picLocks noChangeAspect="1"/>
          </p:cNvPicPr>
          <p:nvPr/>
        </p:nvPicPr>
        <p:blipFill>
          <a:blip r:embed="rId3"/>
          <a:stretch>
            <a:fillRect/>
          </a:stretch>
        </p:blipFill>
        <p:spPr>
          <a:xfrm>
            <a:off x="2980944" y="4288536"/>
            <a:ext cx="292608" cy="292608"/>
          </a:xfrm>
          <a:prstGeom prst="rect">
            <a:avLst/>
          </a:prstGeom>
        </p:spPr>
      </p:pic>
      <p:sp>
        <p:nvSpPr>
          <p:cNvPr id="22" name="Text 17"/>
          <p:cNvSpPr txBox="1"/>
          <p:nvPr/>
        </p:nvSpPr>
        <p:spPr>
          <a:xfrm>
            <a:off x="3657600" y="3995928"/>
            <a:ext cx="786384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Consulta Pública 37/2026 (ANEEL)</a:t>
            </a:r>
            <a:endParaRPr lang="en-US" sz="1800" dirty="0"/>
          </a:p>
        </p:txBody>
      </p:sp>
      <p:sp>
        <p:nvSpPr>
          <p:cNvPr id="23" name="Text 18"/>
          <p:cNvSpPr txBox="1"/>
          <p:nvPr/>
        </p:nvSpPr>
        <p:spPr>
          <a:xfrm>
            <a:off x="3657600" y="4389120"/>
            <a:ext cx="7863840" cy="548640"/>
          </a:xfrm>
          <a:prstGeom prst="rect">
            <a:avLst/>
          </a:prstGeom>
          <a:noFill/>
          <a:ln/>
        </p:spPr>
        <p:txBody>
          <a:bodyPr wrap="square" lIns="0" tIns="0" rIns="0" bIns="0" rtlCol="0" anchor="t"/>
          <a:lstStyle/>
          <a:p>
            <a:pPr indent="0" marL="0">
              <a:buNone/>
            </a:pPr>
            <a:r>
              <a:rPr lang="en-US" sz="1400" dirty="0">
                <a:solidFill>
                  <a:schemeClr val="tx2"/>
                </a:solidFill>
              </a:rPr>
              <a:t>A Nota Técnica 101/2026 propõe a base de custeio e a metodologia de rateio do Ercap-SAE. Contribuições até 6/11/2026.</a:t>
            </a:r>
            <a:endParaRPr lang="en-US" sz="1400" dirty="0"/>
          </a:p>
        </p:txBody>
      </p:sp>
      <p:sp>
        <p:nvSpPr>
          <p:cNvPr id="24" name="Date chip 4"/>
          <p:cNvSpPr/>
          <p:nvPr/>
        </p:nvSpPr>
        <p:spPr>
          <a:xfrm>
            <a:off x="548640" y="5120640"/>
            <a:ext cx="1828800" cy="1097280"/>
          </a:xfrm>
          <a:prstGeom prst="roundRect">
            <a:avLst>
              <a:gd name="adj" fmla="val 8333"/>
            </a:avLst>
          </a:prstGeom>
          <a:solidFill>
            <a:schemeClr val="tx2"/>
          </a:solidFill>
          <a:ln w="12700">
            <a:solidFill>
              <a:schemeClr val="tx2"/>
            </a:solidFill>
            <a:prstDash val="solid"/>
          </a:ln>
        </p:spPr>
      </p:sp>
      <p:sp>
        <p:nvSpPr>
          <p:cNvPr id="25" name="Text 20"/>
          <p:cNvSpPr txBox="1"/>
          <p:nvPr/>
        </p:nvSpPr>
        <p:spPr>
          <a:xfrm>
            <a:off x="548640" y="5120640"/>
            <a:ext cx="1828800" cy="109728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Em tramitação</a:t>
            </a:r>
            <a:endParaRPr lang="en-US" sz="1600" dirty="0"/>
          </a:p>
        </p:txBody>
      </p:sp>
      <p:sp>
        <p:nvSpPr>
          <p:cNvPr id="26" name="Legal card 4"/>
          <p:cNvSpPr/>
          <p:nvPr/>
        </p:nvSpPr>
        <p:spPr>
          <a:xfrm>
            <a:off x="2606040" y="5120640"/>
            <a:ext cx="9037015" cy="1097280"/>
          </a:xfrm>
          <a:prstGeom prst="roundRect">
            <a:avLst>
              <a:gd name="adj" fmla="val 10000"/>
            </a:avLst>
          </a:prstGeom>
          <a:solidFill>
            <a:schemeClr val="bg2"/>
          </a:solidFill>
          <a:ln w="12700">
            <a:solidFill>
              <a:schemeClr val="bg2"/>
            </a:solidFill>
            <a:prstDash val="solid"/>
          </a:ln>
        </p:spPr>
      </p:sp>
      <p:sp>
        <p:nvSpPr>
          <p:cNvPr id="27" name="Icon circle"/>
          <p:cNvSpPr/>
          <p:nvPr/>
        </p:nvSpPr>
        <p:spPr>
          <a:xfrm>
            <a:off x="2834640" y="5376672"/>
            <a:ext cx="585216" cy="585216"/>
          </a:xfrm>
          <a:prstGeom prst="ellipse">
            <a:avLst/>
          </a:prstGeom>
          <a:solidFill>
            <a:schemeClr val="accent4"/>
          </a:solidFill>
          <a:ln w="12700">
            <a:solidFill>
              <a:schemeClr val="accent4"/>
            </a:solidFill>
            <a:prstDash val="solid"/>
          </a:ln>
        </p:spPr>
      </p:sp>
      <p:pic>
        <p:nvPicPr>
          <p:cNvPr id="28" name="Image 3" descr="FaUsers">    </p:cNvPr>
          <p:cNvPicPr>
            <a:picLocks noChangeAspect="1"/>
          </p:cNvPicPr>
          <p:nvPr/>
        </p:nvPicPr>
        <p:blipFill>
          <a:blip r:embed="rId4"/>
          <a:stretch>
            <a:fillRect/>
          </a:stretch>
        </p:blipFill>
        <p:spPr>
          <a:xfrm>
            <a:off x="2980944" y="5522976"/>
            <a:ext cx="292608" cy="292608"/>
          </a:xfrm>
          <a:prstGeom prst="rect">
            <a:avLst/>
          </a:prstGeom>
        </p:spPr>
      </p:pic>
      <p:sp>
        <p:nvSpPr>
          <p:cNvPr id="29" name="Text 23"/>
          <p:cNvSpPr txBox="1"/>
          <p:nvPr/>
        </p:nvSpPr>
        <p:spPr>
          <a:xfrm>
            <a:off x="3657600" y="5230368"/>
            <a:ext cx="786384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PL 3.716/2026 e PL 5.017/2019</a:t>
            </a:r>
            <a:endParaRPr lang="en-US" sz="1800" dirty="0"/>
          </a:p>
        </p:txBody>
      </p:sp>
      <p:sp>
        <p:nvSpPr>
          <p:cNvPr id="30" name="Text 24"/>
          <p:cNvSpPr txBox="1"/>
          <p:nvPr/>
        </p:nvSpPr>
        <p:spPr>
          <a:xfrm>
            <a:off x="3657600" y="5623560"/>
            <a:ext cx="7863840" cy="548640"/>
          </a:xfrm>
          <a:prstGeom prst="rect">
            <a:avLst/>
          </a:prstGeom>
          <a:noFill/>
          <a:ln/>
        </p:spPr>
        <p:txBody>
          <a:bodyPr wrap="square" lIns="0" tIns="0" rIns="0" bIns="0" rtlCol="0" anchor="t"/>
          <a:lstStyle/>
          <a:p>
            <a:pPr indent="0" marL="0">
              <a:buNone/>
            </a:pPr>
            <a:r>
              <a:rPr lang="en-US" sz="1400" dirty="0">
                <a:solidFill>
                  <a:schemeClr val="tx2"/>
                </a:solidFill>
              </a:rPr>
              <a:t>Propõem revogar o rateio apenas entre geradores e incluir os consumidores na cobrança do encargo.</a:t>
            </a:r>
            <a:endParaRPr lang="en-US" sz="1400" dirty="0"/>
          </a:p>
        </p:txBody>
      </p:sp>
      <p:sp>
        <p:nvSpPr>
          <p:cNvPr id="31" name="Text 25"/>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Fontes: Lei 15.269/2025; Canal Solar e MME (2026); ANEEL, CP 37/2026 e NT 101/2026-SGM; CNN Brasil (2026); TAGD Law (2026).</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Da receita fixa ao encargo das fontes</a:t>
            </a:r>
            <a:endParaRPr lang="en-US" sz="3200" dirty="0"/>
          </a:p>
        </p:txBody>
      </p:sp>
      <p:sp>
        <p:nvSpPr>
          <p:cNvPr id="3" name="Mechanism step 1"/>
          <p:cNvSpPr/>
          <p:nvPr/>
        </p:nvSpPr>
        <p:spPr>
          <a:xfrm>
            <a:off x="548640" y="1463040"/>
            <a:ext cx="1965960" cy="2560320"/>
          </a:xfrm>
          <a:prstGeom prst="roundRect">
            <a:avLst>
              <a:gd name="adj" fmla="val 5581"/>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4" name="Icon circle"/>
          <p:cNvSpPr/>
          <p:nvPr/>
        </p:nvSpPr>
        <p:spPr>
          <a:xfrm>
            <a:off x="777240" y="1691640"/>
            <a:ext cx="548640" cy="548640"/>
          </a:xfrm>
          <a:prstGeom prst="ellipse">
            <a:avLst/>
          </a:prstGeom>
          <a:solidFill>
            <a:schemeClr val="accent2"/>
          </a:solidFill>
          <a:ln w="12700">
            <a:solidFill>
              <a:schemeClr val="accent2"/>
            </a:solidFill>
            <a:prstDash val="solid"/>
          </a:ln>
        </p:spPr>
      </p:sp>
      <p:pic>
        <p:nvPicPr>
          <p:cNvPr id="5" name="Image 0" descr="FaGavel">    </p:cNvPr>
          <p:cNvPicPr>
            <a:picLocks noChangeAspect="1"/>
          </p:cNvPicPr>
          <p:nvPr/>
        </p:nvPicPr>
        <p:blipFill>
          <a:blip r:embed="rId1"/>
          <a:stretch>
            <a:fillRect/>
          </a:stretch>
        </p:blipFill>
        <p:spPr>
          <a:xfrm>
            <a:off x="914400" y="1828800"/>
            <a:ext cx="274320" cy="274320"/>
          </a:xfrm>
          <a:prstGeom prst="rect">
            <a:avLst/>
          </a:prstGeom>
        </p:spPr>
      </p:pic>
      <p:sp>
        <p:nvSpPr>
          <p:cNvPr id="6" name="Text 3"/>
          <p:cNvSpPr txBox="1"/>
          <p:nvPr/>
        </p:nvSpPr>
        <p:spPr>
          <a:xfrm>
            <a:off x="1920240" y="1645920"/>
            <a:ext cx="365760" cy="365760"/>
          </a:xfrm>
          <a:prstGeom prst="rect">
            <a:avLst/>
          </a:prstGeom>
          <a:noFill/>
          <a:ln/>
        </p:spPr>
        <p:txBody>
          <a:bodyPr wrap="square" lIns="0" tIns="0" rIns="0" bIns="0" rtlCol="0" anchor="t"/>
          <a:lstStyle/>
          <a:p>
            <a:pPr algn="r" indent="0" marL="0">
              <a:buNone/>
            </a:pPr>
            <a:r>
              <a:rPr lang="en-US" sz="1400" b="1" dirty="0">
                <a:solidFill>
                  <a:schemeClr val="tx2"/>
                </a:solidFill>
              </a:rPr>
              <a:t>1</a:t>
            </a:r>
            <a:endParaRPr lang="en-US" sz="1400" dirty="0"/>
          </a:p>
        </p:txBody>
      </p:sp>
      <p:sp>
        <p:nvSpPr>
          <p:cNvPr id="7" name="Text 4"/>
          <p:cNvSpPr txBox="1"/>
          <p:nvPr/>
        </p:nvSpPr>
        <p:spPr>
          <a:xfrm>
            <a:off x="777240" y="2377440"/>
            <a:ext cx="1554480" cy="594360"/>
          </a:xfrm>
          <a:prstGeom prst="rect">
            <a:avLst/>
          </a:prstGeom>
          <a:noFill/>
          <a:ln/>
        </p:spPr>
        <p:txBody>
          <a:bodyPr wrap="square" lIns="0" tIns="0" rIns="0" bIns="0" rtlCol="0" anchor="t"/>
          <a:lstStyle/>
          <a:p>
            <a:pPr indent="0" marL="0">
              <a:buNone/>
            </a:pPr>
            <a:r>
              <a:rPr lang="en-US" sz="1600" b="1" dirty="0">
                <a:solidFill>
                  <a:schemeClr val="tx1"/>
                </a:solidFill>
              </a:rPr>
              <a:t>Leilão LRCAP armazenamento</a:t>
            </a:r>
            <a:endParaRPr lang="en-US" sz="1600" dirty="0"/>
          </a:p>
        </p:txBody>
      </p:sp>
      <p:sp>
        <p:nvSpPr>
          <p:cNvPr id="8" name="Text 5"/>
          <p:cNvSpPr txBox="1"/>
          <p:nvPr/>
        </p:nvSpPr>
        <p:spPr>
          <a:xfrm>
            <a:off x="777240" y="3017520"/>
            <a:ext cx="1554480" cy="960120"/>
          </a:xfrm>
          <a:prstGeom prst="rect">
            <a:avLst/>
          </a:prstGeom>
          <a:noFill/>
          <a:ln/>
        </p:spPr>
        <p:txBody>
          <a:bodyPr wrap="square" lIns="0" tIns="0" rIns="0" bIns="0" rtlCol="0" anchor="t"/>
          <a:lstStyle/>
          <a:p>
            <a:pPr indent="0" marL="0">
              <a:buNone/>
            </a:pPr>
            <a:r>
              <a:rPr lang="en-US" sz="1400" dirty="0">
                <a:solidFill>
                  <a:schemeClr val="tx2"/>
                </a:solidFill>
              </a:rPr>
              <a:t>ANEEL e CCEE contratam potência de baterias (mín. 30 MW, 4 h)</a:t>
            </a:r>
            <a:endParaRPr lang="en-US" sz="1400" dirty="0"/>
          </a:p>
        </p:txBody>
      </p:sp>
      <p:sp>
        <p:nvSpPr>
          <p:cNvPr id="9" name="Arrow"/>
          <p:cNvSpPr/>
          <p:nvPr/>
        </p:nvSpPr>
        <p:spPr>
          <a:xfrm>
            <a:off x="2551176" y="2743200"/>
            <a:ext cx="237744" cy="0"/>
          </a:xfrm>
          <a:prstGeom prst="line">
            <a:avLst/>
          </a:prstGeom>
          <a:noFill/>
          <a:ln w="25400">
            <a:solidFill>
              <a:srgbClr val="5B6B80"/>
            </a:solidFill>
            <a:prstDash val="solid"/>
            <a:tailEnd type="triangle"/>
          </a:ln>
        </p:spPr>
      </p:sp>
      <p:sp>
        <p:nvSpPr>
          <p:cNvPr id="10" name="Mechanism step 2"/>
          <p:cNvSpPr/>
          <p:nvPr/>
        </p:nvSpPr>
        <p:spPr>
          <a:xfrm>
            <a:off x="2825496" y="1463040"/>
            <a:ext cx="1965960" cy="2560320"/>
          </a:xfrm>
          <a:prstGeom prst="roundRect">
            <a:avLst>
              <a:gd name="adj" fmla="val 5581"/>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1" name="Icon circle"/>
          <p:cNvSpPr/>
          <p:nvPr/>
        </p:nvSpPr>
        <p:spPr>
          <a:xfrm>
            <a:off x="3054096" y="1691640"/>
            <a:ext cx="548640" cy="548640"/>
          </a:xfrm>
          <a:prstGeom prst="ellipse">
            <a:avLst/>
          </a:prstGeom>
          <a:solidFill>
            <a:schemeClr val="accent2"/>
          </a:solidFill>
          <a:ln w="12700">
            <a:solidFill>
              <a:schemeClr val="accent2"/>
            </a:solidFill>
            <a:prstDash val="solid"/>
          </a:ln>
        </p:spPr>
      </p:sp>
      <p:pic>
        <p:nvPicPr>
          <p:cNvPr id="12" name="Image 1" descr="FaCoins">    </p:cNvPr>
          <p:cNvPicPr>
            <a:picLocks noChangeAspect="1"/>
          </p:cNvPicPr>
          <p:nvPr/>
        </p:nvPicPr>
        <p:blipFill>
          <a:blip r:embed="rId2"/>
          <a:stretch>
            <a:fillRect/>
          </a:stretch>
        </p:blipFill>
        <p:spPr>
          <a:xfrm>
            <a:off x="3191256" y="1828800"/>
            <a:ext cx="274320" cy="274320"/>
          </a:xfrm>
          <a:prstGeom prst="rect">
            <a:avLst/>
          </a:prstGeom>
        </p:spPr>
      </p:pic>
      <p:sp>
        <p:nvSpPr>
          <p:cNvPr id="13" name="Text 9"/>
          <p:cNvSpPr txBox="1"/>
          <p:nvPr/>
        </p:nvSpPr>
        <p:spPr>
          <a:xfrm>
            <a:off x="4197096" y="1645920"/>
            <a:ext cx="365760" cy="365760"/>
          </a:xfrm>
          <a:prstGeom prst="rect">
            <a:avLst/>
          </a:prstGeom>
          <a:noFill/>
          <a:ln/>
        </p:spPr>
        <p:txBody>
          <a:bodyPr wrap="square" lIns="0" tIns="0" rIns="0" bIns="0" rtlCol="0" anchor="t"/>
          <a:lstStyle/>
          <a:p>
            <a:pPr algn="r" indent="0" marL="0">
              <a:buNone/>
            </a:pPr>
            <a:r>
              <a:rPr lang="en-US" sz="1400" b="1" dirty="0">
                <a:solidFill>
                  <a:schemeClr val="tx2"/>
                </a:solidFill>
              </a:rPr>
              <a:t>2</a:t>
            </a:r>
            <a:endParaRPr lang="en-US" sz="1400" dirty="0"/>
          </a:p>
        </p:txBody>
      </p:sp>
      <p:sp>
        <p:nvSpPr>
          <p:cNvPr id="14" name="Text 10"/>
          <p:cNvSpPr txBox="1"/>
          <p:nvPr/>
        </p:nvSpPr>
        <p:spPr>
          <a:xfrm>
            <a:off x="3054096" y="2377440"/>
            <a:ext cx="1554480" cy="594360"/>
          </a:xfrm>
          <a:prstGeom prst="rect">
            <a:avLst/>
          </a:prstGeom>
          <a:noFill/>
          <a:ln/>
        </p:spPr>
        <p:txBody>
          <a:bodyPr wrap="square" lIns="0" tIns="0" rIns="0" bIns="0" rtlCol="0" anchor="t"/>
          <a:lstStyle/>
          <a:p>
            <a:pPr indent="0" marL="0">
              <a:buNone/>
            </a:pPr>
            <a:r>
              <a:rPr lang="en-US" sz="1600" b="1" dirty="0">
                <a:solidFill>
                  <a:schemeClr val="tx1"/>
                </a:solidFill>
              </a:rPr>
              <a:t>Receita fixa anual</a:t>
            </a:r>
            <a:endParaRPr lang="en-US" sz="1600" dirty="0"/>
          </a:p>
        </p:txBody>
      </p:sp>
      <p:sp>
        <p:nvSpPr>
          <p:cNvPr id="15" name="Text 11"/>
          <p:cNvSpPr txBox="1"/>
          <p:nvPr/>
        </p:nvSpPr>
        <p:spPr>
          <a:xfrm>
            <a:off x="3054096" y="3017520"/>
            <a:ext cx="1554480" cy="960120"/>
          </a:xfrm>
          <a:prstGeom prst="rect">
            <a:avLst/>
          </a:prstGeom>
          <a:noFill/>
          <a:ln/>
        </p:spPr>
        <p:txBody>
          <a:bodyPr wrap="square" lIns="0" tIns="0" rIns="0" bIns="0" rtlCol="0" anchor="t"/>
          <a:lstStyle/>
          <a:p>
            <a:pPr indent="0" marL="0">
              <a:buNone/>
            </a:pPr>
            <a:r>
              <a:rPr lang="en-US" sz="1400" dirty="0">
                <a:solidFill>
                  <a:schemeClr val="tx2"/>
                </a:solidFill>
              </a:rPr>
              <a:t>R$/ano em 12 parcelas mensais, reajustada pelo IPCA, por 15 anos</a:t>
            </a:r>
            <a:endParaRPr lang="en-US" sz="1400" dirty="0"/>
          </a:p>
        </p:txBody>
      </p:sp>
      <p:sp>
        <p:nvSpPr>
          <p:cNvPr id="16" name="Arrow"/>
          <p:cNvSpPr/>
          <p:nvPr/>
        </p:nvSpPr>
        <p:spPr>
          <a:xfrm>
            <a:off x="4828032" y="2743200"/>
            <a:ext cx="237744" cy="0"/>
          </a:xfrm>
          <a:prstGeom prst="line">
            <a:avLst/>
          </a:prstGeom>
          <a:noFill/>
          <a:ln w="25400">
            <a:solidFill>
              <a:srgbClr val="5B6B80"/>
            </a:solidFill>
            <a:prstDash val="solid"/>
            <a:tailEnd type="triangle"/>
          </a:ln>
        </p:spPr>
      </p:sp>
      <p:sp>
        <p:nvSpPr>
          <p:cNvPr id="17" name="Mechanism step 3"/>
          <p:cNvSpPr/>
          <p:nvPr/>
        </p:nvSpPr>
        <p:spPr>
          <a:xfrm>
            <a:off x="5102352" y="1463040"/>
            <a:ext cx="1965960" cy="2560320"/>
          </a:xfrm>
          <a:prstGeom prst="roundRect">
            <a:avLst>
              <a:gd name="adj" fmla="val 5581"/>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8" name="Icon circle"/>
          <p:cNvSpPr/>
          <p:nvPr/>
        </p:nvSpPr>
        <p:spPr>
          <a:xfrm>
            <a:off x="5330952" y="1691640"/>
            <a:ext cx="548640" cy="548640"/>
          </a:xfrm>
          <a:prstGeom prst="ellipse">
            <a:avLst/>
          </a:prstGeom>
          <a:solidFill>
            <a:schemeClr val="accent2"/>
          </a:solidFill>
          <a:ln w="12700">
            <a:solidFill>
              <a:schemeClr val="accent2"/>
            </a:solidFill>
            <a:prstDash val="solid"/>
          </a:ln>
        </p:spPr>
      </p:sp>
      <p:pic>
        <p:nvPicPr>
          <p:cNvPr id="19" name="Image 2" descr="FaBatteryFull">    </p:cNvPr>
          <p:cNvPicPr>
            <a:picLocks noChangeAspect="1"/>
          </p:cNvPicPr>
          <p:nvPr/>
        </p:nvPicPr>
        <p:blipFill>
          <a:blip r:embed="rId3"/>
          <a:stretch>
            <a:fillRect/>
          </a:stretch>
        </p:blipFill>
        <p:spPr>
          <a:xfrm>
            <a:off x="5468112" y="1828800"/>
            <a:ext cx="274320" cy="274320"/>
          </a:xfrm>
          <a:prstGeom prst="rect">
            <a:avLst/>
          </a:prstGeom>
        </p:spPr>
      </p:pic>
      <p:sp>
        <p:nvSpPr>
          <p:cNvPr id="20" name="Text 15"/>
          <p:cNvSpPr txBox="1"/>
          <p:nvPr/>
        </p:nvSpPr>
        <p:spPr>
          <a:xfrm>
            <a:off x="6473952" y="1645920"/>
            <a:ext cx="365760" cy="365760"/>
          </a:xfrm>
          <a:prstGeom prst="rect">
            <a:avLst/>
          </a:prstGeom>
          <a:noFill/>
          <a:ln/>
        </p:spPr>
        <p:txBody>
          <a:bodyPr wrap="square" lIns="0" tIns="0" rIns="0" bIns="0" rtlCol="0" anchor="t"/>
          <a:lstStyle/>
          <a:p>
            <a:pPr algn="r" indent="0" marL="0">
              <a:buNone/>
            </a:pPr>
            <a:r>
              <a:rPr lang="en-US" sz="1400" b="1" dirty="0">
                <a:solidFill>
                  <a:schemeClr val="tx2"/>
                </a:solidFill>
              </a:rPr>
              <a:t>3</a:t>
            </a:r>
            <a:endParaRPr lang="en-US" sz="1400" dirty="0"/>
          </a:p>
        </p:txBody>
      </p:sp>
      <p:sp>
        <p:nvSpPr>
          <p:cNvPr id="21" name="Text 16"/>
          <p:cNvSpPr txBox="1"/>
          <p:nvPr/>
        </p:nvSpPr>
        <p:spPr>
          <a:xfrm>
            <a:off x="5330952" y="2377440"/>
            <a:ext cx="1554480" cy="594360"/>
          </a:xfrm>
          <a:prstGeom prst="rect">
            <a:avLst/>
          </a:prstGeom>
          <a:noFill/>
          <a:ln/>
        </p:spPr>
        <p:txBody>
          <a:bodyPr wrap="square" lIns="0" tIns="0" rIns="0" bIns="0" rtlCol="0" anchor="t"/>
          <a:lstStyle/>
          <a:p>
            <a:pPr indent="0" marL="0">
              <a:buNone/>
            </a:pPr>
            <a:r>
              <a:rPr lang="en-US" sz="1600" b="1" dirty="0">
                <a:solidFill>
                  <a:schemeClr val="tx1"/>
                </a:solidFill>
              </a:rPr>
              <a:t>Custo total (Ercap-SAE)</a:t>
            </a:r>
            <a:endParaRPr lang="en-US" sz="1600" dirty="0"/>
          </a:p>
        </p:txBody>
      </p:sp>
      <p:sp>
        <p:nvSpPr>
          <p:cNvPr id="22" name="Text 17"/>
          <p:cNvSpPr txBox="1"/>
          <p:nvPr/>
        </p:nvSpPr>
        <p:spPr>
          <a:xfrm>
            <a:off x="5330952" y="3017520"/>
            <a:ext cx="1554480" cy="960120"/>
          </a:xfrm>
          <a:prstGeom prst="rect">
            <a:avLst/>
          </a:prstGeom>
          <a:noFill/>
          <a:ln/>
        </p:spPr>
        <p:txBody>
          <a:bodyPr wrap="square" lIns="0" tIns="0" rIns="0" bIns="0" rtlCol="0" anchor="t"/>
          <a:lstStyle/>
          <a:p>
            <a:pPr indent="0" marL="0">
              <a:buNone/>
            </a:pPr>
            <a:r>
              <a:rPr lang="en-US" sz="1400" dirty="0">
                <a:solidFill>
                  <a:schemeClr val="tx2"/>
                </a:solidFill>
              </a:rPr>
              <a:t>Receita fixa mais a energia de recarga, com eficiência mínima de 85%</a:t>
            </a:r>
            <a:endParaRPr lang="en-US" sz="1400" dirty="0"/>
          </a:p>
        </p:txBody>
      </p:sp>
      <p:sp>
        <p:nvSpPr>
          <p:cNvPr id="23" name="Arrow"/>
          <p:cNvSpPr/>
          <p:nvPr/>
        </p:nvSpPr>
        <p:spPr>
          <a:xfrm>
            <a:off x="7104888" y="2743200"/>
            <a:ext cx="237744" cy="0"/>
          </a:xfrm>
          <a:prstGeom prst="line">
            <a:avLst/>
          </a:prstGeom>
          <a:noFill/>
          <a:ln w="25400">
            <a:solidFill>
              <a:srgbClr val="5B6B80"/>
            </a:solidFill>
            <a:prstDash val="solid"/>
            <a:tailEnd type="triangle"/>
          </a:ln>
        </p:spPr>
      </p:sp>
      <p:sp>
        <p:nvSpPr>
          <p:cNvPr id="24" name="Mechanism step 4"/>
          <p:cNvSpPr/>
          <p:nvPr/>
        </p:nvSpPr>
        <p:spPr>
          <a:xfrm>
            <a:off x="7379208" y="1463040"/>
            <a:ext cx="1965960" cy="2560320"/>
          </a:xfrm>
          <a:prstGeom prst="roundRect">
            <a:avLst>
              <a:gd name="adj" fmla="val 5581"/>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25" name="Icon circle"/>
          <p:cNvSpPr/>
          <p:nvPr/>
        </p:nvSpPr>
        <p:spPr>
          <a:xfrm>
            <a:off x="7607808" y="1691640"/>
            <a:ext cx="548640" cy="548640"/>
          </a:xfrm>
          <a:prstGeom prst="ellipse">
            <a:avLst/>
          </a:prstGeom>
          <a:solidFill>
            <a:schemeClr val="accent2"/>
          </a:solidFill>
          <a:ln w="12700">
            <a:solidFill>
              <a:schemeClr val="accent2"/>
            </a:solidFill>
            <a:prstDash val="solid"/>
          </a:ln>
        </p:spPr>
      </p:sp>
      <p:pic>
        <p:nvPicPr>
          <p:cNvPr id="26" name="Image 3" descr="FaBalanceScale">    </p:cNvPr>
          <p:cNvPicPr>
            <a:picLocks noChangeAspect="1"/>
          </p:cNvPicPr>
          <p:nvPr/>
        </p:nvPicPr>
        <p:blipFill>
          <a:blip r:embed="rId4"/>
          <a:stretch>
            <a:fillRect/>
          </a:stretch>
        </p:blipFill>
        <p:spPr>
          <a:xfrm>
            <a:off x="7744968" y="1828800"/>
            <a:ext cx="274320" cy="274320"/>
          </a:xfrm>
          <a:prstGeom prst="rect">
            <a:avLst/>
          </a:prstGeom>
        </p:spPr>
      </p:pic>
      <p:sp>
        <p:nvSpPr>
          <p:cNvPr id="27" name="Text 21"/>
          <p:cNvSpPr txBox="1"/>
          <p:nvPr/>
        </p:nvSpPr>
        <p:spPr>
          <a:xfrm>
            <a:off x="8750808" y="1645920"/>
            <a:ext cx="365760" cy="365760"/>
          </a:xfrm>
          <a:prstGeom prst="rect">
            <a:avLst/>
          </a:prstGeom>
          <a:noFill/>
          <a:ln/>
        </p:spPr>
        <p:txBody>
          <a:bodyPr wrap="square" lIns="0" tIns="0" rIns="0" bIns="0" rtlCol="0" anchor="t"/>
          <a:lstStyle/>
          <a:p>
            <a:pPr algn="r" indent="0" marL="0">
              <a:buNone/>
            </a:pPr>
            <a:r>
              <a:rPr lang="en-US" sz="1400" b="1" dirty="0">
                <a:solidFill>
                  <a:schemeClr val="tx2"/>
                </a:solidFill>
              </a:rPr>
              <a:t>4</a:t>
            </a:r>
            <a:endParaRPr lang="en-US" sz="1400" dirty="0"/>
          </a:p>
        </p:txBody>
      </p:sp>
      <p:sp>
        <p:nvSpPr>
          <p:cNvPr id="28" name="Text 22"/>
          <p:cNvSpPr txBox="1"/>
          <p:nvPr/>
        </p:nvSpPr>
        <p:spPr>
          <a:xfrm>
            <a:off x="7607808" y="2377440"/>
            <a:ext cx="1554480" cy="594360"/>
          </a:xfrm>
          <a:prstGeom prst="rect">
            <a:avLst/>
          </a:prstGeom>
          <a:noFill/>
          <a:ln/>
        </p:spPr>
        <p:txBody>
          <a:bodyPr wrap="square" lIns="0" tIns="0" rIns="0" bIns="0" rtlCol="0" anchor="t"/>
          <a:lstStyle/>
          <a:p>
            <a:pPr indent="0" marL="0">
              <a:buNone/>
            </a:pPr>
            <a:r>
              <a:rPr lang="en-US" sz="1600" b="1" dirty="0">
                <a:solidFill>
                  <a:schemeClr val="tx1"/>
                </a:solidFill>
              </a:rPr>
              <a:t>Rateio entre geradores</a:t>
            </a:r>
            <a:endParaRPr lang="en-US" sz="1600" dirty="0"/>
          </a:p>
        </p:txBody>
      </p:sp>
      <p:sp>
        <p:nvSpPr>
          <p:cNvPr id="29" name="Text 23"/>
          <p:cNvSpPr txBox="1"/>
          <p:nvPr/>
        </p:nvSpPr>
        <p:spPr>
          <a:xfrm>
            <a:off x="7607808" y="3017520"/>
            <a:ext cx="1554480" cy="960120"/>
          </a:xfrm>
          <a:prstGeom prst="rect">
            <a:avLst/>
          </a:prstGeom>
          <a:noFill/>
          <a:ln/>
        </p:spPr>
        <p:txBody>
          <a:bodyPr wrap="square" lIns="0" tIns="0" rIns="0" bIns="0" rtlCol="0" anchor="t"/>
          <a:lstStyle/>
          <a:p>
            <a:pPr indent="0" marL="0">
              <a:buNone/>
            </a:pPr>
            <a:r>
              <a:rPr lang="en-US" sz="1400" dirty="0">
                <a:solidFill>
                  <a:schemeClr val="tx2"/>
                </a:solidFill>
              </a:rPr>
              <a:t>Agentes da CCEE, sem MMGD nem armazenamento autônomo</a:t>
            </a:r>
            <a:endParaRPr lang="en-US" sz="1400" dirty="0"/>
          </a:p>
        </p:txBody>
      </p:sp>
      <p:sp>
        <p:nvSpPr>
          <p:cNvPr id="30" name="Arrow"/>
          <p:cNvSpPr/>
          <p:nvPr/>
        </p:nvSpPr>
        <p:spPr>
          <a:xfrm>
            <a:off x="9381744" y="2743200"/>
            <a:ext cx="237744" cy="0"/>
          </a:xfrm>
          <a:prstGeom prst="line">
            <a:avLst/>
          </a:prstGeom>
          <a:noFill/>
          <a:ln w="25400">
            <a:solidFill>
              <a:srgbClr val="5B6B80"/>
            </a:solidFill>
            <a:prstDash val="solid"/>
            <a:tailEnd type="triangle"/>
          </a:ln>
        </p:spPr>
      </p:sp>
      <p:sp>
        <p:nvSpPr>
          <p:cNvPr id="31" name="Mechanism step 5"/>
          <p:cNvSpPr/>
          <p:nvPr/>
        </p:nvSpPr>
        <p:spPr>
          <a:xfrm>
            <a:off x="9656064" y="1463040"/>
            <a:ext cx="1965960" cy="2560320"/>
          </a:xfrm>
          <a:prstGeom prst="roundRect">
            <a:avLst>
              <a:gd name="adj" fmla="val 5581"/>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32" name="Icon circle"/>
          <p:cNvSpPr/>
          <p:nvPr/>
        </p:nvSpPr>
        <p:spPr>
          <a:xfrm>
            <a:off x="9884664" y="1691640"/>
            <a:ext cx="548640" cy="548640"/>
          </a:xfrm>
          <a:prstGeom prst="ellipse">
            <a:avLst/>
          </a:prstGeom>
          <a:solidFill>
            <a:schemeClr val="accent3"/>
          </a:solidFill>
          <a:ln w="12700">
            <a:solidFill>
              <a:schemeClr val="accent3"/>
            </a:solidFill>
            <a:prstDash val="solid"/>
          </a:ln>
        </p:spPr>
      </p:sp>
      <p:pic>
        <p:nvPicPr>
          <p:cNvPr id="33" name="Image 4" descr="FaIndustry">    </p:cNvPr>
          <p:cNvPicPr>
            <a:picLocks noChangeAspect="1"/>
          </p:cNvPicPr>
          <p:nvPr/>
        </p:nvPicPr>
        <p:blipFill>
          <a:blip r:embed="rId5"/>
          <a:stretch>
            <a:fillRect/>
          </a:stretch>
        </p:blipFill>
        <p:spPr>
          <a:xfrm>
            <a:off x="10021824" y="1828800"/>
            <a:ext cx="274320" cy="274320"/>
          </a:xfrm>
          <a:prstGeom prst="rect">
            <a:avLst/>
          </a:prstGeom>
        </p:spPr>
      </p:pic>
      <p:sp>
        <p:nvSpPr>
          <p:cNvPr id="34" name="Text 27"/>
          <p:cNvSpPr txBox="1"/>
          <p:nvPr/>
        </p:nvSpPr>
        <p:spPr>
          <a:xfrm>
            <a:off x="11027664" y="1645920"/>
            <a:ext cx="365760" cy="365760"/>
          </a:xfrm>
          <a:prstGeom prst="rect">
            <a:avLst/>
          </a:prstGeom>
          <a:noFill/>
          <a:ln/>
        </p:spPr>
        <p:txBody>
          <a:bodyPr wrap="square" lIns="0" tIns="0" rIns="0" bIns="0" rtlCol="0" anchor="t"/>
          <a:lstStyle/>
          <a:p>
            <a:pPr algn="r" indent="0" marL="0">
              <a:buNone/>
            </a:pPr>
            <a:r>
              <a:rPr lang="en-US" sz="1400" b="1" dirty="0">
                <a:solidFill>
                  <a:schemeClr val="tx2"/>
                </a:solidFill>
              </a:rPr>
              <a:t>5</a:t>
            </a:r>
            <a:endParaRPr lang="en-US" sz="1400" dirty="0"/>
          </a:p>
        </p:txBody>
      </p:sp>
      <p:sp>
        <p:nvSpPr>
          <p:cNvPr id="35" name="Text 28"/>
          <p:cNvSpPr txBox="1"/>
          <p:nvPr/>
        </p:nvSpPr>
        <p:spPr>
          <a:xfrm>
            <a:off x="9884664" y="2377440"/>
            <a:ext cx="1554480" cy="594360"/>
          </a:xfrm>
          <a:prstGeom prst="rect">
            <a:avLst/>
          </a:prstGeom>
          <a:noFill/>
          <a:ln/>
        </p:spPr>
        <p:txBody>
          <a:bodyPr wrap="square" lIns="0" tIns="0" rIns="0" bIns="0" rtlCol="0" anchor="t"/>
          <a:lstStyle/>
          <a:p>
            <a:pPr indent="0" marL="0">
              <a:buNone/>
            </a:pPr>
            <a:r>
              <a:rPr lang="en-US" sz="1600" b="1" dirty="0">
                <a:solidFill>
                  <a:schemeClr val="tx1"/>
                </a:solidFill>
              </a:rPr>
              <a:t>Parcela de cada fonte</a:t>
            </a:r>
            <a:endParaRPr lang="en-US" sz="1600" dirty="0"/>
          </a:p>
        </p:txBody>
      </p:sp>
      <p:sp>
        <p:nvSpPr>
          <p:cNvPr id="36" name="Text 29"/>
          <p:cNvSpPr txBox="1"/>
          <p:nvPr/>
        </p:nvSpPr>
        <p:spPr>
          <a:xfrm>
            <a:off x="9884664" y="3017520"/>
            <a:ext cx="1554480" cy="960120"/>
          </a:xfrm>
          <a:prstGeom prst="rect">
            <a:avLst/>
          </a:prstGeom>
          <a:noFill/>
          <a:ln/>
        </p:spPr>
        <p:txBody>
          <a:bodyPr wrap="square" lIns="0" tIns="0" rIns="0" bIns="0" rtlCol="0" anchor="t"/>
          <a:lstStyle/>
          <a:p>
            <a:pPr indent="0" marL="0">
              <a:buNone/>
            </a:pPr>
            <a:r>
              <a:rPr lang="en-US" sz="1400" dirty="0">
                <a:solidFill>
                  <a:schemeClr val="tx2"/>
                </a:solidFill>
              </a:rPr>
              <a:t>UHE, UTE, eólica e UFV pagam conforme a regra de rateio</a:t>
            </a:r>
            <a:endParaRPr lang="en-US" sz="1400" dirty="0"/>
          </a:p>
        </p:txBody>
      </p:sp>
      <p:sp>
        <p:nvSpPr>
          <p:cNvPr id="37" name="Rule card 1"/>
          <p:cNvSpPr/>
          <p:nvPr/>
        </p:nvSpPr>
        <p:spPr>
          <a:xfrm>
            <a:off x="548640" y="4251960"/>
            <a:ext cx="3520440" cy="1920240"/>
          </a:xfrm>
          <a:prstGeom prst="roundRect">
            <a:avLst>
              <a:gd name="adj" fmla="val 5714"/>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38" name="Icon circle"/>
          <p:cNvSpPr/>
          <p:nvPr/>
        </p:nvSpPr>
        <p:spPr>
          <a:xfrm>
            <a:off x="822960" y="4480560"/>
            <a:ext cx="502920" cy="502920"/>
          </a:xfrm>
          <a:prstGeom prst="ellipse">
            <a:avLst/>
          </a:prstGeom>
          <a:solidFill>
            <a:schemeClr val="accent1"/>
          </a:solidFill>
          <a:ln w="12700">
            <a:solidFill>
              <a:schemeClr val="accent1"/>
            </a:solidFill>
            <a:prstDash val="solid"/>
          </a:ln>
        </p:spPr>
      </p:sp>
      <p:pic>
        <p:nvPicPr>
          <p:cNvPr id="39" name="Image 5" descr="FaChartLine">    </p:cNvPr>
          <p:cNvPicPr>
            <a:picLocks noChangeAspect="1"/>
          </p:cNvPicPr>
          <p:nvPr/>
        </p:nvPicPr>
        <p:blipFill>
          <a:blip r:embed="rId6"/>
          <a:stretch>
            <a:fillRect/>
          </a:stretch>
        </p:blipFill>
        <p:spPr>
          <a:xfrm>
            <a:off x="948690" y="4606290"/>
            <a:ext cx="251460" cy="251460"/>
          </a:xfrm>
          <a:prstGeom prst="rect">
            <a:avLst/>
          </a:prstGeom>
        </p:spPr>
      </p:pic>
      <p:sp>
        <p:nvSpPr>
          <p:cNvPr id="40" name="Text 32"/>
          <p:cNvSpPr txBox="1"/>
          <p:nvPr/>
        </p:nvSpPr>
        <p:spPr>
          <a:xfrm>
            <a:off x="1508760" y="4480560"/>
            <a:ext cx="2377440"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Desempenho</a:t>
            </a:r>
            <a:endParaRPr lang="en-US" sz="1800" dirty="0"/>
          </a:p>
        </p:txBody>
      </p:sp>
      <p:sp>
        <p:nvSpPr>
          <p:cNvPr id="41" name="Text 33"/>
          <p:cNvSpPr txBox="1"/>
          <p:nvPr/>
        </p:nvSpPr>
        <p:spPr>
          <a:xfrm>
            <a:off x="822960" y="5166360"/>
            <a:ext cx="3017520" cy="914400"/>
          </a:xfrm>
          <a:prstGeom prst="rect">
            <a:avLst/>
          </a:prstGeom>
          <a:noFill/>
          <a:ln/>
        </p:spPr>
        <p:txBody>
          <a:bodyPr wrap="square" lIns="0" tIns="0" rIns="0" bIns="0" rtlCol="0" anchor="t"/>
          <a:lstStyle/>
          <a:p>
            <a:pPr indent="0" marL="0">
              <a:buNone/>
            </a:pPr>
            <a:r>
              <a:rPr lang="en-US" sz="1400" dirty="0">
                <a:solidFill>
                  <a:schemeClr val="tx2"/>
                </a:solidFill>
              </a:rPr>
              <a:t>A receita é reduzida se a bateria não entregar a potência contratada.</a:t>
            </a:r>
            <a:endParaRPr lang="en-US" sz="1400" dirty="0"/>
          </a:p>
        </p:txBody>
      </p:sp>
      <p:sp>
        <p:nvSpPr>
          <p:cNvPr id="42" name="Rule card 2"/>
          <p:cNvSpPr/>
          <p:nvPr/>
        </p:nvSpPr>
        <p:spPr>
          <a:xfrm>
            <a:off x="4334256" y="4251960"/>
            <a:ext cx="3520440" cy="1920240"/>
          </a:xfrm>
          <a:prstGeom prst="roundRect">
            <a:avLst>
              <a:gd name="adj" fmla="val 5714"/>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43" name="Icon circle"/>
          <p:cNvSpPr/>
          <p:nvPr/>
        </p:nvSpPr>
        <p:spPr>
          <a:xfrm>
            <a:off x="4608576" y="4480560"/>
            <a:ext cx="502920" cy="502920"/>
          </a:xfrm>
          <a:prstGeom prst="ellipse">
            <a:avLst/>
          </a:prstGeom>
          <a:solidFill>
            <a:schemeClr val="accent1"/>
          </a:solidFill>
          <a:ln w="12700">
            <a:solidFill>
              <a:schemeClr val="accent1"/>
            </a:solidFill>
            <a:prstDash val="solid"/>
          </a:ln>
        </p:spPr>
      </p:sp>
      <p:pic>
        <p:nvPicPr>
          <p:cNvPr id="44" name="Image 6" descr="FaGavel">    </p:cNvPr>
          <p:cNvPicPr>
            <a:picLocks noChangeAspect="1"/>
          </p:cNvPicPr>
          <p:nvPr/>
        </p:nvPicPr>
        <p:blipFill>
          <a:blip r:embed="rId7"/>
          <a:stretch>
            <a:fillRect/>
          </a:stretch>
        </p:blipFill>
        <p:spPr>
          <a:xfrm>
            <a:off x="4734306" y="4606290"/>
            <a:ext cx="251460" cy="251460"/>
          </a:xfrm>
          <a:prstGeom prst="rect">
            <a:avLst/>
          </a:prstGeom>
        </p:spPr>
      </p:pic>
      <p:sp>
        <p:nvSpPr>
          <p:cNvPr id="45" name="Text 36"/>
          <p:cNvSpPr txBox="1"/>
          <p:nvPr/>
        </p:nvSpPr>
        <p:spPr>
          <a:xfrm>
            <a:off x="5294376" y="4480560"/>
            <a:ext cx="2377440"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Penalidades (proposta)</a:t>
            </a:r>
            <a:endParaRPr lang="en-US" sz="1800" dirty="0"/>
          </a:p>
        </p:txBody>
      </p:sp>
      <p:sp>
        <p:nvSpPr>
          <p:cNvPr id="46" name="Text 37"/>
          <p:cNvSpPr txBox="1"/>
          <p:nvPr/>
        </p:nvSpPr>
        <p:spPr>
          <a:xfrm>
            <a:off x="4608576" y="5166360"/>
            <a:ext cx="3017520" cy="914400"/>
          </a:xfrm>
          <a:prstGeom prst="rect">
            <a:avLst/>
          </a:prstGeom>
          <a:noFill/>
          <a:ln/>
        </p:spPr>
        <p:txBody>
          <a:bodyPr wrap="square" lIns="0" tIns="0" rIns="0" bIns="0" rtlCol="0" anchor="t"/>
          <a:lstStyle/>
          <a:p>
            <a:pPr indent="0" marL="0">
              <a:buNone/>
            </a:pPr>
            <a:r>
              <a:rPr lang="en-US" sz="1400" dirty="0">
                <a:solidFill>
                  <a:schemeClr val="tx2"/>
                </a:solidFill>
              </a:rPr>
              <a:t>1,15 vez a receita fixa unitária por descumprir comandos do ONS e 1,10 vez por indisponibilidade.</a:t>
            </a:r>
            <a:endParaRPr lang="en-US" sz="1400" dirty="0"/>
          </a:p>
        </p:txBody>
      </p:sp>
      <p:sp>
        <p:nvSpPr>
          <p:cNvPr id="47" name="Rule card 3"/>
          <p:cNvSpPr/>
          <p:nvPr/>
        </p:nvSpPr>
        <p:spPr>
          <a:xfrm>
            <a:off x="8119872" y="4251960"/>
            <a:ext cx="3520440" cy="1920240"/>
          </a:xfrm>
          <a:prstGeom prst="roundRect">
            <a:avLst>
              <a:gd name="adj" fmla="val 5714"/>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48" name="Icon circle"/>
          <p:cNvSpPr/>
          <p:nvPr/>
        </p:nvSpPr>
        <p:spPr>
          <a:xfrm>
            <a:off x="8394192" y="4480560"/>
            <a:ext cx="502920" cy="502920"/>
          </a:xfrm>
          <a:prstGeom prst="ellipse">
            <a:avLst/>
          </a:prstGeom>
          <a:solidFill>
            <a:schemeClr val="accent1"/>
          </a:solidFill>
          <a:ln w="12700">
            <a:solidFill>
              <a:schemeClr val="accent1"/>
            </a:solidFill>
            <a:prstDash val="solid"/>
          </a:ln>
        </p:spPr>
      </p:sp>
      <p:pic>
        <p:nvPicPr>
          <p:cNvPr id="49" name="Image 7" descr="FaBolt">    </p:cNvPr>
          <p:cNvPicPr>
            <a:picLocks noChangeAspect="1"/>
          </p:cNvPicPr>
          <p:nvPr/>
        </p:nvPicPr>
        <p:blipFill>
          <a:blip r:embed="rId8"/>
          <a:stretch>
            <a:fillRect/>
          </a:stretch>
        </p:blipFill>
        <p:spPr>
          <a:xfrm>
            <a:off x="8519922" y="4606290"/>
            <a:ext cx="251460" cy="251460"/>
          </a:xfrm>
          <a:prstGeom prst="rect">
            <a:avLst/>
          </a:prstGeom>
        </p:spPr>
      </p:pic>
      <p:sp>
        <p:nvSpPr>
          <p:cNvPr id="50" name="Text 40"/>
          <p:cNvSpPr txBox="1"/>
          <p:nvPr/>
        </p:nvSpPr>
        <p:spPr>
          <a:xfrm>
            <a:off x="9079992" y="4480560"/>
            <a:ext cx="2377440"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Consumo interno</a:t>
            </a:r>
            <a:endParaRPr lang="en-US" sz="1800" dirty="0"/>
          </a:p>
        </p:txBody>
      </p:sp>
      <p:sp>
        <p:nvSpPr>
          <p:cNvPr id="51" name="Text 41"/>
          <p:cNvSpPr txBox="1"/>
          <p:nvPr/>
        </p:nvSpPr>
        <p:spPr>
          <a:xfrm>
            <a:off x="8394192" y="5166360"/>
            <a:ext cx="3017520" cy="914400"/>
          </a:xfrm>
          <a:prstGeom prst="rect">
            <a:avLst/>
          </a:prstGeom>
          <a:noFill/>
          <a:ln/>
        </p:spPr>
        <p:txBody>
          <a:bodyPr wrap="square" lIns="0" tIns="0" rIns="0" bIns="0" rtlCol="0" anchor="t"/>
          <a:lstStyle/>
          <a:p>
            <a:pPr indent="0" marL="0">
              <a:buNone/>
            </a:pPr>
            <a:r>
              <a:rPr lang="en-US" sz="1400" dirty="0">
                <a:solidFill>
                  <a:schemeClr val="tx2"/>
                </a:solidFill>
              </a:rPr>
              <a:t>Acima de 15% da energia utilizada, o excedente fica com o dono e é descontado da receita.</a:t>
            </a:r>
            <a:endParaRPr lang="en-US" sz="1400" dirty="0"/>
          </a:p>
        </p:txBody>
      </p:sp>
      <p:sp>
        <p:nvSpPr>
          <p:cNvPr id="52" name="Text 42"/>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Fontes: Portaria GM/MME 136/2026 e minutas dos editais, via Canal Solar e ANEEL (2026). Valores em consulta pública, sujeitos a mudança no edital final.</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Como o encargo pode ser dividido</a:t>
            </a:r>
            <a:endParaRPr lang="en-US" sz="3200" dirty="0"/>
          </a:p>
        </p:txBody>
      </p:sp>
      <p:sp>
        <p:nvSpPr>
          <p:cNvPr id="3" name="Text 1"/>
          <p:cNvSpPr txBox="1"/>
          <p:nvPr/>
        </p:nvSpPr>
        <p:spPr>
          <a:xfrm>
            <a:off x="548640" y="1280160"/>
            <a:ext cx="6583680" cy="640080"/>
          </a:xfrm>
          <a:prstGeom prst="rect">
            <a:avLst/>
          </a:prstGeom>
          <a:noFill/>
          <a:ln/>
        </p:spPr>
        <p:txBody>
          <a:bodyPr wrap="square" lIns="0" tIns="0" rIns="0" bIns="0" rtlCol="0" anchor="t"/>
          <a:lstStyle/>
          <a:p>
            <a:pPr indent="0" marL="0">
              <a:buNone/>
            </a:pPr>
            <a:r>
              <a:rPr lang="en-US" sz="1600" b="1" dirty="0">
                <a:solidFill>
                  <a:schemeClr val="tx1"/>
                </a:solidFill>
              </a:rPr>
              <a:t>Proposta da área técnica da ANEEL (NT 101/2026): quanto menos flexível a usina, maior a parcela</a:t>
            </a:r>
            <a:endParaRPr lang="en-US" sz="1600" dirty="0"/>
          </a:p>
        </p:txBody>
      </p:sp>
      <p:sp>
        <p:nvSpPr>
          <p:cNvPr id="4" name="Text 2"/>
          <p:cNvSpPr txBox="1"/>
          <p:nvPr/>
        </p:nvSpPr>
        <p:spPr>
          <a:xfrm>
            <a:off x="548640" y="2011680"/>
            <a:ext cx="6126480" cy="274320"/>
          </a:xfrm>
          <a:prstGeom prst="rect">
            <a:avLst/>
          </a:prstGeom>
          <a:noFill/>
          <a:ln/>
        </p:spPr>
        <p:txBody>
          <a:bodyPr wrap="square" lIns="0" tIns="0" rIns="0" bIns="0" rtlCol="0" anchor="t"/>
          <a:lstStyle/>
          <a:p>
            <a:pPr indent="0" marL="0">
              <a:buNone/>
            </a:pPr>
            <a:r>
              <a:rPr lang="en-US" sz="1400" dirty="0">
                <a:solidFill>
                  <a:schemeClr val="tx2"/>
                </a:solidFill>
              </a:rPr>
              <a:t>P1: inflexível</a:t>
            </a:r>
            <a:endParaRPr lang="en-US" sz="1400" dirty="0"/>
          </a:p>
        </p:txBody>
      </p:sp>
      <p:sp>
        <p:nvSpPr>
          <p:cNvPr id="5" name="Tier bar 1"/>
          <p:cNvSpPr/>
          <p:nvPr/>
        </p:nvSpPr>
        <p:spPr>
          <a:xfrm>
            <a:off x="548640" y="2304288"/>
            <a:ext cx="6126480" cy="384048"/>
          </a:xfrm>
          <a:prstGeom prst="roundRect">
            <a:avLst>
              <a:gd name="adj" fmla="val 19048"/>
            </a:avLst>
          </a:prstGeom>
          <a:solidFill>
            <a:schemeClr val="accent4"/>
          </a:solidFill>
          <a:ln w="12700">
            <a:solidFill>
              <a:schemeClr val="accent4"/>
            </a:solidFill>
            <a:prstDash val="solid"/>
          </a:ln>
        </p:spPr>
      </p:sp>
      <p:sp>
        <p:nvSpPr>
          <p:cNvPr id="6" name="Text 4"/>
          <p:cNvSpPr txBox="1"/>
          <p:nvPr/>
        </p:nvSpPr>
        <p:spPr>
          <a:xfrm>
            <a:off x="685800" y="2304288"/>
            <a:ext cx="2743200" cy="384048"/>
          </a:xfrm>
          <a:prstGeom prst="rect">
            <a:avLst/>
          </a:prstGeom>
          <a:noFill/>
          <a:ln/>
        </p:spPr>
        <p:txBody>
          <a:bodyPr wrap="square" lIns="0" tIns="0" rIns="0" bIns="0" rtlCol="0" anchor="ctr"/>
          <a:lstStyle/>
          <a:p>
            <a:pPr indent="0" marL="0">
              <a:buNone/>
            </a:pPr>
            <a:r>
              <a:rPr lang="en-US" sz="1600" b="1" dirty="0">
                <a:solidFill>
                  <a:schemeClr val="bg1"/>
                </a:solidFill>
              </a:rPr>
              <a:t>100%</a:t>
            </a:r>
            <a:endParaRPr lang="en-US" sz="1600" dirty="0"/>
          </a:p>
        </p:txBody>
      </p:sp>
      <p:sp>
        <p:nvSpPr>
          <p:cNvPr id="7" name="Text 5"/>
          <p:cNvSpPr txBox="1"/>
          <p:nvPr/>
        </p:nvSpPr>
        <p:spPr>
          <a:xfrm>
            <a:off x="548640" y="2788920"/>
            <a:ext cx="6126480" cy="274320"/>
          </a:xfrm>
          <a:prstGeom prst="rect">
            <a:avLst/>
          </a:prstGeom>
          <a:noFill/>
          <a:ln/>
        </p:spPr>
        <p:txBody>
          <a:bodyPr wrap="square" lIns="0" tIns="0" rIns="0" bIns="0" rtlCol="0" anchor="t"/>
          <a:lstStyle/>
          <a:p>
            <a:pPr indent="0" marL="0">
              <a:buNone/>
            </a:pPr>
            <a:r>
              <a:rPr lang="en-US" sz="1400" dirty="0">
                <a:solidFill>
                  <a:schemeClr val="tx2"/>
                </a:solidFill>
              </a:rPr>
              <a:t>P2: baixa flexibilidade</a:t>
            </a:r>
            <a:endParaRPr lang="en-US" sz="1400" dirty="0"/>
          </a:p>
        </p:txBody>
      </p:sp>
      <p:sp>
        <p:nvSpPr>
          <p:cNvPr id="8" name="Tier bar 2"/>
          <p:cNvSpPr/>
          <p:nvPr/>
        </p:nvSpPr>
        <p:spPr>
          <a:xfrm>
            <a:off x="548640" y="3081528"/>
            <a:ext cx="4594860" cy="384048"/>
          </a:xfrm>
          <a:prstGeom prst="roundRect">
            <a:avLst>
              <a:gd name="adj" fmla="val 19048"/>
            </a:avLst>
          </a:prstGeom>
          <a:solidFill>
            <a:schemeClr val="accent1"/>
          </a:solidFill>
          <a:ln w="12700">
            <a:solidFill>
              <a:schemeClr val="accent1"/>
            </a:solidFill>
            <a:prstDash val="solid"/>
          </a:ln>
        </p:spPr>
      </p:sp>
      <p:sp>
        <p:nvSpPr>
          <p:cNvPr id="9" name="Text 7"/>
          <p:cNvSpPr txBox="1"/>
          <p:nvPr/>
        </p:nvSpPr>
        <p:spPr>
          <a:xfrm>
            <a:off x="685800" y="3081528"/>
            <a:ext cx="2743200" cy="384048"/>
          </a:xfrm>
          <a:prstGeom prst="rect">
            <a:avLst/>
          </a:prstGeom>
          <a:noFill/>
          <a:ln/>
        </p:spPr>
        <p:txBody>
          <a:bodyPr wrap="square" lIns="0" tIns="0" rIns="0" bIns="0" rtlCol="0" anchor="ctr"/>
          <a:lstStyle/>
          <a:p>
            <a:pPr indent="0" marL="0">
              <a:buNone/>
            </a:pPr>
            <a:r>
              <a:rPr lang="en-US" sz="1600" b="1" dirty="0">
                <a:solidFill>
                  <a:schemeClr val="tx1"/>
                </a:solidFill>
              </a:rPr>
              <a:t>75%</a:t>
            </a:r>
            <a:endParaRPr lang="en-US" sz="1600" dirty="0"/>
          </a:p>
        </p:txBody>
      </p:sp>
      <p:sp>
        <p:nvSpPr>
          <p:cNvPr id="10" name="Text 8"/>
          <p:cNvSpPr txBox="1"/>
          <p:nvPr/>
        </p:nvSpPr>
        <p:spPr>
          <a:xfrm>
            <a:off x="548640" y="3566160"/>
            <a:ext cx="6126480" cy="274320"/>
          </a:xfrm>
          <a:prstGeom prst="rect">
            <a:avLst/>
          </a:prstGeom>
          <a:noFill/>
          <a:ln/>
        </p:spPr>
        <p:txBody>
          <a:bodyPr wrap="square" lIns="0" tIns="0" rIns="0" bIns="0" rtlCol="0" anchor="t"/>
          <a:lstStyle/>
          <a:p>
            <a:pPr indent="0" marL="0">
              <a:buNone/>
            </a:pPr>
            <a:r>
              <a:rPr lang="en-US" sz="1400" dirty="0">
                <a:solidFill>
                  <a:schemeClr val="tx2"/>
                </a:solidFill>
              </a:rPr>
              <a:t>P3: alta flexibilidade</a:t>
            </a:r>
            <a:endParaRPr lang="en-US" sz="1400" dirty="0"/>
          </a:p>
        </p:txBody>
      </p:sp>
      <p:sp>
        <p:nvSpPr>
          <p:cNvPr id="11" name="Tier bar 3"/>
          <p:cNvSpPr/>
          <p:nvPr/>
        </p:nvSpPr>
        <p:spPr>
          <a:xfrm>
            <a:off x="548640" y="3858768"/>
            <a:ext cx="3063240" cy="384048"/>
          </a:xfrm>
          <a:prstGeom prst="roundRect">
            <a:avLst>
              <a:gd name="adj" fmla="val 19048"/>
            </a:avLst>
          </a:prstGeom>
          <a:solidFill>
            <a:schemeClr val="accent1"/>
          </a:solidFill>
          <a:ln w="12700">
            <a:solidFill>
              <a:schemeClr val="accent1"/>
            </a:solidFill>
            <a:prstDash val="solid"/>
          </a:ln>
        </p:spPr>
      </p:sp>
      <p:sp>
        <p:nvSpPr>
          <p:cNvPr id="12" name="Text 10"/>
          <p:cNvSpPr txBox="1"/>
          <p:nvPr/>
        </p:nvSpPr>
        <p:spPr>
          <a:xfrm>
            <a:off x="685800" y="3858768"/>
            <a:ext cx="2743200" cy="384048"/>
          </a:xfrm>
          <a:prstGeom prst="rect">
            <a:avLst/>
          </a:prstGeom>
          <a:noFill/>
          <a:ln/>
        </p:spPr>
        <p:txBody>
          <a:bodyPr wrap="square" lIns="0" tIns="0" rIns="0" bIns="0" rtlCol="0" anchor="ctr"/>
          <a:lstStyle/>
          <a:p>
            <a:pPr indent="0" marL="0">
              <a:buNone/>
            </a:pPr>
            <a:r>
              <a:rPr lang="en-US" sz="1600" b="1" dirty="0">
                <a:solidFill>
                  <a:schemeClr val="tx1"/>
                </a:solidFill>
              </a:rPr>
              <a:t>50%</a:t>
            </a:r>
            <a:endParaRPr lang="en-US" sz="1600" dirty="0"/>
          </a:p>
        </p:txBody>
      </p:sp>
      <p:sp>
        <p:nvSpPr>
          <p:cNvPr id="13" name="Text 11"/>
          <p:cNvSpPr txBox="1"/>
          <p:nvPr/>
        </p:nvSpPr>
        <p:spPr>
          <a:xfrm>
            <a:off x="548640" y="4343400"/>
            <a:ext cx="6126480" cy="274320"/>
          </a:xfrm>
          <a:prstGeom prst="rect">
            <a:avLst/>
          </a:prstGeom>
          <a:noFill/>
          <a:ln/>
        </p:spPr>
        <p:txBody>
          <a:bodyPr wrap="square" lIns="0" tIns="0" rIns="0" bIns="0" rtlCol="0" anchor="t"/>
          <a:lstStyle/>
          <a:p>
            <a:pPr indent="0" marL="0">
              <a:buNone/>
            </a:pPr>
            <a:r>
              <a:rPr lang="en-US" sz="1400" dirty="0">
                <a:solidFill>
                  <a:schemeClr val="tx2"/>
                </a:solidFill>
              </a:rPr>
              <a:t>P4: flexibilidade muito alta</a:t>
            </a:r>
            <a:endParaRPr lang="en-US" sz="1400" dirty="0"/>
          </a:p>
        </p:txBody>
      </p:sp>
      <p:sp>
        <p:nvSpPr>
          <p:cNvPr id="14" name="Tier bar 4"/>
          <p:cNvSpPr/>
          <p:nvPr/>
        </p:nvSpPr>
        <p:spPr>
          <a:xfrm>
            <a:off x="548640" y="4636008"/>
            <a:ext cx="1531620" cy="384048"/>
          </a:xfrm>
          <a:prstGeom prst="roundRect">
            <a:avLst>
              <a:gd name="adj" fmla="val 19048"/>
            </a:avLst>
          </a:prstGeom>
          <a:solidFill>
            <a:schemeClr val="accent2"/>
          </a:solidFill>
          <a:ln w="12700">
            <a:solidFill>
              <a:schemeClr val="accent2"/>
            </a:solidFill>
            <a:prstDash val="solid"/>
          </a:ln>
        </p:spPr>
      </p:sp>
      <p:sp>
        <p:nvSpPr>
          <p:cNvPr id="15" name="Text 13"/>
          <p:cNvSpPr txBox="1"/>
          <p:nvPr/>
        </p:nvSpPr>
        <p:spPr>
          <a:xfrm>
            <a:off x="685800" y="4636008"/>
            <a:ext cx="2743200" cy="384048"/>
          </a:xfrm>
          <a:prstGeom prst="rect">
            <a:avLst/>
          </a:prstGeom>
          <a:noFill/>
          <a:ln/>
        </p:spPr>
        <p:txBody>
          <a:bodyPr wrap="square" lIns="0" tIns="0" rIns="0" bIns="0" rtlCol="0" anchor="ctr"/>
          <a:lstStyle/>
          <a:p>
            <a:pPr indent="0" marL="0">
              <a:buNone/>
            </a:pPr>
            <a:r>
              <a:rPr lang="en-US" sz="1600" b="1" dirty="0">
                <a:solidFill>
                  <a:schemeClr val="tx1"/>
                </a:solidFill>
              </a:rPr>
              <a:t>25%</a:t>
            </a:r>
            <a:endParaRPr lang="en-US" sz="1600" dirty="0"/>
          </a:p>
        </p:txBody>
      </p:sp>
      <p:sp>
        <p:nvSpPr>
          <p:cNvPr id="16" name="Text 14"/>
          <p:cNvSpPr txBox="1"/>
          <p:nvPr/>
        </p:nvSpPr>
        <p:spPr>
          <a:xfrm>
            <a:off x="548640" y="5212080"/>
            <a:ext cx="6126480" cy="1005840"/>
          </a:xfrm>
          <a:prstGeom prst="rect">
            <a:avLst/>
          </a:prstGeom>
          <a:noFill/>
          <a:ln/>
        </p:spPr>
        <p:txBody>
          <a:bodyPr wrap="square" lIns="0" tIns="0" rIns="0" bIns="0" rtlCol="0" anchor="t"/>
          <a:lstStyle/>
          <a:p>
            <a:pPr indent="0" marL="0">
              <a:buNone/>
            </a:pPr>
            <a:r>
              <a:rPr lang="en-US" sz="1400" dirty="0">
                <a:solidFill>
                  <a:schemeClr val="tx2"/>
                </a:solidFill>
              </a:rPr>
              <a:t>Os patamares valem para todas as classes de geração: o P4 é o mais flexível dentro de cada classe. Eólicas e solares partem do P1, sem armazenamento associado. Hidrelétricas e térmicas dependem da classificação anual do ONS.</a:t>
            </a:r>
            <a:endParaRPr lang="en-US" sz="1400" dirty="0"/>
          </a:p>
        </p:txBody>
      </p:sp>
      <p:sp>
        <p:nvSpPr>
          <p:cNvPr id="17" name="Text 15"/>
          <p:cNvSpPr txBox="1"/>
          <p:nvPr/>
        </p:nvSpPr>
        <p:spPr>
          <a:xfrm>
            <a:off x="7315200" y="1280160"/>
            <a:ext cx="4297680" cy="457200"/>
          </a:xfrm>
          <a:prstGeom prst="rect">
            <a:avLst/>
          </a:prstGeom>
          <a:noFill/>
          <a:ln/>
        </p:spPr>
        <p:txBody>
          <a:bodyPr wrap="square" lIns="0" tIns="0" rIns="0" bIns="0" rtlCol="0" anchor="t"/>
          <a:lstStyle/>
          <a:p>
            <a:pPr indent="0" marL="0">
              <a:buNone/>
            </a:pPr>
            <a:r>
              <a:rPr lang="en-US" sz="1600" b="1" dirty="0">
                <a:solidFill>
                  <a:schemeClr val="tx1"/>
                </a:solidFill>
              </a:rPr>
              <a:t>Cenários de rateio a simular no estudo</a:t>
            </a:r>
            <a:endParaRPr lang="en-US" sz="1600" dirty="0"/>
          </a:p>
        </p:txBody>
      </p:sp>
      <p:sp>
        <p:nvSpPr>
          <p:cNvPr id="18" name="Rateio scenario R1"/>
          <p:cNvSpPr/>
          <p:nvPr/>
        </p:nvSpPr>
        <p:spPr>
          <a:xfrm>
            <a:off x="7315200" y="1920240"/>
            <a:ext cx="4327855" cy="1143000"/>
          </a:xfrm>
          <a:prstGeom prst="roundRect">
            <a:avLst>
              <a:gd name="adj" fmla="val 9600"/>
            </a:avLst>
          </a:prstGeom>
          <a:solidFill>
            <a:schemeClr val="bg2"/>
          </a:solidFill>
          <a:ln w="12700">
            <a:solidFill>
              <a:schemeClr val="bg2"/>
            </a:solidFill>
            <a:prstDash val="solid"/>
          </a:ln>
        </p:spPr>
      </p:sp>
      <p:sp>
        <p:nvSpPr>
          <p:cNvPr id="19" name="Scenario tag R1"/>
          <p:cNvSpPr/>
          <p:nvPr/>
        </p:nvSpPr>
        <p:spPr>
          <a:xfrm>
            <a:off x="7498080" y="2194560"/>
            <a:ext cx="731520" cy="640080"/>
          </a:xfrm>
          <a:prstGeom prst="roundRect">
            <a:avLst>
              <a:gd name="adj" fmla="val 14286"/>
            </a:avLst>
          </a:prstGeom>
          <a:solidFill>
            <a:schemeClr val="accent3"/>
          </a:solidFill>
          <a:ln w="12700">
            <a:solidFill>
              <a:schemeClr val="accent3"/>
            </a:solidFill>
            <a:prstDash val="solid"/>
          </a:ln>
        </p:spPr>
      </p:sp>
      <p:sp>
        <p:nvSpPr>
          <p:cNvPr id="20" name="Text 18"/>
          <p:cNvSpPr txBox="1"/>
          <p:nvPr/>
        </p:nvSpPr>
        <p:spPr>
          <a:xfrm>
            <a:off x="7498080" y="2194560"/>
            <a:ext cx="731520" cy="64008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R1</a:t>
            </a:r>
            <a:endParaRPr lang="en-US" sz="2000" dirty="0"/>
          </a:p>
        </p:txBody>
      </p:sp>
      <p:sp>
        <p:nvSpPr>
          <p:cNvPr id="21" name="Text 19"/>
          <p:cNvSpPr txBox="1"/>
          <p:nvPr/>
        </p:nvSpPr>
        <p:spPr>
          <a:xfrm>
            <a:off x="8412480" y="2057400"/>
            <a:ext cx="3093415"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Rateio universal</a:t>
            </a:r>
            <a:endParaRPr lang="en-US" sz="1600" dirty="0"/>
          </a:p>
        </p:txBody>
      </p:sp>
      <p:sp>
        <p:nvSpPr>
          <p:cNvPr id="22" name="Text 20"/>
          <p:cNvSpPr txBox="1"/>
          <p:nvPr/>
        </p:nvSpPr>
        <p:spPr>
          <a:xfrm>
            <a:off x="8412480" y="2468880"/>
            <a:ext cx="3093415" cy="594360"/>
          </a:xfrm>
          <a:prstGeom prst="rect">
            <a:avLst/>
          </a:prstGeom>
          <a:noFill/>
          <a:ln/>
        </p:spPr>
        <p:txBody>
          <a:bodyPr wrap="square" lIns="0" tIns="0" rIns="0" bIns="0" rtlCol="0" anchor="t"/>
          <a:lstStyle/>
          <a:p>
            <a:pPr indent="0" marL="0">
              <a:buNone/>
            </a:pPr>
            <a:r>
              <a:rPr lang="en-US" sz="1400" dirty="0">
                <a:solidFill>
                  <a:schemeClr val="tx2"/>
                </a:solidFill>
              </a:rPr>
              <a:t>Todos os geradores da CCEE, sem diferenciar a flexibilidade.</a:t>
            </a:r>
            <a:endParaRPr lang="en-US" sz="1400" dirty="0"/>
          </a:p>
        </p:txBody>
      </p:sp>
      <p:sp>
        <p:nvSpPr>
          <p:cNvPr id="23" name="Rateio scenario R2"/>
          <p:cNvSpPr/>
          <p:nvPr/>
        </p:nvSpPr>
        <p:spPr>
          <a:xfrm>
            <a:off x="7315200" y="3246120"/>
            <a:ext cx="4327855" cy="1143000"/>
          </a:xfrm>
          <a:prstGeom prst="roundRect">
            <a:avLst>
              <a:gd name="adj" fmla="val 9600"/>
            </a:avLst>
          </a:prstGeom>
          <a:solidFill>
            <a:schemeClr val="bg2"/>
          </a:solidFill>
          <a:ln w="12700">
            <a:solidFill>
              <a:schemeClr val="bg2"/>
            </a:solidFill>
            <a:prstDash val="solid"/>
          </a:ln>
        </p:spPr>
      </p:sp>
      <p:sp>
        <p:nvSpPr>
          <p:cNvPr id="24" name="Scenario tag R2"/>
          <p:cNvSpPr/>
          <p:nvPr/>
        </p:nvSpPr>
        <p:spPr>
          <a:xfrm>
            <a:off x="7498080" y="3520440"/>
            <a:ext cx="731520" cy="640080"/>
          </a:xfrm>
          <a:prstGeom prst="roundRect">
            <a:avLst>
              <a:gd name="adj" fmla="val 14286"/>
            </a:avLst>
          </a:prstGeom>
          <a:solidFill>
            <a:schemeClr val="accent2"/>
          </a:solidFill>
          <a:ln w="12700">
            <a:solidFill>
              <a:schemeClr val="accent2"/>
            </a:solidFill>
            <a:prstDash val="solid"/>
          </a:ln>
        </p:spPr>
      </p:sp>
      <p:sp>
        <p:nvSpPr>
          <p:cNvPr id="25" name="Text 23"/>
          <p:cNvSpPr txBox="1"/>
          <p:nvPr/>
        </p:nvSpPr>
        <p:spPr>
          <a:xfrm>
            <a:off x="7498080" y="3520440"/>
            <a:ext cx="731520" cy="64008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R2</a:t>
            </a:r>
            <a:endParaRPr lang="en-US" sz="2000" dirty="0"/>
          </a:p>
        </p:txBody>
      </p:sp>
      <p:sp>
        <p:nvSpPr>
          <p:cNvPr id="26" name="Text 24"/>
          <p:cNvSpPr txBox="1"/>
          <p:nvPr/>
        </p:nvSpPr>
        <p:spPr>
          <a:xfrm>
            <a:off x="8412480" y="3383280"/>
            <a:ext cx="3093415"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Modulado por flexibilidade</a:t>
            </a:r>
            <a:endParaRPr lang="en-US" sz="1600" dirty="0"/>
          </a:p>
        </p:txBody>
      </p:sp>
      <p:sp>
        <p:nvSpPr>
          <p:cNvPr id="27" name="Text 25"/>
          <p:cNvSpPr txBox="1"/>
          <p:nvPr/>
        </p:nvSpPr>
        <p:spPr>
          <a:xfrm>
            <a:off x="8412480" y="3794760"/>
            <a:ext cx="3093415" cy="594360"/>
          </a:xfrm>
          <a:prstGeom prst="rect">
            <a:avLst/>
          </a:prstGeom>
          <a:noFill/>
          <a:ln/>
        </p:spPr>
        <p:txBody>
          <a:bodyPr wrap="square" lIns="0" tIns="0" rIns="0" bIns="0" rtlCol="0" anchor="t"/>
          <a:lstStyle/>
          <a:p>
            <a:pPr indent="0" marL="0">
              <a:buNone/>
            </a:pPr>
            <a:r>
              <a:rPr lang="en-US" sz="1400" dirty="0">
                <a:solidFill>
                  <a:schemeClr val="tx2"/>
                </a:solidFill>
              </a:rPr>
              <a:t>Proposta da ANEEL em consulta: quatro patamares, de 100% a 25%.</a:t>
            </a:r>
            <a:endParaRPr lang="en-US" sz="1400" dirty="0"/>
          </a:p>
        </p:txBody>
      </p:sp>
      <p:sp>
        <p:nvSpPr>
          <p:cNvPr id="28" name="Rateio scenario R3"/>
          <p:cNvSpPr/>
          <p:nvPr/>
        </p:nvSpPr>
        <p:spPr>
          <a:xfrm>
            <a:off x="7315200" y="4572000"/>
            <a:ext cx="4327855" cy="1143000"/>
          </a:xfrm>
          <a:prstGeom prst="roundRect">
            <a:avLst>
              <a:gd name="adj" fmla="val 9600"/>
            </a:avLst>
          </a:prstGeom>
          <a:solidFill>
            <a:schemeClr val="bg2"/>
          </a:solidFill>
          <a:ln w="12700">
            <a:solidFill>
              <a:schemeClr val="bg2"/>
            </a:solidFill>
            <a:prstDash val="solid"/>
          </a:ln>
        </p:spPr>
      </p:sp>
      <p:sp>
        <p:nvSpPr>
          <p:cNvPr id="29" name="Scenario tag R3"/>
          <p:cNvSpPr/>
          <p:nvPr/>
        </p:nvSpPr>
        <p:spPr>
          <a:xfrm>
            <a:off x="7498080" y="4846320"/>
            <a:ext cx="731520" cy="640080"/>
          </a:xfrm>
          <a:prstGeom prst="roundRect">
            <a:avLst>
              <a:gd name="adj" fmla="val 14286"/>
            </a:avLst>
          </a:prstGeom>
          <a:solidFill>
            <a:schemeClr val="accent1"/>
          </a:solidFill>
          <a:ln w="12700">
            <a:solidFill>
              <a:schemeClr val="accent1"/>
            </a:solidFill>
            <a:prstDash val="solid"/>
          </a:ln>
        </p:spPr>
      </p:sp>
      <p:sp>
        <p:nvSpPr>
          <p:cNvPr id="30" name="Text 28"/>
          <p:cNvSpPr txBox="1"/>
          <p:nvPr/>
        </p:nvSpPr>
        <p:spPr>
          <a:xfrm>
            <a:off x="7498080" y="4846320"/>
            <a:ext cx="731520" cy="64008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R3</a:t>
            </a:r>
            <a:endParaRPr lang="en-US" sz="2000" dirty="0"/>
          </a:p>
        </p:txBody>
      </p:sp>
      <p:sp>
        <p:nvSpPr>
          <p:cNvPr id="31" name="Text 29"/>
          <p:cNvSpPr txBox="1"/>
          <p:nvPr/>
        </p:nvSpPr>
        <p:spPr>
          <a:xfrm>
            <a:off x="8412480" y="4709160"/>
            <a:ext cx="3093415"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Com consumidores</a:t>
            </a:r>
            <a:endParaRPr lang="en-US" sz="1600" dirty="0"/>
          </a:p>
        </p:txBody>
      </p:sp>
      <p:sp>
        <p:nvSpPr>
          <p:cNvPr id="32" name="Text 30"/>
          <p:cNvSpPr txBox="1"/>
          <p:nvPr/>
        </p:nvSpPr>
        <p:spPr>
          <a:xfrm>
            <a:off x="8412480" y="5120640"/>
            <a:ext cx="3093415" cy="594360"/>
          </a:xfrm>
          <a:prstGeom prst="rect">
            <a:avLst/>
          </a:prstGeom>
          <a:noFill/>
          <a:ln/>
        </p:spPr>
        <p:txBody>
          <a:bodyPr wrap="square" lIns="0" tIns="0" rIns="0" bIns="0" rtlCol="0" anchor="t"/>
          <a:lstStyle/>
          <a:p>
            <a:pPr indent="0" marL="0">
              <a:buNone/>
            </a:pPr>
            <a:r>
              <a:rPr lang="en-US" sz="1400" dirty="0">
                <a:solidFill>
                  <a:schemeClr val="tx2"/>
                </a:solidFill>
              </a:rPr>
              <a:t>Mudança da lei pelos PLs 3.716/2026 e 5.017/2019.</a:t>
            </a:r>
            <a:endParaRPr lang="en-US" sz="1400" dirty="0"/>
          </a:p>
        </p:txBody>
      </p:sp>
      <p:sp>
        <p:nvSpPr>
          <p:cNvPr id="33" name="Text 31"/>
          <p:cNvSpPr txBox="1"/>
          <p:nvPr/>
        </p:nvSpPr>
        <p:spPr>
          <a:xfrm>
            <a:off x="7315200" y="5852160"/>
            <a:ext cx="4327855" cy="457200"/>
          </a:xfrm>
          <a:prstGeom prst="rect">
            <a:avLst/>
          </a:prstGeom>
          <a:noFill/>
          <a:ln/>
        </p:spPr>
        <p:txBody>
          <a:bodyPr wrap="square" lIns="0" tIns="0" rIns="0" bIns="0" rtlCol="0" anchor="t"/>
          <a:lstStyle/>
          <a:p>
            <a:pPr indent="0" marL="0">
              <a:buNone/>
            </a:pPr>
            <a:r>
              <a:rPr lang="en-US" sz="1100" i="1" dirty="0">
                <a:solidFill>
                  <a:schemeClr val="tx2"/>
                </a:solidFill>
              </a:rPr>
              <a:t>A ABRACE defende manter o custo só com geradores. ABSAE, Absolar e ABEEólica pedem tratar as baterias como as demais fontes.</a:t>
            </a:r>
            <a:endParaRPr lang="en-US" sz="1100" dirty="0"/>
          </a:p>
        </p:txBody>
      </p:sp>
      <p:sp>
        <p:nvSpPr>
          <p:cNvPr id="34" name="Text 32"/>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Fontes: NT 101/2026 e CP 37/2026 (ANEEL), via Canal Solar, ePowerBay e TAGD Law (2026); Canal Energia (2026). A fórmula final ainda será definida pela ANEEL.</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Memória de cálculo 1/3: base e fórmula</a:t>
            </a:r>
            <a:endParaRPr lang="en-US" sz="3200" dirty="0"/>
          </a:p>
        </p:txBody>
      </p:sp>
      <p:sp>
        <p:nvSpPr>
          <p:cNvPr id="3" name="Calc base card"/>
          <p:cNvSpPr/>
          <p:nvPr/>
        </p:nvSpPr>
        <p:spPr>
          <a:xfrm>
            <a:off x="548640" y="1417320"/>
            <a:ext cx="3520440" cy="475488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4" name="Icon circle"/>
          <p:cNvSpPr/>
          <p:nvPr/>
        </p:nvSpPr>
        <p:spPr>
          <a:xfrm>
            <a:off x="822960" y="1691640"/>
            <a:ext cx="548640" cy="548640"/>
          </a:xfrm>
          <a:prstGeom prst="ellipse">
            <a:avLst/>
          </a:prstGeom>
          <a:solidFill>
            <a:schemeClr val="accent2"/>
          </a:solidFill>
          <a:ln w="12700">
            <a:solidFill>
              <a:schemeClr val="accent2"/>
            </a:solidFill>
            <a:prstDash val="solid"/>
          </a:ln>
        </p:spPr>
      </p:sp>
      <p:pic>
        <p:nvPicPr>
          <p:cNvPr id="5" name="Image 0" descr="FaChartLine">    </p:cNvPr>
          <p:cNvPicPr>
            <a:picLocks noChangeAspect="1"/>
          </p:cNvPicPr>
          <p:nvPr/>
        </p:nvPicPr>
        <p:blipFill>
          <a:blip r:embed="rId1"/>
          <a:stretch>
            <a:fillRect/>
          </a:stretch>
        </p:blipFill>
        <p:spPr>
          <a:xfrm>
            <a:off x="960120" y="1828800"/>
            <a:ext cx="274320" cy="274320"/>
          </a:xfrm>
          <a:prstGeom prst="rect">
            <a:avLst/>
          </a:prstGeom>
        </p:spPr>
      </p:pic>
      <p:sp>
        <p:nvSpPr>
          <p:cNvPr id="6" name="Text 3"/>
          <p:cNvSpPr txBox="1"/>
          <p:nvPr/>
        </p:nvSpPr>
        <p:spPr>
          <a:xfrm>
            <a:off x="1554480" y="1691640"/>
            <a:ext cx="2331720" cy="5486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1. Base de geração</a:t>
            </a:r>
            <a:endParaRPr lang="en-US" sz="1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2960" y="2468880"/>
          <a:ext cx="2971800" cy="914400"/>
        </p:xfrm>
        <a:graphic>
          <a:graphicData uri="http://schemas.openxmlformats.org/drawingml/2006/table">
            <a:tbl>
              <a:tblPr/>
              <a:tblGrid>
                <a:gridCol w="2057400"/>
                <a:gridCol w="914400"/>
              </a:tblGrid>
              <a:tr h="41148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Fonte</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g (%)</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Hidrelétricas</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62,2</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Eólicas</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17,9</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Solares</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5,3</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Térmicas e biomassa</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14,5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438912">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99,9</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bl>
          </a:graphicData>
        </a:graphic>
      </p:graphicFrame>
      <p:sp>
        <p:nvSpPr>
          <p:cNvPr id="8" name="Text 4"/>
          <p:cNvSpPr txBox="1"/>
          <p:nvPr/>
        </p:nvSpPr>
        <p:spPr>
          <a:xfrm>
            <a:off x="822960" y="5257800"/>
            <a:ext cx="2971800" cy="868680"/>
          </a:xfrm>
          <a:prstGeom prst="rect">
            <a:avLst/>
          </a:prstGeom>
          <a:noFill/>
          <a:ln/>
        </p:spPr>
        <p:txBody>
          <a:bodyPr wrap="square" lIns="0" tIns="0" rIns="0" bIns="0" rtlCol="0" anchor="t"/>
          <a:lstStyle/>
          <a:p>
            <a:pPr indent="0" marL="0">
              <a:buNone/>
            </a:pPr>
            <a:r>
              <a:rPr lang="en-US" sz="1200" i="1" dirty="0">
                <a:solidFill>
                  <a:schemeClr val="tx2"/>
                </a:solidFill>
              </a:rPr>
              <a:t>Geração centralizada de 2025: hidráulica 62,2%, eólica 17,9%, solar 5,3%, térmica 10,0% e biomassa 4,5%. O total de 99,9% é arredondamento. Fonte: CCEE/EPE.</a:t>
            </a:r>
            <a:endParaRPr lang="en-US" sz="1200" dirty="0"/>
          </a:p>
        </p:txBody>
      </p:sp>
      <p:sp>
        <p:nvSpPr>
          <p:cNvPr id="9" name="Calc formula card"/>
          <p:cNvSpPr/>
          <p:nvPr/>
        </p:nvSpPr>
        <p:spPr>
          <a:xfrm>
            <a:off x="4334256" y="1417320"/>
            <a:ext cx="3520440" cy="475488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0" name="Icon circle"/>
          <p:cNvSpPr/>
          <p:nvPr/>
        </p:nvSpPr>
        <p:spPr>
          <a:xfrm>
            <a:off x="4608576" y="1691640"/>
            <a:ext cx="548640" cy="548640"/>
          </a:xfrm>
          <a:prstGeom prst="ellipse">
            <a:avLst/>
          </a:prstGeom>
          <a:solidFill>
            <a:schemeClr val="accent1"/>
          </a:solidFill>
          <a:ln w="12700">
            <a:solidFill>
              <a:schemeClr val="accent1"/>
            </a:solidFill>
            <a:prstDash val="solid"/>
          </a:ln>
        </p:spPr>
      </p:sp>
      <p:pic>
        <p:nvPicPr>
          <p:cNvPr id="11" name="Image 1" descr="FaBalanceScale">    </p:cNvPr>
          <p:cNvPicPr>
            <a:picLocks noChangeAspect="1"/>
          </p:cNvPicPr>
          <p:nvPr/>
        </p:nvPicPr>
        <p:blipFill>
          <a:blip r:embed="rId2"/>
          <a:stretch>
            <a:fillRect/>
          </a:stretch>
        </p:blipFill>
        <p:spPr>
          <a:xfrm>
            <a:off x="4745736" y="1828800"/>
            <a:ext cx="274320" cy="274320"/>
          </a:xfrm>
          <a:prstGeom prst="rect">
            <a:avLst/>
          </a:prstGeom>
        </p:spPr>
      </p:pic>
      <p:sp>
        <p:nvSpPr>
          <p:cNvPr id="12" name="Text 7"/>
          <p:cNvSpPr txBox="1"/>
          <p:nvPr/>
        </p:nvSpPr>
        <p:spPr>
          <a:xfrm>
            <a:off x="5340096" y="1691640"/>
            <a:ext cx="2331720" cy="5486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2. Fórmula</a:t>
            </a:r>
            <a:endParaRPr lang="en-US" sz="1800" dirty="0"/>
          </a:p>
        </p:txBody>
      </p:sp>
      <p:sp>
        <p:nvSpPr>
          <p:cNvPr id="13" name="Text 8"/>
          <p:cNvSpPr txBox="1"/>
          <p:nvPr/>
        </p:nvSpPr>
        <p:spPr>
          <a:xfrm>
            <a:off x="4608576" y="2606040"/>
            <a:ext cx="297180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Peso = g × k</a:t>
            </a:r>
            <a:endParaRPr lang="en-US" sz="2200" dirty="0"/>
          </a:p>
        </p:txBody>
      </p:sp>
      <p:sp>
        <p:nvSpPr>
          <p:cNvPr id="14" name="Text 9"/>
          <p:cNvSpPr txBox="1"/>
          <p:nvPr/>
        </p:nvSpPr>
        <p:spPr>
          <a:xfrm>
            <a:off x="4608576" y="3246120"/>
            <a:ext cx="2971800"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Parcela = peso ÷ soma dos pesos</a:t>
            </a:r>
            <a:endParaRPr lang="en-US" sz="2000" dirty="0"/>
          </a:p>
        </p:txBody>
      </p:sp>
      <p:sp>
        <p:nvSpPr>
          <p:cNvPr id="15" name="Text 10"/>
          <p:cNvSpPr txBox="1"/>
          <p:nvPr/>
        </p:nvSpPr>
        <p:spPr>
          <a:xfrm>
            <a:off x="4608576" y="4343400"/>
            <a:ext cx="2971800" cy="1280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g: participação da fonte na geração</a:t>
            </a:r>
            <a:endParaRPr lang="en-US" sz="1400" dirty="0"/>
          </a:p>
          <a:p>
            <a:pPr marL="342900" indent="-342900">
              <a:spcAft>
                <a:spcPts val="600"/>
              </a:spcAft>
              <a:buSzPct val="100000"/>
              <a:buChar char="•"/>
            </a:pPr>
            <a:r>
              <a:rPr lang="en-US" sz="1400" dirty="0">
                <a:solidFill>
                  <a:schemeClr val="tx1"/>
                </a:solidFill>
              </a:rPr>
              <a:t>k: coeficiente de flexibilidade (P1 a P4)</a:t>
            </a:r>
            <a:endParaRPr lang="en-US" sz="1400" dirty="0"/>
          </a:p>
        </p:txBody>
      </p:sp>
      <p:sp>
        <p:nvSpPr>
          <p:cNvPr id="16" name="Calc coefficients card"/>
          <p:cNvSpPr/>
          <p:nvPr/>
        </p:nvSpPr>
        <p:spPr>
          <a:xfrm>
            <a:off x="8119872" y="1417320"/>
            <a:ext cx="3520440" cy="475488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17" name="Icon circle"/>
          <p:cNvSpPr/>
          <p:nvPr/>
        </p:nvSpPr>
        <p:spPr>
          <a:xfrm>
            <a:off x="8394192" y="1691640"/>
            <a:ext cx="548640" cy="548640"/>
          </a:xfrm>
          <a:prstGeom prst="ellipse">
            <a:avLst/>
          </a:prstGeom>
          <a:solidFill>
            <a:schemeClr val="accent3"/>
          </a:solidFill>
          <a:ln w="12700">
            <a:solidFill>
              <a:schemeClr val="accent3"/>
            </a:solidFill>
            <a:prstDash val="solid"/>
          </a:ln>
        </p:spPr>
      </p:sp>
      <p:pic>
        <p:nvPicPr>
          <p:cNvPr id="18" name="Image 2" descr="FaCogs">    </p:cNvPr>
          <p:cNvPicPr>
            <a:picLocks noChangeAspect="1"/>
          </p:cNvPicPr>
          <p:nvPr/>
        </p:nvPicPr>
        <p:blipFill>
          <a:blip r:embed="rId3"/>
          <a:stretch>
            <a:fillRect/>
          </a:stretch>
        </p:blipFill>
        <p:spPr>
          <a:xfrm>
            <a:off x="8531352" y="1828800"/>
            <a:ext cx="274320" cy="274320"/>
          </a:xfrm>
          <a:prstGeom prst="rect">
            <a:avLst/>
          </a:prstGeom>
        </p:spPr>
      </p:pic>
      <p:sp>
        <p:nvSpPr>
          <p:cNvPr id="19" name="Text 13"/>
          <p:cNvSpPr txBox="1"/>
          <p:nvPr/>
        </p:nvSpPr>
        <p:spPr>
          <a:xfrm>
            <a:off x="9125712" y="1691640"/>
            <a:ext cx="2331720" cy="5486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3. Coeficientes k</a:t>
            </a:r>
            <a:endParaRPr lang="en-US" sz="1800" dirty="0"/>
          </a:p>
        </p:txBody>
      </p:sp>
      <p:sp>
        <p:nvSpPr>
          <p:cNvPr id="20" name="Text 14"/>
          <p:cNvSpPr txBox="1"/>
          <p:nvPr/>
        </p:nvSpPr>
        <p:spPr>
          <a:xfrm>
            <a:off x="8394192" y="2514600"/>
            <a:ext cx="2971800" cy="3474720"/>
          </a:xfrm>
          <a:prstGeom prst="rect">
            <a:avLst/>
          </a:prstGeom>
          <a:noFill/>
          <a:ln/>
        </p:spPr>
        <p:txBody>
          <a:bodyPr wrap="square" lIns="0" tIns="0" rIns="0" bIns="0" rtlCol="0" anchor="t"/>
          <a:lstStyle/>
          <a:p>
            <a:pPr indent="0" marL="0">
              <a:spcAft>
                <a:spcPts val="800"/>
              </a:spcAft>
              <a:buNone/>
            </a:pPr>
            <a:r>
              <a:rPr lang="en-US" sz="1400" b="1" dirty="0">
                <a:solidFill>
                  <a:schemeClr val="tx1"/>
                </a:solidFill>
              </a:rPr>
              <a:t>P1 = 1,00 | P2 = 0,75</a:t>
            </a:r>
            <a:endParaRPr lang="en-US" sz="1400" dirty="0"/>
          </a:p>
          <a:p>
            <a:pPr indent="0" marL="0">
              <a:spcAft>
                <a:spcPts val="800"/>
              </a:spcAft>
              <a:buNone/>
            </a:pPr>
            <a:r>
              <a:rPr lang="en-US" sz="1400" b="1" dirty="0">
                <a:solidFill>
                  <a:schemeClr val="tx1"/>
                </a:solidFill>
              </a:rPr>
              <a:t>P3 = 0,50 | P4 = 0,25</a:t>
            </a:r>
            <a:endParaRPr lang="en-US" sz="1400" dirty="0"/>
          </a:p>
          <a:p>
            <a:pPr marL="342900" indent="-342900">
              <a:spcAft>
                <a:spcPts val="800"/>
              </a:spcAft>
              <a:buSzPct val="100000"/>
              <a:buChar char="•"/>
            </a:pPr>
            <a:r>
              <a:rPr lang="en-US" sz="1400" dirty="0">
                <a:solidFill>
                  <a:schemeClr val="tx1"/>
                </a:solidFill>
              </a:rPr>
              <a:t>Eólicas e solares: k = 1,00 (P1)</a:t>
            </a:r>
            <a:endParaRPr lang="en-US" sz="1400" dirty="0"/>
          </a:p>
          <a:p>
            <a:pPr marL="342900" indent="-342900">
              <a:spcAft>
                <a:spcPts val="800"/>
              </a:spcAft>
              <a:buSzPct val="100000"/>
              <a:buChar char="•"/>
            </a:pPr>
            <a:r>
              <a:rPr lang="en-US" sz="1400" dirty="0">
                <a:solidFill>
                  <a:schemeClr val="tx1"/>
                </a:solidFill>
              </a:rPr>
              <a:t>Hidro e térmicas, por cenário:</a:t>
            </a:r>
            <a:endParaRPr lang="en-US" sz="1400" dirty="0"/>
          </a:p>
          <a:p>
            <a:pPr marL="381000" indent="-381000">
              <a:spcAft>
                <a:spcPts val="800"/>
              </a:spcAft>
              <a:buSzPct val="100000"/>
              <a:buChar char="•"/>
            </a:pPr>
            <a:r>
              <a:rPr lang="en-US" sz="1400" dirty="0">
                <a:solidFill>
                  <a:schemeClr val="tx1"/>
                </a:solidFill>
              </a:rPr>
              <a:t>A: todas em P1, k = 1,00</a:t>
            </a:r>
            <a:endParaRPr lang="en-US" sz="1400" dirty="0"/>
          </a:p>
          <a:p>
            <a:pPr marL="381000" indent="-381000">
              <a:spcAft>
                <a:spcPts val="800"/>
              </a:spcAft>
              <a:buSzPct val="100000"/>
              <a:buChar char="•"/>
            </a:pPr>
            <a:r>
              <a:rPr lang="en-US" sz="1400" dirty="0">
                <a:solidFill>
                  <a:schemeClr val="tx1"/>
                </a:solidFill>
              </a:rPr>
              <a:t>B: uniforme, k = (1 + 0,75 + 0,5 + 0,25) ÷ 4 = 0,625</a:t>
            </a:r>
            <a:endParaRPr lang="en-US" sz="1400" dirty="0"/>
          </a:p>
          <a:p>
            <a:pPr marL="381000" indent="-381000">
              <a:spcAft>
                <a:spcPts val="800"/>
              </a:spcAft>
              <a:buSzPct val="100000"/>
              <a:buChar char="•"/>
            </a:pPr>
            <a:r>
              <a:rPr lang="en-US" sz="1400" dirty="0">
                <a:solidFill>
                  <a:schemeClr val="tx1"/>
                </a:solidFill>
              </a:rPr>
              <a:t>C: todas em P4, k = 0,25</a:t>
            </a:r>
            <a:endParaRPr lang="en-US" sz="1400" dirty="0"/>
          </a:p>
        </p:txBody>
      </p:sp>
      <p:sp>
        <p:nvSpPr>
          <p:cNvPr id="21" name="Text 15"/>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Patamares e coeficientes da proposta da ANEEL (NT 101/2026, CP 37/2026), via Canal Solar, ePowerBay e TAGD Law (2026). Os cenários A, B e C são hipóteses minhas.</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Memória de cálculo 2/3: pesos e parcelas</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914400"/>
                <a:gridCol w="1417320"/>
                <a:gridCol w="1188720"/>
                <a:gridCol w="1463040"/>
                <a:gridCol w="1188720"/>
                <a:gridCol w="1463040"/>
                <a:gridCol w="1353312"/>
              </a:tblGrid>
              <a:tr h="685800">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Fonte</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g (%)</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A: peso (g × 1,00)</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A: parcela</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B: peso (g × 0,625)</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B: parcela</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C: peso (g × 0,25)</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C: parcela</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r>
              <a:tr h="50292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Hidrelétricas</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62,2</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62,20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62,3%</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38,88</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54,6%</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15,55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36,7%</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Eólicas</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17,9</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17,90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17,9%</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17,90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25,2%</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17,90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42,2%</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Solares</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5,3</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5,30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5,3%</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5,30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7,5%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5,30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12,5%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Térmicas e biomassa</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14,5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14,50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14,5%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9,06</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12,7%</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8,6%</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502920">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Soma</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99,9</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99,90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71,14</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42,38</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2"/>
                    </a:solidFill>
                  </a:tcPr>
                </a:tc>
              </a:tr>
            </a:tbl>
          </a:graphicData>
        </a:graphic>
      </p:graphicFrame>
      <p:sp>
        <p:nvSpPr>
          <p:cNvPr id="4" name="Text 1"/>
          <p:cNvSpPr txBox="1"/>
          <p:nvPr/>
        </p:nvSpPr>
        <p:spPr>
          <a:xfrm>
            <a:off x="548640" y="4709160"/>
            <a:ext cx="11094415" cy="320040"/>
          </a:xfrm>
          <a:prstGeom prst="rect">
            <a:avLst/>
          </a:prstGeom>
          <a:noFill/>
          <a:ln/>
        </p:spPr>
        <p:txBody>
          <a:bodyPr wrap="square" lIns="0" tIns="0" rIns="0" bIns="0" rtlCol="0" anchor="t"/>
          <a:lstStyle/>
          <a:p>
            <a:pPr indent="0" marL="0">
              <a:buNone/>
            </a:pPr>
            <a:r>
              <a:rPr lang="en-US" sz="1200" i="1" dirty="0">
                <a:solidFill>
                  <a:schemeClr val="tx2"/>
                </a:solidFill>
              </a:rPr>
              <a:t>Pesos exibidos com duas casas. Valores exatos de B: 38,875; 17,9; 5,3; 9,0625 (soma 71,1375).</a:t>
            </a:r>
            <a:endParaRPr lang="en-US" sz="1200" dirty="0"/>
          </a:p>
        </p:txBody>
      </p:sp>
      <p:sp>
        <p:nvSpPr>
          <p:cNvPr id="5" name="Worked examples"/>
          <p:cNvSpPr/>
          <p:nvPr/>
        </p:nvSpPr>
        <p:spPr>
          <a:xfrm>
            <a:off x="548640" y="5166360"/>
            <a:ext cx="11094415" cy="1097280"/>
          </a:xfrm>
          <a:prstGeom prst="roundRect">
            <a:avLst>
              <a:gd name="adj" fmla="val 10000"/>
            </a:avLst>
          </a:prstGeom>
          <a:solidFill>
            <a:schemeClr val="bg2"/>
          </a:solidFill>
          <a:ln w="12700">
            <a:solidFill>
              <a:schemeClr val="bg2"/>
            </a:solidFill>
            <a:prstDash val="solid"/>
          </a:ln>
        </p:spPr>
      </p:sp>
      <p:sp>
        <p:nvSpPr>
          <p:cNvPr id="6" name="Text 3"/>
          <p:cNvSpPr txBox="1"/>
          <p:nvPr/>
        </p:nvSpPr>
        <p:spPr>
          <a:xfrm>
            <a:off x="822960" y="5166360"/>
            <a:ext cx="10545775" cy="1097280"/>
          </a:xfrm>
          <a:prstGeom prst="rect">
            <a:avLst/>
          </a:prstGeom>
          <a:noFill/>
          <a:ln/>
        </p:spPr>
        <p:txBody>
          <a:bodyPr wrap="square" lIns="0" tIns="0" rIns="0" bIns="0" rtlCol="0" anchor="ctr"/>
          <a:lstStyle/>
          <a:p>
            <a:pPr indent="0" marL="0">
              <a:spcAft>
                <a:spcPts val="600"/>
              </a:spcAft>
              <a:buNone/>
            </a:pPr>
            <a:r>
              <a:rPr lang="en-US" sz="1600" b="1" dirty="0">
                <a:solidFill>
                  <a:schemeClr val="tx1"/>
                </a:solidFill>
              </a:rPr>
              <a:t>Exemplo B, hidrelétricas: </a:t>
            </a:r>
            <a:pPr indent="0" marL="0">
              <a:spcAft>
                <a:spcPts val="600"/>
              </a:spcAft>
              <a:buNone/>
            </a:pPr>
            <a:r>
              <a:rPr lang="en-US" sz="1600" dirty="0">
                <a:solidFill>
                  <a:schemeClr val="tx1"/>
                </a:solidFill>
              </a:rPr>
              <a:t>62,2 × 0,625 = 38,875; 38,875 ÷ 71,1375 = 0,5465, ou 54,6%.</a:t>
            </a:r>
            <a:endParaRPr lang="en-US" sz="1600" dirty="0"/>
          </a:p>
          <a:p>
            <a:pPr indent="0" marL="0">
              <a:spcAft>
                <a:spcPts val="600"/>
              </a:spcAft>
              <a:buNone/>
            </a:pPr>
            <a:r>
              <a:rPr lang="en-US" sz="1600" b="1" dirty="0">
                <a:solidFill>
                  <a:schemeClr val="tx1"/>
                </a:solidFill>
              </a:rPr>
              <a:t>Exemplo C, solares: </a:t>
            </a:r>
            <a:pPr indent="0" marL="0">
              <a:spcAft>
                <a:spcPts val="600"/>
              </a:spcAft>
              <a:buNone/>
            </a:pPr>
            <a:r>
              <a:rPr lang="en-US" sz="1600" dirty="0">
                <a:solidFill>
                  <a:schemeClr val="tx1"/>
                </a:solidFill>
              </a:rPr>
              <a:t>5,3 × 1,00 = 5,3; 5,3 ÷ 42,375 = 0,1251, ou 12,5%.</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Memória de cálculo 3/3: valores em R$ e limites</a:t>
            </a:r>
            <a:endParaRPr lang="en-US" sz="3200" dirty="0"/>
          </a:p>
        </p:txBody>
      </p:sp>
      <p:sp>
        <p:nvSpPr>
          <p:cNvPr id="3" name="Text 1"/>
          <p:cNvSpPr txBox="1"/>
          <p:nvPr/>
        </p:nvSpPr>
        <p:spPr>
          <a:xfrm>
            <a:off x="548640" y="1371600"/>
            <a:ext cx="5669280" cy="365760"/>
          </a:xfrm>
          <a:prstGeom prst="rect">
            <a:avLst/>
          </a:prstGeom>
          <a:noFill/>
          <a:ln/>
        </p:spPr>
        <p:txBody>
          <a:bodyPr wrap="square" lIns="0" tIns="0" rIns="0" bIns="0" rtlCol="0" anchor="t"/>
          <a:lstStyle/>
          <a:p>
            <a:pPr indent="0" marL="0">
              <a:buNone/>
            </a:pPr>
            <a:r>
              <a:rPr lang="en-US" sz="1600" b="1" dirty="0">
                <a:solidFill>
                  <a:schemeClr val="tx1"/>
                </a:solidFill>
              </a:rPr>
              <a:t>Por R$ 1 bilhão de receita fixa anual (R$ milhões)</a:t>
            </a:r>
            <a:endParaRPr lang="en-US" sz="1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669280" cy="914400"/>
        </p:xfrm>
        <a:graphic>
          <a:graphicData uri="http://schemas.openxmlformats.org/drawingml/2006/table">
            <a:tbl>
              <a:tblPr/>
              <a:tblGrid>
                <a:gridCol w="2103120"/>
                <a:gridCol w="1188720"/>
                <a:gridCol w="1188720"/>
                <a:gridCol w="1188720"/>
              </a:tblGrid>
              <a:tr h="502920">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Fonte</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r>
              <a:tr h="50292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Hidrelétricas</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623</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546</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367</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Eólicas</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179</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252</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422</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Solares</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53</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75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125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Térmicas e biomassa</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145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127</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86</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502920">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Soma</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2"/>
                    </a:solidFill>
                  </a:tcPr>
                </a:tc>
              </a:tr>
            </a:tbl>
          </a:graphicData>
        </a:graphic>
      </p:graphicFrame>
      <p:sp>
        <p:nvSpPr>
          <p:cNvPr id="5" name="Text 2"/>
          <p:cNvSpPr txBox="1"/>
          <p:nvPr/>
        </p:nvSpPr>
        <p:spPr>
          <a:xfrm>
            <a:off x="548640" y="5120640"/>
            <a:ext cx="5669280" cy="1188720"/>
          </a:xfrm>
          <a:prstGeom prst="rect">
            <a:avLst/>
          </a:prstGeom>
          <a:noFill/>
          <a:ln/>
        </p:spPr>
        <p:txBody>
          <a:bodyPr wrap="square" lIns="0" tIns="0" rIns="0" bIns="0" rtlCol="0" anchor="t"/>
          <a:lstStyle/>
          <a:p>
            <a:pPr indent="0" marL="0">
              <a:buNone/>
            </a:pPr>
            <a:r>
              <a:rPr lang="en-US" sz="1400" dirty="0">
                <a:solidFill>
                  <a:schemeClr val="tx2"/>
                </a:solidFill>
              </a:rPr>
              <a:t>Conversão: parcela (%) × 10. Exemplo: eólicas no cenário B, 25,2% de R$ 1 bi = R$ 252 mi. O encargo total depende do deságio do leilão e ainda não é conhecido.</a:t>
            </a:r>
            <a:endParaRPr lang="en-US" sz="1400" dirty="0"/>
          </a:p>
        </p:txBody>
      </p:sp>
      <p:sp>
        <p:nvSpPr>
          <p:cNvPr id="6" name="Limits card"/>
          <p:cNvSpPr/>
          <p:nvPr/>
        </p:nvSpPr>
        <p:spPr>
          <a:xfrm>
            <a:off x="6583680" y="1417320"/>
            <a:ext cx="5059375" cy="4800600"/>
          </a:xfrm>
          <a:prstGeom prst="roundRect">
            <a:avLst>
              <a:gd name="adj" fmla="val 2286"/>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7" name="Icon circle"/>
          <p:cNvSpPr/>
          <p:nvPr/>
        </p:nvSpPr>
        <p:spPr>
          <a:xfrm>
            <a:off x="6858000" y="1645920"/>
            <a:ext cx="548640" cy="548640"/>
          </a:xfrm>
          <a:prstGeom prst="ellipse">
            <a:avLst/>
          </a:prstGeom>
          <a:solidFill>
            <a:schemeClr val="accent4"/>
          </a:solidFill>
          <a:ln w="12700">
            <a:solidFill>
              <a:schemeClr val="accent4"/>
            </a:solidFill>
            <a:prstDash val="solid"/>
          </a:ln>
        </p:spPr>
      </p:sp>
      <p:pic>
        <p:nvPicPr>
          <p:cNvPr id="8" name="Image 0" descr="FaSearch">    </p:cNvPr>
          <p:cNvPicPr>
            <a:picLocks noChangeAspect="1"/>
          </p:cNvPicPr>
          <p:nvPr/>
        </p:nvPicPr>
        <p:blipFill>
          <a:blip r:embed="rId1"/>
          <a:stretch>
            <a:fillRect/>
          </a:stretch>
        </p:blipFill>
        <p:spPr>
          <a:xfrm>
            <a:off x="6995160" y="1783080"/>
            <a:ext cx="274320" cy="274320"/>
          </a:xfrm>
          <a:prstGeom prst="rect">
            <a:avLst/>
          </a:prstGeom>
        </p:spPr>
      </p:pic>
      <p:sp>
        <p:nvSpPr>
          <p:cNvPr id="9" name="Text 5"/>
          <p:cNvSpPr txBox="1"/>
          <p:nvPr/>
        </p:nvSpPr>
        <p:spPr>
          <a:xfrm>
            <a:off x="7589520" y="1645920"/>
            <a:ext cx="3870655" cy="5486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Limitações</a:t>
            </a:r>
            <a:endParaRPr lang="en-US" sz="1800" dirty="0"/>
          </a:p>
        </p:txBody>
      </p:sp>
      <p:sp>
        <p:nvSpPr>
          <p:cNvPr id="10" name="Text 6"/>
          <p:cNvSpPr txBox="1"/>
          <p:nvPr/>
        </p:nvSpPr>
        <p:spPr>
          <a:xfrm>
            <a:off x="6858000" y="2468880"/>
            <a:ext cx="4510735" cy="356616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Os critérios de cada patamar e a classificação das usinas pelo ONS não foram localizados.</a:t>
            </a:r>
            <a:endParaRPr lang="en-US" sz="1400" dirty="0"/>
          </a:p>
          <a:p>
            <a:pPr marL="342900" indent="-342900">
              <a:spcAft>
                <a:spcPts val="900"/>
              </a:spcAft>
              <a:buSzPct val="100000"/>
              <a:buChar char="•"/>
            </a:pPr>
            <a:r>
              <a:rPr lang="en-US" sz="1400" dirty="0">
                <a:solidFill>
                  <a:schemeClr val="tx1"/>
                </a:solidFill>
              </a:rPr>
              <a:t>Hidrelétricas e térmicas recebem o mesmo k em cada cenário, o que na prática não ocorre.</a:t>
            </a:r>
            <a:endParaRPr lang="en-US" sz="1400" dirty="0"/>
          </a:p>
          <a:p>
            <a:pPr marL="342900" indent="-342900">
              <a:spcAft>
                <a:spcPts val="900"/>
              </a:spcAft>
              <a:buSzPct val="100000"/>
              <a:buChar char="•"/>
            </a:pPr>
            <a:r>
              <a:rPr lang="en-US" sz="1400" dirty="0">
                <a:solidFill>
                  <a:schemeClr val="tx1"/>
                </a:solidFill>
              </a:rPr>
              <a:t>A base da proposta é a energia associada de cada agente, e não a participação anual na geração.</a:t>
            </a:r>
            <a:endParaRPr lang="en-US" sz="1400" dirty="0"/>
          </a:p>
          <a:p>
            <a:pPr marL="342900" indent="-342900">
              <a:spcAft>
                <a:spcPts val="900"/>
              </a:spcAft>
              <a:buSzPct val="100000"/>
              <a:buChar char="•"/>
            </a:pPr>
            <a:r>
              <a:rPr lang="en-US" sz="1400" dirty="0">
                <a:solidFill>
                  <a:schemeClr val="tx1"/>
                </a:solidFill>
              </a:rPr>
              <a:t>Os patamares vêm de resumos setoriais, e a proposta ainda está em consulta.</a:t>
            </a:r>
            <a:endParaRPr lang="en-US" sz="1400" dirty="0"/>
          </a:p>
          <a:p>
            <a:pPr marL="342900" indent="-342900">
              <a:spcAft>
                <a:spcPts val="900"/>
              </a:spcAft>
              <a:buSzPct val="100000"/>
              <a:buChar char="•"/>
            </a:pPr>
            <a:r>
              <a:rPr lang="en-US" sz="1400" dirty="0">
                <a:solidFill>
                  <a:schemeClr val="tx1"/>
                </a:solidFill>
              </a:rPr>
              <a:t>A parcela de cada fonte muda com a geração adicional, pois quem gera mais paga mais.</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Quanto cada fonte pagaria: exercício ilustrativo</a:t>
            </a:r>
            <a:endParaRPr lang="en-US" sz="3200" dirty="0"/>
          </a:p>
        </p:txBody>
      </p:sp>
      <p:sp>
        <p:nvSpPr>
          <p:cNvPr id="3" name="Share chart card"/>
          <p:cNvSpPr/>
          <p:nvPr/>
        </p:nvSpPr>
        <p:spPr>
          <a:xfrm>
            <a:off x="548640" y="1417320"/>
            <a:ext cx="6126480" cy="4069080"/>
          </a:xfrm>
          <a:prstGeom prst="roundRect">
            <a:avLst>
              <a:gd name="adj" fmla="val 2697"/>
            </a:avLst>
          </a:prstGeom>
          <a:solidFill>
            <a:schemeClr val="bg2"/>
          </a:solidFill>
          <a:ln w="12700">
            <a:solidFill>
              <a:schemeClr val="bg2"/>
            </a:solidFill>
            <a:prstDash val="solid"/>
          </a:ln>
        </p:spPr>
      </p:sp>
      <p:graphicFrame>
        <p:nvGraphicFramePr>
          <p:cNvPr id="4" name="Chart 0" descr=""/>
          <p:cNvGraphicFramePr/>
          <p:nvPr/>
        </p:nvGraphicFramePr>
        <p:xfrm>
          <a:off x="685800" y="1508760"/>
          <a:ext cx="5852160" cy="3886200"/>
        </p:xfrm>
        <a:graphic xmlns:a="http://schemas.openxmlformats.org/drawingml/2006/main">
          <a:graphicData uri="http://schemas.openxmlformats.org/drawingml/2006/chart">
            <c:chart xmlns:c="http://schemas.openxmlformats.org/drawingml/2006/chart" r:id="rId1"/>
          </a:graphicData>
        </a:graphic>
      </p:graphicFrame>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903720" y="1417320"/>
          <a:ext cx="4739335" cy="914400"/>
        </p:xfrm>
        <a:graphic>
          <a:graphicData uri="http://schemas.openxmlformats.org/drawingml/2006/table">
            <a:tbl>
              <a:tblPr/>
              <a:tblGrid>
                <a:gridCol w="1463040"/>
                <a:gridCol w="1051560"/>
                <a:gridCol w="1097280"/>
                <a:gridCol w="1124712"/>
              </a:tblGrid>
              <a:tr h="54864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Fonte</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A (k = 100%)</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 (k = 62,5%)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 (k = 25%)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r>
              <a:tr h="59436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Hidrelétricas</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62,3%</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54,6%</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36,7%</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59436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Eólicas</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17,9%</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25,2%</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42,2%</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59436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Solares</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5,3%</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7,5%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12,5%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59436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Térmicas e biomassa</a:t>
                      </a:r>
                      <a:endParaRPr lang="en-US" sz="13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14,5%</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12,7%</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8,6%</a:t>
                      </a:r>
                      <a:endParaRPr lang="en-US" sz="1400" dirty="0">
                        <a:latin typeface="Calibri" charset="0"/>
                        <a:ea typeface="Calibri" charset="0"/>
                        <a:cs typeface="Calibri" charset="0"/>
                      </a:endParaRPr>
                    </a:p>
                  </a:txBody>
                  <a:tcPr marL="91440" marR="9144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6903720" y="4526280"/>
            <a:ext cx="4739335" cy="1005840"/>
          </a:xfrm>
          <a:prstGeom prst="rect">
            <a:avLst/>
          </a:prstGeom>
          <a:noFill/>
          <a:ln/>
        </p:spPr>
        <p:txBody>
          <a:bodyPr wrap="square" lIns="0" tIns="0" rIns="0" bIns="0" rtlCol="0" anchor="t"/>
          <a:lstStyle/>
          <a:p>
            <a:pPr indent="0" marL="0">
              <a:buNone/>
            </a:pPr>
            <a:r>
              <a:rPr lang="en-US" sz="1200" i="1" dirty="0">
                <a:solidFill>
                  <a:schemeClr val="tx2"/>
                </a:solidFill>
              </a:rPr>
              <a:t>Eólicas e solares fixas em P1 (100%). Hidrelétricas e térmicas usam o mesmo k: 100% (tudo P1), 62,5% (média dos quatro patamares) e 25% (tudo P4). Para cada R$ 1 bi de receita fixa, 1% equivale a R$ 10 mi.</a:t>
            </a:r>
            <a:endParaRPr lang="en-US" sz="1200" dirty="0"/>
          </a:p>
        </p:txBody>
      </p:sp>
      <p:sp>
        <p:nvSpPr>
          <p:cNvPr id="7" name="Illustrative caveat"/>
          <p:cNvSpPr/>
          <p:nvPr/>
        </p:nvSpPr>
        <p:spPr>
          <a:xfrm>
            <a:off x="548640" y="5577840"/>
            <a:ext cx="11094415" cy="713232"/>
          </a:xfrm>
          <a:prstGeom prst="roundRect">
            <a:avLst>
              <a:gd name="adj" fmla="val 15385"/>
            </a:avLst>
          </a:prstGeom>
          <a:solidFill>
            <a:schemeClr val="tx2"/>
          </a:solidFill>
          <a:ln w="12700">
            <a:solidFill>
              <a:schemeClr val="tx2"/>
            </a:solidFill>
            <a:prstDash val="solid"/>
          </a:ln>
        </p:spPr>
      </p:sp>
      <p:sp>
        <p:nvSpPr>
          <p:cNvPr id="8" name="Text 4"/>
          <p:cNvSpPr txBox="1"/>
          <p:nvPr/>
        </p:nvSpPr>
        <p:spPr>
          <a:xfrm>
            <a:off x="822960" y="5577840"/>
            <a:ext cx="10545775" cy="713232"/>
          </a:xfrm>
          <a:prstGeom prst="rect">
            <a:avLst/>
          </a:prstGeom>
          <a:noFill/>
          <a:ln/>
        </p:spPr>
        <p:txBody>
          <a:bodyPr wrap="square" lIns="0" tIns="0" rIns="0" bIns="0" rtlCol="0" anchor="ctr"/>
          <a:lstStyle/>
          <a:p>
            <a:pPr indent="0" marL="0">
              <a:buNone/>
            </a:pPr>
            <a:r>
              <a:rPr lang="en-US" sz="1400" b="1" dirty="0">
                <a:solidFill>
                  <a:schemeClr val="accent1"/>
                </a:solidFill>
              </a:rPr>
              <a:t>Não há percentual oficial. </a:t>
            </a:r>
            <a:pPr indent="0" marL="0">
              <a:buNone/>
            </a:pPr>
            <a:r>
              <a:rPr lang="en-US" sz="1400" dirty="0">
                <a:solidFill>
                  <a:schemeClr val="bg1"/>
                </a:solidFill>
              </a:rPr>
              <a:t>A ANEEL ainda define a fórmula e os critérios de cada patamar. Os cenários mostram o intervalo possível, com a geração centralizada de 2025 como base.</a:t>
            </a:r>
            <a:endParaRPr lang="en-US" sz="1400" dirty="0"/>
          </a:p>
        </p:txBody>
      </p:sp>
      <p:sp>
        <p:nvSpPr>
          <p:cNvPr id="9" name="Text 5"/>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Cálculo próprio com a geração centralizada de 2025 (CCEE/EPE, Balanço de consumo e geração 2025): hidráulica 62,2%, eólica 17,9%, solar 5,3%, térmica 10,0% e biomassa 4,5%.</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O que as baterias podem economizar</a:t>
            </a:r>
            <a:endParaRPr lang="en-US" sz="3200" dirty="0"/>
          </a:p>
        </p:txBody>
      </p:sp>
      <p:sp>
        <p:nvSpPr>
          <p:cNvPr id="3" name="Chart card"/>
          <p:cNvSpPr/>
          <p:nvPr/>
        </p:nvSpPr>
        <p:spPr>
          <a:xfrm>
            <a:off x="548640" y="1417320"/>
            <a:ext cx="6035040" cy="4114800"/>
          </a:xfrm>
          <a:prstGeom prst="roundRect">
            <a:avLst>
              <a:gd name="adj" fmla="val 2667"/>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graphicFrame>
        <p:nvGraphicFramePr>
          <p:cNvPr id="4" name="Chart 0" descr=""/>
          <p:cNvGraphicFramePr/>
          <p:nvPr/>
        </p:nvGraphicFramePr>
        <p:xfrm>
          <a:off x="731520" y="155448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5" name="Breakdown card"/>
          <p:cNvSpPr/>
          <p:nvPr/>
        </p:nvSpPr>
        <p:spPr>
          <a:xfrm>
            <a:off x="6858000" y="1417320"/>
            <a:ext cx="4785055" cy="4114800"/>
          </a:xfrm>
          <a:prstGeom prst="roundRect">
            <a:avLst>
              <a:gd name="adj" fmla="val 2667"/>
            </a:avLst>
          </a:prstGeom>
          <a:solidFill>
            <a:schemeClr val="bg1"/>
          </a:solidFill>
          <a:ln w="12700">
            <a:solidFill>
              <a:schemeClr val="bg1"/>
            </a:solidFill>
            <a:prstDash val="solid"/>
          </a:ln>
          <a:effectLst>
            <a:outerShdw sx="100000" sy="100000" kx="0" ky="0" algn="bl" rotWithShape="0" blurRad="101600" dist="25400" dir="5400000">
              <a:srgbClr val="0B1A2E">
                <a:alpha val="12000"/>
              </a:srgbClr>
            </a:outerShdw>
          </a:effectLst>
        </p:spPr>
      </p:sp>
      <p:sp>
        <p:nvSpPr>
          <p:cNvPr id="6" name="Text 3"/>
          <p:cNvSpPr txBox="1"/>
          <p:nvPr/>
        </p:nvSpPr>
        <p:spPr>
          <a:xfrm>
            <a:off x="7132320" y="1600200"/>
            <a:ext cx="4236415"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Composição do estudo de 4,5 GW</a:t>
            </a:r>
            <a:endParaRPr lang="en-US" sz="1600" dirty="0"/>
          </a:p>
        </p:txBody>
      </p:sp>
      <p:sp>
        <p:nvSpPr>
          <p:cNvPr id="7" name="Text 4"/>
          <p:cNvSpPr txBox="1"/>
          <p:nvPr/>
        </p:nvSpPr>
        <p:spPr>
          <a:xfrm>
            <a:off x="7132320" y="2103120"/>
            <a:ext cx="2011680" cy="5486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R$ 8,9 bi/ano</a:t>
            </a:r>
            <a:endParaRPr lang="en-US" sz="1600" dirty="0"/>
          </a:p>
        </p:txBody>
      </p:sp>
      <p:sp>
        <p:nvSpPr>
          <p:cNvPr id="8" name="Text 5"/>
          <p:cNvSpPr txBox="1"/>
          <p:nvPr/>
        </p:nvSpPr>
        <p:spPr>
          <a:xfrm>
            <a:off x="9189720" y="2103120"/>
            <a:ext cx="2179015" cy="548640"/>
          </a:xfrm>
          <a:prstGeom prst="rect">
            <a:avLst/>
          </a:prstGeom>
          <a:noFill/>
          <a:ln/>
        </p:spPr>
        <p:txBody>
          <a:bodyPr wrap="square" lIns="0" tIns="0" rIns="0" bIns="0" rtlCol="0" anchor="ctr"/>
          <a:lstStyle/>
          <a:p>
            <a:pPr indent="0" marL="0">
              <a:buNone/>
            </a:pPr>
            <a:r>
              <a:rPr lang="en-US" sz="1400" dirty="0">
                <a:solidFill>
                  <a:schemeClr val="tx1"/>
                </a:solidFill>
              </a:rPr>
              <a:t>benefício total para os consumidores</a:t>
            </a:r>
            <a:endParaRPr lang="en-US" sz="1400" dirty="0"/>
          </a:p>
        </p:txBody>
      </p:sp>
      <p:sp>
        <p:nvSpPr>
          <p:cNvPr id="9" name="Text 6"/>
          <p:cNvSpPr txBox="1"/>
          <p:nvPr/>
        </p:nvSpPr>
        <p:spPr>
          <a:xfrm>
            <a:off x="7132320" y="2779776"/>
            <a:ext cx="2011680" cy="5486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R$ 660 mi/ano</a:t>
            </a:r>
            <a:endParaRPr lang="en-US" sz="1600" dirty="0"/>
          </a:p>
        </p:txBody>
      </p:sp>
      <p:sp>
        <p:nvSpPr>
          <p:cNvPr id="10" name="Text 7"/>
          <p:cNvSpPr txBox="1"/>
          <p:nvPr/>
        </p:nvSpPr>
        <p:spPr>
          <a:xfrm>
            <a:off x="9189720" y="2779776"/>
            <a:ext cx="2179015" cy="548640"/>
          </a:xfrm>
          <a:prstGeom prst="rect">
            <a:avLst/>
          </a:prstGeom>
          <a:noFill/>
          <a:ln/>
        </p:spPr>
        <p:txBody>
          <a:bodyPr wrap="square" lIns="0" tIns="0" rIns="0" bIns="0" rtlCol="0" anchor="ctr"/>
          <a:lstStyle/>
          <a:p>
            <a:pPr indent="0" marL="0">
              <a:buNone/>
            </a:pPr>
            <a:r>
              <a:rPr lang="en-US" sz="1400" dirty="0">
                <a:solidFill>
                  <a:schemeClr val="tx1"/>
                </a:solidFill>
              </a:rPr>
              <a:t>menor custo do risco hidrológico (GSF)</a:t>
            </a:r>
            <a:endParaRPr lang="en-US" sz="1400" dirty="0"/>
          </a:p>
        </p:txBody>
      </p:sp>
      <p:sp>
        <p:nvSpPr>
          <p:cNvPr id="11" name="Text 8"/>
          <p:cNvSpPr txBox="1"/>
          <p:nvPr/>
        </p:nvSpPr>
        <p:spPr>
          <a:xfrm>
            <a:off x="7132320" y="3456432"/>
            <a:ext cx="2011680" cy="5486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até R$ 550 mi/ano</a:t>
            </a:r>
            <a:endParaRPr lang="en-US" sz="1600" dirty="0"/>
          </a:p>
        </p:txBody>
      </p:sp>
      <p:sp>
        <p:nvSpPr>
          <p:cNvPr id="12" name="Text 9"/>
          <p:cNvSpPr txBox="1"/>
          <p:nvPr/>
        </p:nvSpPr>
        <p:spPr>
          <a:xfrm>
            <a:off x="9189720" y="3456432"/>
            <a:ext cx="2179015" cy="548640"/>
          </a:xfrm>
          <a:prstGeom prst="rect">
            <a:avLst/>
          </a:prstGeom>
          <a:noFill/>
          <a:ln/>
        </p:spPr>
        <p:txBody>
          <a:bodyPr wrap="square" lIns="0" tIns="0" rIns="0" bIns="0" rtlCol="0" anchor="ctr"/>
          <a:lstStyle/>
          <a:p>
            <a:pPr indent="0" marL="0">
              <a:buNone/>
            </a:pPr>
            <a:r>
              <a:rPr lang="en-US" sz="1400" dirty="0">
                <a:solidFill>
                  <a:schemeClr val="tx1"/>
                </a:solidFill>
              </a:rPr>
              <a:t>menor curtailment de solar e eólica</a:t>
            </a:r>
            <a:endParaRPr lang="en-US" sz="1400" dirty="0"/>
          </a:p>
        </p:txBody>
      </p:sp>
      <p:sp>
        <p:nvSpPr>
          <p:cNvPr id="13" name="Text 10"/>
          <p:cNvSpPr txBox="1"/>
          <p:nvPr/>
        </p:nvSpPr>
        <p:spPr>
          <a:xfrm>
            <a:off x="7132320" y="4133088"/>
            <a:ext cx="2011680" cy="5486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R$ 550 mi/ano</a:t>
            </a:r>
            <a:endParaRPr lang="en-US" sz="1600" dirty="0"/>
          </a:p>
        </p:txBody>
      </p:sp>
      <p:sp>
        <p:nvSpPr>
          <p:cNvPr id="14" name="Text 11"/>
          <p:cNvSpPr txBox="1"/>
          <p:nvPr/>
        </p:nvSpPr>
        <p:spPr>
          <a:xfrm>
            <a:off x="9189720" y="4133088"/>
            <a:ext cx="2179015" cy="548640"/>
          </a:xfrm>
          <a:prstGeom prst="rect">
            <a:avLst/>
          </a:prstGeom>
          <a:noFill/>
          <a:ln/>
        </p:spPr>
        <p:txBody>
          <a:bodyPr wrap="square" lIns="0" tIns="0" rIns="0" bIns="0" rtlCol="0" anchor="ctr"/>
          <a:lstStyle/>
          <a:p>
            <a:pPr indent="0" marL="0">
              <a:buNone/>
            </a:pPr>
            <a:r>
              <a:rPr lang="en-US" sz="1400" dirty="0">
                <a:solidFill>
                  <a:schemeClr val="tx1"/>
                </a:solidFill>
              </a:rPr>
              <a:t>economia atribuída aos geradores</a:t>
            </a:r>
            <a:endParaRPr lang="en-US" sz="1400" dirty="0"/>
          </a:p>
        </p:txBody>
      </p:sp>
      <p:sp>
        <p:nvSpPr>
          <p:cNvPr id="15" name="Text 12"/>
          <p:cNvSpPr txBox="1"/>
          <p:nvPr/>
        </p:nvSpPr>
        <p:spPr>
          <a:xfrm>
            <a:off x="7132320" y="4809744"/>
            <a:ext cx="2011680" cy="5486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R$ 629 mi/ano</a:t>
            </a:r>
            <a:endParaRPr lang="en-US" sz="1600" dirty="0"/>
          </a:p>
        </p:txBody>
      </p:sp>
      <p:sp>
        <p:nvSpPr>
          <p:cNvPr id="16" name="Text 13"/>
          <p:cNvSpPr txBox="1"/>
          <p:nvPr/>
        </p:nvSpPr>
        <p:spPr>
          <a:xfrm>
            <a:off x="9189720" y="4809744"/>
            <a:ext cx="2179015" cy="548640"/>
          </a:xfrm>
          <a:prstGeom prst="rect">
            <a:avLst/>
          </a:prstGeom>
          <a:noFill/>
          <a:ln/>
        </p:spPr>
        <p:txBody>
          <a:bodyPr wrap="square" lIns="0" tIns="0" rIns="0" bIns="0" rtlCol="0" anchor="ctr"/>
          <a:lstStyle/>
          <a:p>
            <a:pPr indent="0" marL="0">
              <a:buNone/>
            </a:pPr>
            <a:r>
              <a:rPr lang="en-US" sz="1400" dirty="0">
                <a:solidFill>
                  <a:schemeClr val="tx1"/>
                </a:solidFill>
              </a:rPr>
              <a:t>encargos evitados em outra simulação da Volt Robotics</a:t>
            </a:r>
            <a:endParaRPr lang="en-US" sz="1400" dirty="0"/>
          </a:p>
        </p:txBody>
      </p:sp>
      <p:sp>
        <p:nvSpPr>
          <p:cNvPr id="17" name="Caveat banner"/>
          <p:cNvSpPr/>
          <p:nvPr/>
        </p:nvSpPr>
        <p:spPr>
          <a:xfrm>
            <a:off x="548640" y="5669280"/>
            <a:ext cx="11094415" cy="594360"/>
          </a:xfrm>
          <a:prstGeom prst="roundRect">
            <a:avLst>
              <a:gd name="adj" fmla="val 18462"/>
            </a:avLst>
          </a:prstGeom>
          <a:solidFill>
            <a:schemeClr val="tx2"/>
          </a:solidFill>
          <a:ln w="12700">
            <a:solidFill>
              <a:schemeClr val="tx2"/>
            </a:solidFill>
            <a:prstDash val="solid"/>
          </a:ln>
        </p:spPr>
      </p:sp>
      <p:sp>
        <p:nvSpPr>
          <p:cNvPr id="18" name="Text 15"/>
          <p:cNvSpPr txBox="1"/>
          <p:nvPr/>
        </p:nvSpPr>
        <p:spPr>
          <a:xfrm>
            <a:off x="822960" y="5669280"/>
            <a:ext cx="10545775" cy="594360"/>
          </a:xfrm>
          <a:prstGeom prst="rect">
            <a:avLst/>
          </a:prstGeom>
          <a:noFill/>
          <a:ln/>
        </p:spPr>
        <p:txBody>
          <a:bodyPr wrap="square" lIns="0" tIns="0" rIns="0" bIns="0" rtlCol="0" anchor="ctr"/>
          <a:lstStyle/>
          <a:p>
            <a:pPr indent="0" marL="0">
              <a:buNone/>
            </a:pPr>
            <a:r>
              <a:rPr lang="en-US" sz="1400" b="1" dirty="0">
                <a:solidFill>
                  <a:schemeClr val="accent1"/>
                </a:solidFill>
              </a:rPr>
              <a:t>Cautela: </a:t>
            </a:r>
            <a:pPr indent="0" marL="0">
              <a:buNone/>
            </a:pPr>
            <a:r>
              <a:rPr lang="en-US" sz="1400" dirty="0">
                <a:solidFill>
                  <a:schemeClr val="bg1"/>
                </a:solidFill>
              </a:rPr>
              <a:t>estudos encomendados pelo setor de armazenamento. Potência e premissas diferem, então os valores não são comparáveis entre si.</a:t>
            </a:r>
            <a:endParaRPr lang="en-US" sz="1400" dirty="0"/>
          </a:p>
        </p:txBody>
      </p:sp>
      <p:sp>
        <p:nvSpPr>
          <p:cNvPr id="19" name="Text 16"/>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Fontes: Volt Robotics via Tribuna do Sertão (1/10/2026); ABSAE (2026); Canal Solar (2026). Estimativas de simulação, não economia já realizada.</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Comparativo por fonte: ganho × encargo</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920240"/>
                <a:gridCol w="3017520"/>
                <a:gridCol w="3291840"/>
                <a:gridCol w="2862072"/>
              </a:tblGrid>
              <a:tr h="50292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Fonte</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Ganho com baterias</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Encargo (proposta em consulta)</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Hipótese a testar</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tx2"/>
                    </a:solidFill>
                  </a:tcPr>
                </a:tc>
              </a:tr>
              <a:tr h="777240">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Eólicas</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Menos cortes: mais energia vendida</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Parte do P1 (100%); pode cair com armazenamento associado</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Ganho cobre o encargo se o corte evitado for alto</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777240">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Solares</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Maior corte evitado por MWh instalado</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Parte do P1 (100%); peso de 5,3% na geração</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Tende a ser mais vantajoso que o das eólicas</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777240">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UHEs</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Menos corte e vertimento; mais água armazenada</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P1 a P4 (100% a 25%), conforme a classificação do ONS</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Depende do patamar e do valor da água</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r h="777240">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Térmicas e biomassa</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Menos acionamento na rampa: perdem despacho</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P1 a P4, conforme a classificação do ONS</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Fora do foco: só reportado</a:t>
                      </a:r>
                      <a:endParaRPr lang="en-US" sz="1400" dirty="0">
                        <a:latin typeface="Calibri" charset="0"/>
                        <a:ea typeface="Calibri" charset="0"/>
                        <a:cs typeface="Calibri" charset="0"/>
                      </a:endParaRPr>
                    </a:p>
                  </a:txBody>
                  <a:tcPr marL="137160" marR="137160" marT="45720" marB="45720" anchor="ctr">
                    <a:lnL w="12700" cap="flat" cmpd="sng" algn="ctr">
                      <a:solidFill>
                        <a:srgbClr val="EEF3F8"/>
                      </a:solidFill>
                      <a:prstDash val="solid"/>
                      <a:round/>
                      <a:headEnd type="none" w="med" len="med"/>
                      <a:tailEnd type="none" w="med" len="med"/>
                    </a:lnL>
                    <a:lnR w="12700" cap="flat" cmpd="sng" algn="ctr">
                      <a:solidFill>
                        <a:srgbClr val="EEF3F8"/>
                      </a:solidFill>
                      <a:prstDash val="solid"/>
                      <a:round/>
                      <a:headEnd type="none" w="med" len="med"/>
                      <a:tailEnd type="none" w="med" len="med"/>
                    </a:lnR>
                    <a:lnT w="12700" cap="flat" cmpd="sng" algn="ctr">
                      <a:solidFill>
                        <a:srgbClr val="EEF3F8"/>
                      </a:solidFill>
                      <a:prstDash val="solid"/>
                      <a:round/>
                      <a:headEnd type="none" w="med" len="med"/>
                      <a:tailEnd type="none" w="med" len="med"/>
                    </a:lnT>
                    <a:lnB w="12700" cap="flat" cmpd="sng" algn="ctr">
                      <a:solidFill>
                        <a:srgbClr val="EEF3F8"/>
                      </a:solidFill>
                      <a:prstDash val="solid"/>
                      <a:round/>
                      <a:headEnd type="none" w="med" len="med"/>
                      <a:tailEnd type="none" w="med" len="med"/>
                    </a:lnB>
                    <a:solidFill>
                      <a:schemeClr val="bg1"/>
                    </a:solidFill>
                  </a:tcPr>
                </a:tc>
              </a:tr>
            </a:tbl>
          </a:graphicData>
        </a:graphic>
      </p:graphicFrame>
      <p:sp>
        <p:nvSpPr>
          <p:cNvPr id="4" name="Link to objectives"/>
          <p:cNvSpPr/>
          <p:nvPr/>
        </p:nvSpPr>
        <p:spPr>
          <a:xfrm>
            <a:off x="548640" y="5440680"/>
            <a:ext cx="11094415"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440680"/>
            <a:ext cx="10545775" cy="777240"/>
          </a:xfrm>
          <a:prstGeom prst="rect">
            <a:avLst/>
          </a:prstGeom>
          <a:noFill/>
          <a:ln/>
        </p:spPr>
        <p:txBody>
          <a:bodyPr wrap="square" lIns="0" tIns="0" rIns="0" bIns="0" rtlCol="0" anchor="ctr"/>
          <a:lstStyle/>
          <a:p>
            <a:pPr indent="0" marL="0">
              <a:buNone/>
            </a:pPr>
            <a:r>
              <a:rPr lang="en-US" sz="1600" b="1" dirty="0">
                <a:solidFill>
                  <a:schemeClr val="tx1"/>
                </a:solidFill>
              </a:rPr>
              <a:t>Saldo da fonte i = ganho − encargo. </a:t>
            </a:r>
            <a:pPr indent="0" marL="0">
              <a:buNone/>
            </a:pPr>
            <a:r>
              <a:rPr lang="en-US" sz="1600" dirty="0">
                <a:solidFill>
                  <a:schemeClr val="tx1"/>
                </a:solidFill>
              </a:rPr>
              <a:t>As simulações (OE1 a OE5) quantificam cada célula e testam as regras de rateio R1 a R3.</a:t>
            </a:r>
            <a:endParaRPr lang="en-US" sz="1600" dirty="0"/>
          </a:p>
        </p:txBody>
      </p:sp>
      <p:sp>
        <p:nvSpPr>
          <p:cNvPr id="6" name="Text 3"/>
          <p:cNvSpPr txBox="1"/>
          <p:nvPr/>
        </p:nvSpPr>
        <p:spPr>
          <a:xfrm>
            <a:off x="548640" y="6382512"/>
            <a:ext cx="10424160" cy="274320"/>
          </a:xfrm>
          <a:prstGeom prst="rect">
            <a:avLst/>
          </a:prstGeom>
          <a:noFill/>
          <a:ln/>
        </p:spPr>
        <p:txBody>
          <a:bodyPr wrap="square" lIns="0" tIns="0" rIns="0" bIns="0" rtlCol="0" anchor="ctr"/>
          <a:lstStyle/>
          <a:p>
            <a:pPr indent="0" marL="0">
              <a:buNone/>
            </a:pPr>
            <a:r>
              <a:rPr lang="en-US" sz="1000" i="1" dirty="0">
                <a:solidFill>
                  <a:schemeClr val="tx2"/>
                </a:solidFill>
              </a:rPr>
              <a:t>Encargos: proposta da ANEEL (NT 101/2026), via resumos setoriais. As hipóteses são de trabalho, não resultados.</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bg1"/>
                </a:solidFill>
              </a:rPr>
              <a:t>Síntese</a:t>
            </a:r>
            <a:endParaRPr lang="en-US" sz="3200" dirty="0"/>
          </a:p>
        </p:txBody>
      </p:sp>
      <p:sp>
        <p:nvSpPr>
          <p:cNvPr id="3" name="Summary row 1"/>
          <p:cNvSpPr/>
          <p:nvPr/>
        </p:nvSpPr>
        <p:spPr>
          <a:xfrm>
            <a:off x="548640" y="1463040"/>
            <a:ext cx="11094415" cy="1097280"/>
          </a:xfrm>
          <a:prstGeom prst="roundRect">
            <a:avLst>
              <a:gd name="adj" fmla="val 10000"/>
            </a:avLst>
          </a:prstGeom>
          <a:solidFill>
            <a:schemeClr val="tx2"/>
          </a:solidFill>
          <a:ln w="12700">
            <a:solidFill>
              <a:schemeClr val="tx2"/>
            </a:solidFill>
            <a:prstDash val="solid"/>
          </a:ln>
        </p:spPr>
      </p:sp>
      <p:sp>
        <p:nvSpPr>
          <p:cNvPr id="4" name="Text 2"/>
          <p:cNvSpPr txBox="1"/>
          <p:nvPr/>
        </p:nvSpPr>
        <p:spPr>
          <a:xfrm>
            <a:off x="914400" y="1463040"/>
            <a:ext cx="2194560" cy="109728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Problema</a:t>
            </a:r>
            <a:endParaRPr lang="en-US" sz="2000" dirty="0"/>
          </a:p>
        </p:txBody>
      </p:sp>
      <p:sp>
        <p:nvSpPr>
          <p:cNvPr id="5" name="Text 3"/>
          <p:cNvSpPr txBox="1"/>
          <p:nvPr/>
        </p:nvSpPr>
        <p:spPr>
          <a:xfrm>
            <a:off x="3291840" y="1463040"/>
            <a:ext cx="7985455" cy="1097280"/>
          </a:xfrm>
          <a:prstGeom prst="rect">
            <a:avLst/>
          </a:prstGeom>
          <a:noFill/>
          <a:ln/>
        </p:spPr>
        <p:txBody>
          <a:bodyPr wrap="square" lIns="0" tIns="0" rIns="0" bIns="0" rtlCol="0" anchor="ctr"/>
          <a:lstStyle/>
          <a:p>
            <a:pPr indent="0" marL="0">
              <a:buNone/>
            </a:pPr>
            <a:r>
              <a:rPr lang="en-US" sz="1800" dirty="0">
                <a:solidFill>
                  <a:schemeClr val="bg1"/>
                </a:solidFill>
              </a:rPr>
              <a:t>MMGD em expansão gera cortes e perdas bilionárias em eólicas, solares e UHEs.</a:t>
            </a:r>
            <a:endParaRPr lang="en-US" sz="1800" dirty="0"/>
          </a:p>
        </p:txBody>
      </p:sp>
      <p:sp>
        <p:nvSpPr>
          <p:cNvPr id="6" name="Summary row 2"/>
          <p:cNvSpPr/>
          <p:nvPr/>
        </p:nvSpPr>
        <p:spPr>
          <a:xfrm>
            <a:off x="548640" y="2743200"/>
            <a:ext cx="11094415" cy="109728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914400" y="2743200"/>
            <a:ext cx="2194560" cy="109728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Pergunta</a:t>
            </a:r>
            <a:endParaRPr lang="en-US" sz="2000" dirty="0"/>
          </a:p>
        </p:txBody>
      </p:sp>
      <p:sp>
        <p:nvSpPr>
          <p:cNvPr id="8" name="Text 6"/>
          <p:cNvSpPr txBox="1"/>
          <p:nvPr/>
        </p:nvSpPr>
        <p:spPr>
          <a:xfrm>
            <a:off x="3291840" y="2743200"/>
            <a:ext cx="7985455" cy="1097280"/>
          </a:xfrm>
          <a:prstGeom prst="rect">
            <a:avLst/>
          </a:prstGeom>
          <a:noFill/>
          <a:ln/>
        </p:spPr>
        <p:txBody>
          <a:bodyPr wrap="square" lIns="0" tIns="0" rIns="0" bIns="0" rtlCol="0" anchor="ctr"/>
          <a:lstStyle/>
          <a:p>
            <a:pPr indent="0" marL="0">
              <a:buNone/>
            </a:pPr>
            <a:r>
              <a:rPr lang="en-US" sz="1800" dirty="0">
                <a:solidFill>
                  <a:schemeClr val="bg1"/>
                </a:solidFill>
              </a:rPr>
              <a:t>Para cada fonte, o ganho com menos cortes supera o encargo das baterias?</a:t>
            </a:r>
            <a:endParaRPr lang="en-US" sz="1800" dirty="0"/>
          </a:p>
        </p:txBody>
      </p:sp>
      <p:sp>
        <p:nvSpPr>
          <p:cNvPr id="9" name="Summary row 3"/>
          <p:cNvSpPr/>
          <p:nvPr/>
        </p:nvSpPr>
        <p:spPr>
          <a:xfrm>
            <a:off x="548640" y="4023360"/>
            <a:ext cx="11094415" cy="1097280"/>
          </a:xfrm>
          <a:prstGeom prst="roundRect">
            <a:avLst>
              <a:gd name="adj" fmla="val 10000"/>
            </a:avLst>
          </a:prstGeom>
          <a:solidFill>
            <a:schemeClr val="tx2"/>
          </a:solidFill>
          <a:ln w="12700">
            <a:solidFill>
              <a:schemeClr val="tx2"/>
            </a:solidFill>
            <a:prstDash val="solid"/>
          </a:ln>
        </p:spPr>
      </p:sp>
      <p:sp>
        <p:nvSpPr>
          <p:cNvPr id="10" name="Text 8"/>
          <p:cNvSpPr txBox="1"/>
          <p:nvPr/>
        </p:nvSpPr>
        <p:spPr>
          <a:xfrm>
            <a:off x="914400" y="4023360"/>
            <a:ext cx="2194560" cy="109728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Método</a:t>
            </a:r>
            <a:endParaRPr lang="en-US" sz="2000" dirty="0"/>
          </a:p>
        </p:txBody>
      </p:sp>
      <p:sp>
        <p:nvSpPr>
          <p:cNvPr id="11" name="Text 9"/>
          <p:cNvSpPr txBox="1"/>
          <p:nvPr/>
        </p:nvSpPr>
        <p:spPr>
          <a:xfrm>
            <a:off x="3291840" y="4023360"/>
            <a:ext cx="7985455" cy="1097280"/>
          </a:xfrm>
          <a:prstGeom prst="rect">
            <a:avLst/>
          </a:prstGeom>
          <a:noFill/>
          <a:ln/>
        </p:spPr>
        <p:txBody>
          <a:bodyPr wrap="square" lIns="0" tIns="0" rIns="0" bIns="0" rtlCol="0" anchor="ctr"/>
          <a:lstStyle/>
          <a:p>
            <a:pPr indent="0" marL="0">
              <a:buNone/>
            </a:pPr>
            <a:r>
              <a:rPr lang="en-US" sz="1800" dirty="0">
                <a:solidFill>
                  <a:schemeClr val="bg1"/>
                </a:solidFill>
              </a:rPr>
              <a:t>Simulações horárias sem e com baterias (NE + SE, 4 h), em níveis de MMGD e regras de rateio.</a:t>
            </a:r>
            <a:endParaRPr lang="en-US" sz="1800" dirty="0"/>
          </a:p>
        </p:txBody>
      </p:sp>
      <p:sp>
        <p:nvSpPr>
          <p:cNvPr id="12" name="Summary row 4"/>
          <p:cNvSpPr/>
          <p:nvPr/>
        </p:nvSpPr>
        <p:spPr>
          <a:xfrm>
            <a:off x="548640" y="5303520"/>
            <a:ext cx="11094415" cy="1097280"/>
          </a:xfrm>
          <a:prstGeom prst="roundRect">
            <a:avLst>
              <a:gd name="adj" fmla="val 10000"/>
            </a:avLst>
          </a:prstGeom>
          <a:solidFill>
            <a:schemeClr val="tx2"/>
          </a:solidFill>
          <a:ln w="12700">
            <a:solidFill>
              <a:schemeClr val="tx2"/>
            </a:solidFill>
            <a:prstDash val="solid"/>
          </a:ln>
        </p:spPr>
      </p:sp>
      <p:sp>
        <p:nvSpPr>
          <p:cNvPr id="13" name="Text 11"/>
          <p:cNvSpPr txBox="1"/>
          <p:nvPr/>
        </p:nvSpPr>
        <p:spPr>
          <a:xfrm>
            <a:off x="914400" y="5303520"/>
            <a:ext cx="2194560" cy="109728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Resposta</a:t>
            </a:r>
            <a:endParaRPr lang="en-US" sz="2000" dirty="0"/>
          </a:p>
        </p:txBody>
      </p:sp>
      <p:sp>
        <p:nvSpPr>
          <p:cNvPr id="14" name="Text 12"/>
          <p:cNvSpPr txBox="1"/>
          <p:nvPr/>
        </p:nvSpPr>
        <p:spPr>
          <a:xfrm>
            <a:off x="3291840" y="5303520"/>
            <a:ext cx="7985455" cy="1097280"/>
          </a:xfrm>
          <a:prstGeom prst="rect">
            <a:avLst/>
          </a:prstGeom>
          <a:noFill/>
          <a:ln/>
        </p:spPr>
        <p:txBody>
          <a:bodyPr wrap="square" lIns="0" tIns="0" rIns="0" bIns="0" rtlCol="0" anchor="ctr"/>
          <a:lstStyle/>
          <a:p>
            <a:pPr indent="0" marL="0">
              <a:buNone/>
            </a:pPr>
            <a:r>
              <a:rPr lang="en-US" sz="1800" dirty="0">
                <a:solidFill>
                  <a:schemeClr val="bg1"/>
                </a:solidFill>
              </a:rPr>
              <a:t>Saldo, razão ganho ÷ encargo e ponto de equilíbrio de cada fonte.</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Referências</a:t>
            </a:r>
            <a:endParaRPr lang="en-US" sz="3200" dirty="0"/>
          </a:p>
        </p:txBody>
      </p:sp>
      <p:sp>
        <p:nvSpPr>
          <p:cNvPr id="3" name="Text 1"/>
          <p:cNvSpPr txBox="1"/>
          <p:nvPr/>
        </p:nvSpPr>
        <p:spPr>
          <a:xfrm>
            <a:off x="548640" y="1417320"/>
            <a:ext cx="5394960" cy="48463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200" dirty="0">
                <a:solidFill>
                  <a:schemeClr val="tx1"/>
                </a:solidFill>
              </a:rPr>
              <a:t>Brasil (2025). Lei nº 15.269/2025, que inclui o § 6º no art. 3º-A da Lei nº 10.848/2004.</a:t>
            </a:r>
            <a:endParaRPr lang="en-US" sz="1200" dirty="0"/>
          </a:p>
          <a:p>
            <a:pPr marL="342900" indent="-342900">
              <a:spcAft>
                <a:spcPts val="600"/>
              </a:spcAft>
              <a:buSzPct val="100000"/>
              <a:buFont typeface="+mj-lt"/>
              <a:buAutoNum type="arabicPeriod" startAt="1"/>
            </a:pPr>
            <a:r>
              <a:rPr lang="en-US" sz="1200" dirty="0">
                <a:solidFill>
                  <a:schemeClr val="tx1"/>
                </a:solidFill>
              </a:rPr>
              <a:t>MME (2026). Portaria GM/MME nº 136/2026: diretrizes do LRCAP armazenamento.</a:t>
            </a:r>
            <a:endParaRPr lang="en-US" sz="1200" dirty="0"/>
          </a:p>
          <a:p>
            <a:pPr marL="342900" indent="-342900">
              <a:spcAft>
                <a:spcPts val="600"/>
              </a:spcAft>
              <a:buSzPct val="100000"/>
              <a:buFont typeface="+mj-lt"/>
              <a:buAutoNum type="arabicPeriod" startAt="1"/>
            </a:pPr>
            <a:r>
              <a:rPr lang="en-US" sz="1200" dirty="0">
                <a:solidFill>
                  <a:schemeClr val="tx1"/>
                </a:solidFill>
              </a:rPr>
              <a:t>ANEEL (2026). Consulta Pública 37/2026 e Nota Técnica 101/2026-SGM: Ercap-SAE.</a:t>
            </a:r>
            <a:endParaRPr lang="en-US" sz="1200" dirty="0"/>
          </a:p>
          <a:p>
            <a:pPr marL="342900" indent="-342900">
              <a:spcAft>
                <a:spcPts val="600"/>
              </a:spcAft>
              <a:buSzPct val="100000"/>
              <a:buFont typeface="+mj-lt"/>
              <a:buAutoNum type="arabicPeriod" startAt="1"/>
            </a:pPr>
            <a:r>
              <a:rPr lang="en-US" sz="1200" dirty="0">
                <a:solidFill>
                  <a:schemeClr val="tx1"/>
                </a:solidFill>
              </a:rPr>
              <a:t>ANEEL (2026). Consultas públicas dos editais dos leilões de armazenamento.</a:t>
            </a:r>
            <a:endParaRPr lang="en-US" sz="1200" dirty="0"/>
          </a:p>
          <a:p>
            <a:pPr marL="342900" indent="-342900">
              <a:spcAft>
                <a:spcPts val="600"/>
              </a:spcAft>
              <a:buSzPct val="100000"/>
              <a:buFont typeface="+mj-lt"/>
              <a:buAutoNum type="arabicPeriod" startAt="1"/>
            </a:pPr>
            <a:r>
              <a:rPr lang="en-US" sz="1200" dirty="0">
                <a:solidFill>
                  <a:schemeClr val="tx1"/>
                </a:solidFill>
              </a:rPr>
              <a:t>Canal Energia (2026). Nota técnica sugere manter custo do LRCAP de baterias com geradores; Proposta prevê modulação no rateio; Projeto visa revogar alocação de custos a geradores.</a:t>
            </a:r>
            <a:endParaRPr lang="en-US" sz="1200" dirty="0"/>
          </a:p>
          <a:p>
            <a:pPr marL="342900" indent="-342900">
              <a:spcAft>
                <a:spcPts val="600"/>
              </a:spcAft>
              <a:buSzPct val="100000"/>
              <a:buFont typeface="+mj-lt"/>
              <a:buAutoNum type="arabicPeriod" startAt="1"/>
            </a:pPr>
            <a:r>
              <a:rPr lang="en-US" sz="1200" dirty="0">
                <a:solidFill>
                  <a:schemeClr val="tx1"/>
                </a:solidFill>
              </a:rPr>
              <a:t>Agência iNFRA (2026). Reportagem de 6/10/2026 sobre o rateio por flexibilidade.</a:t>
            </a:r>
            <a:endParaRPr lang="en-US" sz="1200" dirty="0"/>
          </a:p>
          <a:p>
            <a:pPr marL="342900" indent="-342900">
              <a:spcAft>
                <a:spcPts val="600"/>
              </a:spcAft>
              <a:buSzPct val="100000"/>
              <a:buFont typeface="+mj-lt"/>
              <a:buAutoNum type="arabicPeriod" startAt="1"/>
            </a:pPr>
            <a:r>
              <a:rPr lang="en-US" sz="1200" dirty="0">
                <a:solidFill>
                  <a:schemeClr val="tx1"/>
                </a:solidFill>
              </a:rPr>
              <a:t>TAGD Law (2026). Encargo das baterias entra em consulta com duas propostas de rateio.</a:t>
            </a:r>
            <a:endParaRPr lang="en-US" sz="1200" dirty="0"/>
          </a:p>
          <a:p>
            <a:pPr marL="342900" indent="-342900">
              <a:spcAft>
                <a:spcPts val="600"/>
              </a:spcAft>
              <a:buSzPct val="100000"/>
              <a:buFont typeface="+mj-lt"/>
              <a:buAutoNum type="arabicPeriod" startAt="1"/>
            </a:pPr>
            <a:r>
              <a:rPr lang="en-US" sz="1200" dirty="0">
                <a:solidFill>
                  <a:schemeClr val="tx1"/>
                </a:solidFill>
              </a:rPr>
              <a:t>CNN Brasil (2026). Aneel abre consulta para leilão de baterias; rateio segue incerto.</a:t>
            </a:r>
            <a:endParaRPr lang="en-US" sz="1200" dirty="0"/>
          </a:p>
          <a:p>
            <a:pPr marL="342900" indent="-342900">
              <a:spcAft>
                <a:spcPts val="600"/>
              </a:spcAft>
              <a:buSzPct val="100000"/>
              <a:buFont typeface="+mj-lt"/>
              <a:buAutoNum type="arabicPeriod" startAt="1"/>
            </a:pPr>
            <a:r>
              <a:rPr lang="en-US" sz="1200" dirty="0">
                <a:solidFill>
                  <a:schemeClr val="tx1"/>
                </a:solidFill>
              </a:rPr>
              <a:t>Canal Solar (2026). MME publica diretrizes do 1º leilão de baterias.</a:t>
            </a:r>
            <a:endParaRPr lang="en-US" sz="1200" dirty="0"/>
          </a:p>
          <a:p>
            <a:pPr marL="342900" indent="-342900">
              <a:spcAft>
                <a:spcPts val="600"/>
              </a:spcAft>
              <a:buSzPct val="100000"/>
              <a:buFont typeface="+mj-lt"/>
              <a:buAutoNum type="arabicPeriod" startAt="1"/>
            </a:pPr>
            <a:r>
              <a:rPr lang="en-US" sz="1200" dirty="0">
                <a:solidFill>
                  <a:schemeClr val="tx1"/>
                </a:solidFill>
              </a:rPr>
              <a:t>ABSAE (2026). Baterias podem gerar economia superior a R$ 3 bi por ano no LRCAP.</a:t>
            </a:r>
            <a:endParaRPr lang="en-US" sz="1200" dirty="0"/>
          </a:p>
          <a:p>
            <a:pPr marL="342900" indent="-342900">
              <a:spcAft>
                <a:spcPts val="600"/>
              </a:spcAft>
              <a:buSzPct val="100000"/>
              <a:buFont typeface="+mj-lt"/>
              <a:buAutoNum type="arabicPeriod" startAt="1"/>
            </a:pPr>
            <a:r>
              <a:rPr lang="en-US" sz="1200" dirty="0">
                <a:solidFill>
                  <a:schemeClr val="tx1"/>
                </a:solidFill>
              </a:rPr>
              <a:t>Volt Robotics via Tribuna do Sertão (2026). Economia de R$ 8,9 bi por ano com baterias.</a:t>
            </a:r>
            <a:endParaRPr lang="en-US" sz="1200" dirty="0"/>
          </a:p>
          <a:p>
            <a:pPr marL="342900" indent="-342900">
              <a:spcAft>
                <a:spcPts val="600"/>
              </a:spcAft>
              <a:buSzPct val="100000"/>
              <a:buFont typeface="+mj-lt"/>
              <a:buAutoNum type="arabicPeriod" startAt="1"/>
            </a:pPr>
            <a:r>
              <a:rPr lang="en-US" sz="1200" dirty="0">
                <a:solidFill>
                  <a:schemeClr val="tx1"/>
                </a:solidFill>
              </a:rPr>
              <a:t>ONS (2025). Diagnóstico dos cortes de geração. RT DGL-ONS 0189/2025; NT-ONS DOP 0022/2025.</a:t>
            </a:r>
            <a:endParaRPr lang="en-US" sz="1200" dirty="0"/>
          </a:p>
        </p:txBody>
      </p:sp>
      <p:sp>
        <p:nvSpPr>
          <p:cNvPr id="4" name="Text 2"/>
          <p:cNvSpPr txBox="1"/>
          <p:nvPr/>
        </p:nvSpPr>
        <p:spPr>
          <a:xfrm>
            <a:off x="6217920" y="1417320"/>
            <a:ext cx="5394960" cy="4846320"/>
          </a:xfrm>
          <a:prstGeom prst="rect">
            <a:avLst/>
          </a:prstGeom>
          <a:noFill/>
          <a:ln/>
        </p:spPr>
        <p:txBody>
          <a:bodyPr wrap="square" lIns="0" tIns="0" rIns="0" bIns="0" rtlCol="0" anchor="t"/>
          <a:lstStyle/>
          <a:p>
            <a:pPr marL="342900" indent="-342900">
              <a:spcAft>
                <a:spcPts val="600"/>
              </a:spcAft>
              <a:buSzPct val="100000"/>
              <a:buFont typeface="+mj-lt"/>
              <a:buAutoNum type="arabicPeriod" startAt="13"/>
            </a:pPr>
            <a:r>
              <a:rPr lang="en-US" sz="1200" dirty="0">
                <a:solidFill>
                  <a:schemeClr val="tx1"/>
                </a:solidFill>
              </a:rPr>
              <a:t>EPE/MME (2024). PDE 2034, Caderno Micro e Minigeração Distribuída e Bateria atrás do Medidor.</a:t>
            </a:r>
            <a:endParaRPr lang="en-US" sz="1200" dirty="0"/>
          </a:p>
          <a:p>
            <a:pPr marL="342900" indent="-342900">
              <a:spcAft>
                <a:spcPts val="600"/>
              </a:spcAft>
              <a:buSzPct val="100000"/>
              <a:buFont typeface="+mj-lt"/>
              <a:buAutoNum type="arabicPeriod" startAt="13"/>
            </a:pPr>
            <a:r>
              <a:rPr lang="en-US" sz="1200" dirty="0">
                <a:solidFill>
                  <a:schemeClr val="tx1"/>
                </a:solidFill>
              </a:rPr>
              <a:t>Acende Brasil (2025). Custos dos cortes devem ser compartilhados com a geração distribuída.</a:t>
            </a:r>
            <a:endParaRPr lang="en-US" sz="1200" dirty="0"/>
          </a:p>
          <a:p>
            <a:pPr marL="342900" indent="-342900">
              <a:spcAft>
                <a:spcPts val="600"/>
              </a:spcAft>
              <a:buSzPct val="100000"/>
              <a:buFont typeface="+mj-lt"/>
              <a:buAutoNum type="arabicPeriod" startAt="13"/>
            </a:pPr>
            <a:r>
              <a:rPr lang="en-US" sz="1200" dirty="0">
                <a:solidFill>
                  <a:schemeClr val="tx1"/>
                </a:solidFill>
              </a:rPr>
              <a:t>Gesel-UFRJ (2025). Gesel Broadcast: Medidas para Mitigação dos Curtailments.</a:t>
            </a:r>
            <a:endParaRPr lang="en-US" sz="1200" dirty="0"/>
          </a:p>
          <a:p>
            <a:pPr marL="342900" indent="-342900">
              <a:spcAft>
                <a:spcPts val="600"/>
              </a:spcAft>
              <a:buSzPct val="100000"/>
              <a:buFont typeface="+mj-lt"/>
              <a:buAutoNum type="arabicPeriod" startAt="13"/>
            </a:pPr>
            <a:r>
              <a:rPr lang="en-US" sz="1200" dirty="0">
                <a:solidFill>
                  <a:schemeClr val="tx1"/>
                </a:solidFill>
              </a:rPr>
              <a:t>Agência Infra (2025). Prejuízo de R$ 6,5 bi por curtailment em 2025 (Volt Robotics).</a:t>
            </a:r>
            <a:endParaRPr lang="en-US" sz="1200" dirty="0"/>
          </a:p>
          <a:p>
            <a:pPr marL="342900" indent="-342900">
              <a:spcAft>
                <a:spcPts val="600"/>
              </a:spcAft>
              <a:buSzPct val="100000"/>
              <a:buFont typeface="+mj-lt"/>
              <a:buAutoNum type="arabicPeriod" startAt="13"/>
            </a:pPr>
            <a:r>
              <a:rPr lang="en-US" sz="1200" dirty="0">
                <a:solidFill>
                  <a:schemeClr val="tx1"/>
                </a:solidFill>
              </a:rPr>
              <a:t>ePowerBay (2026). Análise do Leilão de Baterias LRCAP 2026.</a:t>
            </a:r>
            <a:endParaRPr lang="en-US" sz="1200" dirty="0"/>
          </a:p>
          <a:p>
            <a:pPr marL="342900" indent="-342900">
              <a:spcAft>
                <a:spcPts val="600"/>
              </a:spcAft>
              <a:buSzPct val="100000"/>
              <a:buFont typeface="+mj-lt"/>
              <a:buAutoNum type="arabicPeriod" startAt="13"/>
            </a:pPr>
            <a:r>
              <a:rPr lang="en-US" sz="1200" dirty="0">
                <a:solidFill>
                  <a:schemeClr val="tx1"/>
                </a:solidFill>
              </a:rPr>
              <a:t>EPE (2026). Base de dados para estudos de fluxo de potência, PDE 2035: definições de carga bruta e líquida.</a:t>
            </a:r>
            <a:endParaRPr lang="en-US" sz="1200" dirty="0"/>
          </a:p>
          <a:p>
            <a:pPr marL="342900" indent="-342900">
              <a:spcAft>
                <a:spcPts val="600"/>
              </a:spcAft>
              <a:buSzPct val="100000"/>
              <a:buFont typeface="+mj-lt"/>
              <a:buAutoNum type="arabicPeriod" startAt="13"/>
            </a:pPr>
            <a:r>
              <a:rPr lang="en-US" sz="1200" dirty="0">
                <a:solidFill>
                  <a:schemeClr val="tx1"/>
                </a:solidFill>
              </a:rPr>
              <a:t>CAISO (2013). Flexible Resources Help Renewables. Fast Facts: origem da curva do pato.</a:t>
            </a:r>
            <a:endParaRPr lang="en-US" sz="1200" dirty="0"/>
          </a:p>
          <a:p>
            <a:pPr marL="342900" indent="-342900">
              <a:spcAft>
                <a:spcPts val="600"/>
              </a:spcAft>
              <a:buSzPct val="100000"/>
              <a:buFont typeface="+mj-lt"/>
              <a:buAutoNum type="arabicPeriod" startAt="13"/>
            </a:pPr>
            <a:r>
              <a:rPr lang="en-US" sz="1200" dirty="0">
                <a:solidFill>
                  <a:schemeClr val="tx1"/>
                </a:solidFill>
              </a:rPr>
              <a:t>ONS (2026). Dados abertos: balanço de energia nos subsistemas e geração por usina, base horária, 2025.</a:t>
            </a:r>
            <a:endParaRPr lang="en-US" sz="1200" dirty="0"/>
          </a:p>
          <a:p>
            <a:pPr marL="342900" indent="-342900">
              <a:spcAft>
                <a:spcPts val="600"/>
              </a:spcAft>
              <a:buSzPct val="100000"/>
              <a:buFont typeface="+mj-lt"/>
              <a:buAutoNum type="arabicPeriod" startAt="13"/>
            </a:pPr>
            <a:r>
              <a:rPr lang="en-US" sz="1200" dirty="0">
                <a:solidFill>
                  <a:schemeClr val="tx1"/>
                </a:solidFill>
              </a:rPr>
              <a:t>CCEE/EPE (2026). Balanço de consumo e geração 2025: participação por fonte na geração centralizada.</a:t>
            </a:r>
            <a:endParaRPr lang="en-US" sz="1200" dirty="0"/>
          </a:p>
          <a:p>
            <a:pPr marL="342900" indent="-342900">
              <a:spcAft>
                <a:spcPts val="600"/>
              </a:spcAft>
              <a:buSzPct val="100000"/>
              <a:buFont typeface="+mj-lt"/>
              <a:buAutoNum type="arabicPeriod" startAt="13"/>
            </a:pPr>
            <a:r>
              <a:rPr lang="en-US" sz="1200" dirty="0">
                <a:solidFill>
                  <a:schemeClr val="tx1"/>
                </a:solidFill>
              </a:rPr>
              <a:t>BTG Pactual via NeoFeed (2025). Cortes de energia renovável: solar 34,1% e eólica 20,4% no 3º trimestre de 2025.</a:t>
            </a:r>
            <a:endParaRPr lang="en-US" sz="1200" dirty="0"/>
          </a:p>
          <a:p>
            <a:pPr marL="342900" indent="-342900">
              <a:spcAft>
                <a:spcPts val="600"/>
              </a:spcAft>
              <a:buSzPct val="100000"/>
              <a:buFont typeface="+mj-lt"/>
              <a:buAutoNum type="arabicPeriod" startAt="13"/>
            </a:pPr>
            <a:r>
              <a:rPr lang="en-US" sz="1200" dirty="0">
                <a:solidFill>
                  <a:schemeClr val="tx1"/>
                </a:solidFill>
              </a:rPr>
              <a:t>Volt Robotics (2026). Análise de curtailment: balanço de 2025 (via Agência Infra).</a:t>
            </a:r>
            <a:endParaRPr lang="en-US" sz="1200" dirty="0"/>
          </a:p>
          <a:p>
            <a:pPr marL="342900" indent="-342900">
              <a:spcAft>
                <a:spcPts val="600"/>
              </a:spcAft>
              <a:buSzPct val="100000"/>
              <a:buFont typeface="+mj-lt"/>
              <a:buAutoNum type="arabicPeriod" startAt="13"/>
            </a:pPr>
            <a:r>
              <a:rPr lang="en-US" sz="1200" dirty="0">
                <a:solidFill>
                  <a:schemeClr val="tx1"/>
                </a:solidFill>
              </a:rPr>
              <a:t>Abrage (2025). Participação das hidrelétricas nos cortes de geração, 2022 a 2024.</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Baterias SIN">
  <a:themeElements>
    <a:clrScheme name="Baterias SIN">
      <a:dk1>
        <a:srgbClr val="0B1A2E"/>
      </a:dk1>
      <a:lt1>
        <a:srgbClr val="FFFFFF"/>
      </a:lt1>
      <a:dk2>
        <a:srgbClr val="12305A"/>
      </a:dk2>
      <a:lt2>
        <a:srgbClr val="EEF3F8"/>
      </a:lt2>
      <a:accent1>
        <a:srgbClr val="F5A524"/>
      </a:accent1>
      <a:accent2>
        <a:srgbClr val="1FB5A8"/>
      </a:accent2>
      <a:accent3>
        <a:srgbClr val="2F6FDE"/>
      </a:accent3>
      <a:accent4>
        <a:srgbClr val="E4572E"/>
      </a:accent4>
      <a:accent5>
        <a:srgbClr val="5B6B80"/>
      </a:accent5>
      <a:accent6>
        <a:srgbClr val="BFE9E4"/>
      </a:accent6>
      <a:hlink>
        <a:srgbClr val="2F6FDE"/>
      </a:hlink>
      <a:folHlink>
        <a:srgbClr val="5B6B80"/>
      </a:folHlink>
    </a:clrScheme>
    <a:fontScheme name="Baterias SI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Transição Energética e a Contribuição das Baterias: Ganho Econômico para o SIN?</dc:title>
  <dc:subject>Economia do Setor Elétrico I</dc:subject>
  <dc:creator>Ronaldo Antonio de Souza</dc:creator>
  <cp:lastModifiedBy>Ronaldo Antonio de Souza</cp:lastModifiedBy>
  <cp:revision>1</cp:revision>
  <dcterms:created xsi:type="dcterms:W3CDTF">2026-10-14T18:45:50Z</dcterms:created>
  <dcterms:modified xsi:type="dcterms:W3CDTF">2026-10-14T18:45:50Z</dcterms:modified>
</cp:coreProperties>
</file>